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b35a358-4fe1-fe77-1c10-88195c68f1e2}">
          <p14:sldIdLst>
            <p14:sldId id="256"/>
          </p14:sldIdLst>
        </p14:section>
        <p14:section name="Problem" id="{7bdcd1a0-b173-d11a-c649-896459cee188}">
          <p14:sldIdLst>
            <p14:sldId id="257"/>
          </p14:sldIdLst>
        </p14:section>
        <p14:section name="People" id="{013f8139-20a1-4ab2-e818-0e68bb2d3265}">
          <p14:sldIdLst>
            <p14:sldId id="258"/>
            <p14:sldId id="259"/>
          </p14:sldIdLst>
        </p14:section>
        <p14:section name="Solution" id="{4119b113-41b7-a87f-e3b2-83dc353fd68e}">
          <p14:sldIdLst>
            <p14:sldId id="260"/>
            <p14:sldId id="261"/>
          </p14:sldIdLst>
        </p14:section>
        <p14:section name="Outcomes" id="{2a1cf82f-55f6-669e-e9a6-cb432d95ffd8}">
          <p14:sldIdLst>
            <p14:sldId id="262"/>
            <p14:sldId id="263"/>
          </p14:sldIdLst>
        </p14:section>
        <p14:section name="Business" id="{01a479d3-3a6b-36e0-9b1b-3a10bc0d5e6e}">
          <p14:sldIdLst>
            <p14:sldId id="264"/>
          </p14:sldIdLst>
        </p14:section>
        <p14:section name="Close" id="{eaf71bba-98e9-d0f0-a960-eb193b005b5d}">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mn-lt"/>
              </a:defRPr>
            </a:pPr>
            <a:r>
              <a:rPr sz="1300" b="0" i="0" u="none" strike="noStrike">
                <a:solidFill>
                  <a:srgbClr val="111827"/>
                </a:solidFill>
                <a:latin typeface="+mn-lt"/>
              </a:rPr>
              <a:t>Forecast error, rooms off per night (lower is better)</a:t>
            </a:r>
          </a:p>
        </c:rich>
      </c:tx>
      <c:layout/>
      <c:overlay val="0"/>
    </c:title>
    <c:autoTitleDeleted val="0"/>
    <c:plotArea>
      <c:layout/>
      <c:barChart>
        <c:barDir val="col"/>
        <c:grouping val="clustered"/>
        <c:varyColors val="0"/>
        <c:ser>
          <c:idx val="0"/>
          <c:order val="0"/>
          <c:tx>
            <c:strRef>
              <c:f>Sheet1!$B$1</c:f>
              <c:strCache>
                <c:ptCount val="1"/>
                <c:pt idx="0">
                  <c:v>Usual rule (same day last week)</c:v>
                </c:pt>
              </c:strCache>
            </c:strRef>
          </c:tx>
          <c:spPr>
            <a:solidFill>
              <a:srgbClr val="C7CAD6"/>
            </a:solidFill>
            <a:effectLst/>
          </c:spPr>
          <c:invertIfNegative val="0"/>
          <c:dLbls>
            <c:numFmt formatCode="0.0" sourceLinked="0"/>
            <c:txPr>
              <a:bodyPr/>
              <a:lstStyle/>
              <a:p>
                <a:pPr>
                  <a:defRPr b="0" i="0" strike="noStrike" sz="1100" u="none">
                    <a:solidFill>
                      <a:srgbClr val="111827"/>
                    </a:solidFill>
                    <a:latin typeface="+mn-lt"/>
                  </a:defRPr>
                </a:pPr>
              </a:p>
            </c:txPr>
            <c:showLegendKey val="0"/>
            <c:showVal val="1"/>
            <c:showCatName val="0"/>
            <c:showSerName val="0"/>
            <c:showPercent val="0"/>
            <c:showBubbleSize val="0"/>
            <c:showLeaderLines val="0"/>
          </c:dLbls>
          <c:cat>
            <c:multiLvlStrRef>
              <c:f>Sheet1!$A$2:$A$4</c:f>
              <c:multiLvlStrCache>
                <c:ptCount val="3"/>
                <c:lvl>
                  <c:pt idx="0">
                    <c:v>1 day ahead</c:v>
                  </c:pt>
                  <c:pt idx="1">
                    <c:v>7 days ahead</c:v>
                  </c:pt>
                  <c:pt idx="2">
                    <c:v>30 days ahead</c:v>
                  </c:pt>
                </c:lvl>
              </c:multiLvlStrCache>
            </c:multiLvlStrRef>
          </c:cat>
          <c:val>
            <c:numRef>
              <c:f>Sheet1!$B$2:$B$4</c:f>
              <c:numCache>
                <c:formatCode>General</c:formatCode>
                <c:ptCount val="3"/>
                <c:pt idx="0">
                  <c:v>10.9</c:v>
                </c:pt>
                <c:pt idx="1">
                  <c:v>10.9</c:v>
                </c:pt>
                <c:pt idx="2">
                  <c:v>18.5</c:v>
                </c:pt>
              </c:numCache>
            </c:numRef>
          </c:val>
        </c:ser>
        <c:ser>
          <c:idx val="1"/>
          <c:order val="1"/>
          <c:tx>
            <c:strRef>
              <c:f>Sheet1!$C$1</c:f>
              <c:strCache>
                <c:ptCount val="1"/>
                <c:pt idx="0">
                  <c:v>HOI forecast</c:v>
                </c:pt>
              </c:strCache>
            </c:strRef>
          </c:tx>
          <c:spPr>
            <a:solidFill>
              <a:srgbClr val="5B5CF6"/>
            </a:solidFill>
            <a:effectLst/>
          </c:spPr>
          <c:invertIfNegative val="0"/>
          <c:dLbls>
            <c:numFmt formatCode="0.0" sourceLinked="0"/>
            <c:txPr>
              <a:bodyPr/>
              <a:lstStyle/>
              <a:p>
                <a:pPr>
                  <a:defRPr b="0" i="0" strike="noStrike" sz="1100" u="none">
                    <a:solidFill>
                      <a:srgbClr val="111827"/>
                    </a:solidFill>
                    <a:latin typeface="+mn-lt"/>
                  </a:defRPr>
                </a:pPr>
              </a:p>
            </c:txPr>
            <c:showLegendKey val="0"/>
            <c:showVal val="1"/>
            <c:showCatName val="0"/>
            <c:showSerName val="0"/>
            <c:showPercent val="0"/>
            <c:showBubbleSize val="0"/>
            <c:showLeaderLines val="0"/>
          </c:dLbls>
          <c:cat>
            <c:multiLvlStrRef>
              <c:f>Sheet1!$A$2:$A$4</c:f>
              <c:multiLvlStrCache>
                <c:ptCount val="3"/>
                <c:lvl>
                  <c:pt idx="0">
                    <c:v>1 day ahead</c:v>
                  </c:pt>
                  <c:pt idx="1">
                    <c:v>7 days ahead</c:v>
                  </c:pt>
                  <c:pt idx="2">
                    <c:v>30 days ahead</c:v>
                  </c:pt>
                </c:lvl>
              </c:multiLvlStrCache>
            </c:multiLvlStrRef>
          </c:cat>
          <c:val>
            <c:numRef>
              <c:f>Sheet1!$C$2:$C$4</c:f>
              <c:numCache>
                <c:formatCode>General</c:formatCode>
                <c:ptCount val="3"/>
                <c:pt idx="0">
                  <c:v>1.9</c:v>
                </c:pt>
                <c:pt idx="1">
                  <c:v>5.3</c:v>
                </c:pt>
                <c:pt idx="2">
                  <c:v>7.2</c:v>
                </c:pt>
              </c:numCache>
            </c:numRef>
          </c:val>
        </c:ser>
        <c:dLbls>
          <c:numFmt formatCode="0.0" sourceLinked="0"/>
          <c:txPr>
            <a:bodyPr/>
            <a:lstStyle/>
            <a:p>
              <a:pPr>
                <a:defRPr b="0" i="0" strike="noStrike" sz="1100" u="none">
                  <a:solidFill>
                    <a:srgbClr val="11182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peak season in Mussoorie. Every room is full. Two housekeepers didn't come, room 104 has asked for towels twice, and the owner is planning next week's shifts on WhatsApp. Nobody saw this Saturday coming, though the data to predict it already existed. This is HOI.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hotels and homestays in Uttarakhand can't see the next rush coming. So they're short-staffed at the peaks, good staff burn out and leave, and guests wait. They don't need another booking tool; they need help running the day. The 'paper and WhatsApp' point is our belief, which we will validate in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pays. But the people who make it work are the housekeeper with a basic Android phone and the guest in room 104, so we built for them first: one button per job, voice in Hindi, no app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problem is also in the solution: owners and managers, department heads, frontline staff, guests, tourists, officials, job seekers and agencies, and our own team running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HOI is one system with five simple apps. The owner gets one screen that answers 'is today OK?'. Staff get a phone app that works by voice, in Hindi. Guests scan a QR in the room. Tourists and the state get the Uttarakhand Travel Guide. The HOI team runs it all from a console. They share one loop: predict, plan, act,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 THE FILM: click the cover image, note its size, delete it, then Insert &gt; Video &gt; This Device &gt; videos/HOI_demo_2min.mp4; drag it to the same place and size (8.9 x 5.0 in), and in Playback set Start: When Clicked. Then: play the film (2 minutes). If time is short, play from 0:18 to 1:05: the guest asks for towels, the job reaches the housekeeper on shift, a Hindi voice request becomes a task, and a checkout turns into cleaning and a ready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starts with a prediction and ends with an action. On a real public hotel dataset, one day ahead our forecast was off by 1.9 rooms against 10.9 for the usual rule of thumb: 83 percent less error. On 1,129 real employee records the turnover model ranks a leaver above a stayer 66 percent of the time against 55 for a checklist, so we use it as a prompt to talk. And for our demo hotel it found three matching job seekers on the state's jobs board, without showing a name. In a pilot we measure hours short, check-ins, and minutes from request to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software helps hotels sell the room; HOI helps them run the stay. We sit next to eZee or STAAH, not against them. Our edge: a closed loop on each hotel's own data, frontline voice in Hindi, the network on the state travel guide, and trust by design. It's an early moat that grows with data and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Homestays use it free; small hotels pay about a thousand to two thousand rupees a month; groups and clusters next; the state as a platform customer. We never take a cut of bookings. Growth: Mussoorie and Rishikesh, then the Char Dham routes, then other hill states. Prices are a proposal; we validate with 8 to 10 interviews and a 2-week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saw is live today: five apps, more than 600 automated tests, and our demo hotel registered on the travel guide. We're asking for three hotels or homestays for a free two-week pilot, and mentor time on pricing and the state partnership. HOI. Smarter hotels, happier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C:/Users/ashut/Downloads/INNOV8/docs/brand/hoi-icon-512.png">    </p:cNvPr>
          <p:cNvPicPr>
            <a:picLocks noChangeAspect="1"/>
          </p:cNvPicPr>
          <p:nvPr/>
        </p:nvPicPr>
        <p:blipFill>
          <a:blip r:embed="rId1"/>
          <a:stretch>
            <a:fillRect/>
          </a:stretch>
        </p:blipFill>
        <p:spPr>
          <a:xfrm>
            <a:off x="11384280" y="329184"/>
            <a:ext cx="384048" cy="384048"/>
          </a:xfrm>
          <a:prstGeom prst="rect">
            <a:avLst/>
          </a:prstGeom>
        </p:spPr>
      </p:pic>
      <p:sp>
        <p:nvSpPr>
          <p:cNvPr id="3" name="Text 0"/>
          <p:cNvSpPr/>
          <p:nvPr/>
        </p:nvSpPr>
        <p:spPr>
          <a:xfrm>
            <a:off x="548640" y="6419088"/>
            <a:ext cx="7315200" cy="274320"/>
          </a:xfrm>
          <a:prstGeom prst="rect">
            <a:avLst/>
          </a:prstGeom>
          <a:noFill/>
          <a:ln/>
        </p:spPr>
        <p:txBody>
          <a:bodyPr wrap="square"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HOI · Team Innov8 · AI-Tourism Hackathon 2026</a:t>
            </a:r>
            <a:endParaRPr lang="en-US" sz="10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E13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I logo">    </p:cNvPr>
          <p:cNvPicPr>
            <a:picLocks noChangeAspect="1"/>
          </p:cNvPicPr>
          <p:nvPr/>
        </p:nvPicPr>
        <p:blipFill>
          <a:blip r:embed="rId1"/>
          <a:stretch>
            <a:fillRect/>
          </a:stretch>
        </p:blipFill>
        <p:spPr>
          <a:xfrm>
            <a:off x="685800" y="731520"/>
            <a:ext cx="822960" cy="822960"/>
          </a:xfrm>
          <a:prstGeom prst="rect">
            <a:avLst/>
          </a:prstGeom>
        </p:spPr>
      </p:pic>
      <p:sp>
        <p:nvSpPr>
          <p:cNvPr id="3" name="Text 0"/>
          <p:cNvSpPr txBox="1"/>
          <p:nvPr/>
        </p:nvSpPr>
        <p:spPr>
          <a:xfrm>
            <a:off x="685800" y="1783080"/>
            <a:ext cx="5943600" cy="91440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HOI</a:t>
            </a:r>
            <a:endParaRPr lang="en-US" sz="6000" dirty="0"/>
          </a:p>
        </p:txBody>
      </p:sp>
      <p:sp>
        <p:nvSpPr>
          <p:cNvPr id="4" name="Text 1"/>
          <p:cNvSpPr txBox="1"/>
          <p:nvPr/>
        </p:nvSpPr>
        <p:spPr>
          <a:xfrm>
            <a:off x="685800" y="2697480"/>
            <a:ext cx="6217920" cy="548640"/>
          </a:xfrm>
          <a:prstGeom prst="rect">
            <a:avLst/>
          </a:prstGeom>
          <a:noFill/>
          <a:ln/>
        </p:spPr>
        <p:txBody>
          <a:bodyPr wrap="square" lIns="0" tIns="0" rIns="0" bIns="0" rtlCol="0" anchor="t"/>
          <a:lstStyle/>
          <a:p>
            <a:pPr indent="0" marL="0">
              <a:buNone/>
            </a:pPr>
            <a:r>
              <a:rPr lang="en-US" sz="2600" dirty="0">
                <a:solidFill>
                  <a:srgbClr val="C7D2FE"/>
                </a:solidFill>
                <a:latin typeface="Calibri" pitchFamily="34" charset="0"/>
                <a:ea typeface="Calibri" pitchFamily="34" charset="-122"/>
                <a:cs typeface="Calibri" pitchFamily="34" charset="-120"/>
              </a:rPr>
              <a:t>Hospitality Operations Intelligence</a:t>
            </a:r>
            <a:endParaRPr lang="en-US" sz="2600" dirty="0"/>
          </a:p>
        </p:txBody>
      </p:sp>
      <p:sp>
        <p:nvSpPr>
          <p:cNvPr id="5" name="Text 2"/>
          <p:cNvSpPr txBox="1"/>
          <p:nvPr/>
        </p:nvSpPr>
        <p:spPr>
          <a:xfrm>
            <a:off x="685800" y="3429000"/>
            <a:ext cx="5760720" cy="1097280"/>
          </a:xfrm>
          <a:prstGeom prst="rect">
            <a:avLst/>
          </a:prstGeom>
          <a:noFill/>
          <a:ln/>
        </p:spPr>
        <p:txBody>
          <a:bodyPr wrap="square" lIns="0" tIns="0" rIns="0" bIns="0" rtlCol="0" anchor="t"/>
          <a:lstStyle/>
          <a:p>
            <a:pPr indent="0" marL="0">
              <a:buNone/>
            </a:pPr>
            <a:r>
              <a:rPr lang="en-US" sz="1700" dirty="0">
                <a:solidFill>
                  <a:srgbClr val="E5E7EB"/>
                </a:solidFill>
                <a:latin typeface="Calibri" pitchFamily="34" charset="0"/>
                <a:ea typeface="Calibri" pitchFamily="34" charset="-122"/>
                <a:cs typeface="Calibri" pitchFamily="34" charset="-120"/>
              </a:rPr>
              <a:t>One system, five simple apps that help small hotels and homestays in Uttarakhand see the rush coming, run every day smoothly and keep good staff.</a:t>
            </a:r>
            <a:endParaRPr lang="en-US" sz="1700" dirty="0"/>
          </a:p>
        </p:txBody>
      </p:sp>
      <p:sp>
        <p:nvSpPr>
          <p:cNvPr id="6" name="Text 3"/>
          <p:cNvSpPr txBox="1"/>
          <p:nvPr/>
        </p:nvSpPr>
        <p:spPr>
          <a:xfrm>
            <a:off x="685800" y="4617720"/>
            <a:ext cx="5943600"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Smarter hotels. </a:t>
            </a:r>
            <a:pPr indent="0" marL="0">
              <a:buNone/>
            </a:pPr>
            <a:r>
              <a:rPr lang="en-US" sz="2200" b="1" dirty="0">
                <a:solidFill>
                  <a:srgbClr val="A5B4FC"/>
                </a:solidFill>
                <a:latin typeface="Calibri" pitchFamily="34" charset="0"/>
                <a:ea typeface="Calibri" pitchFamily="34" charset="-122"/>
                <a:cs typeface="Calibri" pitchFamily="34" charset="-120"/>
              </a:rPr>
              <a:t>Happier teams.</a:t>
            </a:r>
            <a:endParaRPr lang="en-US" sz="2200" dirty="0"/>
          </a:p>
        </p:txBody>
      </p:sp>
      <p:sp>
        <p:nvSpPr>
          <p:cNvPr id="7" name="Text 4"/>
          <p:cNvSpPr txBox="1"/>
          <p:nvPr/>
        </p:nvSpPr>
        <p:spPr>
          <a:xfrm>
            <a:off x="685800" y="6035040"/>
            <a:ext cx="6400800" cy="320040"/>
          </a:xfrm>
          <a:prstGeom prst="rect">
            <a:avLst/>
          </a:prstGeom>
          <a:noFill/>
          <a:ln/>
        </p:spPr>
        <p:txBody>
          <a:bodyPr wrap="square" lIns="0" tIns="0" rIns="0" bIns="0" rtlCol="0" anchor="t"/>
          <a:lstStyle/>
          <a:p>
            <a:pPr indent="0" marL="0">
              <a:buNone/>
            </a:pPr>
            <a:r>
              <a:rPr lang="en-US" sz="1200" dirty="0">
                <a:solidFill>
                  <a:srgbClr val="9CA3AF"/>
                </a:solidFill>
                <a:latin typeface="Calibri" pitchFamily="34" charset="0"/>
                <a:ea typeface="Calibri" pitchFamily="34" charset="-122"/>
                <a:cs typeface="Calibri" pitchFamily="34" charset="-120"/>
              </a:rPr>
              <a:t>Team Innov8 · AI-Tourism Hackathon 2026 · TBI-GEU, Dehradun</a:t>
            </a:r>
            <a:endParaRPr lang="en-US" sz="1200" dirty="0"/>
          </a:p>
        </p:txBody>
      </p:sp>
      <p:pic>
        <p:nvPicPr>
          <p:cNvPr id="8" name="Guest page on a phone" descr="Guest page on a phone">    </p:cNvPr>
          <p:cNvPicPr>
            <a:picLocks noChangeAspect="1"/>
          </p:cNvPicPr>
          <p:nvPr/>
        </p:nvPicPr>
        <p:blipFill>
          <a:blip r:embed="rId2"/>
          <a:stretch>
            <a:fillRect/>
          </a:stretch>
        </p:blipFill>
        <p:spPr>
          <a:xfrm>
            <a:off x="6903720" y="952012"/>
            <a:ext cx="2514600" cy="4953977"/>
          </a:xfrm>
          <a:prstGeom prst="rect">
            <a:avLst/>
          </a:prstGeom>
        </p:spPr>
      </p:pic>
      <p:pic>
        <p:nvPicPr>
          <p:cNvPr id="9" name="Staff app on a phone" descr="Staff app on a phone">    </p:cNvPr>
          <p:cNvPicPr>
            <a:picLocks noChangeAspect="1"/>
          </p:cNvPicPr>
          <p:nvPr/>
        </p:nvPicPr>
        <p:blipFill>
          <a:blip r:embed="rId3"/>
          <a:stretch>
            <a:fillRect/>
          </a:stretch>
        </p:blipFill>
        <p:spPr>
          <a:xfrm>
            <a:off x="9326880" y="952012"/>
            <a:ext cx="2514600" cy="495397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PROBLEM · WHY, WHAT, FOR WHOM</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chemeClr val="tx1"/>
                </a:solidFill>
                <a:latin typeface="Calibri" pitchFamily="34" charset="0"/>
                <a:ea typeface="Calibri" pitchFamily="34" charset="-122"/>
                <a:cs typeface="Calibri" pitchFamily="34" charset="-120"/>
              </a:rPr>
              <a:t>Small hotels can't see the rush coming</a:t>
            </a:r>
            <a:endParaRPr lang="en-US" sz="3200" dirty="0"/>
          </a:p>
        </p:txBody>
      </p:sp>
      <p:sp>
        <p:nvSpPr>
          <p:cNvPr id="4" name="Text 2"/>
          <p:cNvSpPr txBox="1"/>
          <p:nvPr/>
        </p:nvSpPr>
        <p:spPr>
          <a:xfrm>
            <a:off x="548640" y="1417320"/>
            <a:ext cx="7863840" cy="457200"/>
          </a:xfrm>
          <a:prstGeom prst="rect">
            <a:avLst/>
          </a:prstGeom>
          <a:noFill/>
          <a:ln/>
        </p:spPr>
        <p:txBody>
          <a:bodyPr wrap="square" lIns="0" tIns="0" rIns="0" bIns="0" rtlCol="0" anchor="t"/>
          <a:lstStyle/>
          <a:p>
            <a:pPr indent="0" marL="0">
              <a:buNone/>
            </a:pPr>
            <a:r>
              <a:rPr lang="en-US" sz="1800" dirty="0">
                <a:solidFill>
                  <a:schemeClr val="tx2"/>
                </a:solidFill>
                <a:latin typeface="Calibri" pitchFamily="34" charset="0"/>
                <a:ea typeface="Calibri" pitchFamily="34" charset="-122"/>
                <a:cs typeface="Calibri" pitchFamily="34" charset="-120"/>
              </a:rPr>
              <a:t>So they are short-staffed at the peaks, good staff burn out and leave, and guests wait.</a:t>
            </a:r>
            <a:endParaRPr lang="en-US" sz="1800" dirty="0"/>
          </a:p>
        </p:txBody>
      </p:sp>
      <p:sp>
        <p:nvSpPr>
          <p:cNvPr id="5" name="Shape 3"/>
          <p:cNvSpPr/>
          <p:nvPr/>
        </p:nvSpPr>
        <p:spPr>
          <a:xfrm>
            <a:off x="548640" y="2240280"/>
            <a:ext cx="2514600" cy="3429000"/>
          </a:xfrm>
          <a:prstGeom prst="roundRect">
            <a:avLst>
              <a:gd name="adj" fmla="val 4364"/>
            </a:avLst>
          </a:prstGeom>
          <a:solidFill>
            <a:srgbClr val="F4F5FA"/>
          </a:solidFill>
          <a:ln/>
        </p:spPr>
      </p:sp>
      <p:sp>
        <p:nvSpPr>
          <p:cNvPr id="6" name="Shape 4"/>
          <p:cNvSpPr/>
          <p:nvPr/>
        </p:nvSpPr>
        <p:spPr>
          <a:xfrm>
            <a:off x="822960" y="2514600"/>
            <a:ext cx="502920" cy="502920"/>
          </a:xfrm>
          <a:prstGeom prst="ellipse">
            <a:avLst/>
          </a:prstGeom>
          <a:solidFill>
            <a:schemeClr val="accent1"/>
          </a:solidFill>
          <a:ln/>
        </p:spPr>
      </p:sp>
      <p:sp>
        <p:nvSpPr>
          <p:cNvPr id="7" name="Text 5"/>
          <p:cNvSpPr txBox="1"/>
          <p:nvPr/>
        </p:nvSpPr>
        <p:spPr>
          <a:xfrm>
            <a:off x="822960" y="25146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txBox="1"/>
          <p:nvPr/>
        </p:nvSpPr>
        <p:spPr>
          <a:xfrm>
            <a:off x="822960" y="3200400"/>
            <a:ext cx="2011680" cy="457200"/>
          </a:xfrm>
          <a:prstGeom prst="rect">
            <a:avLst/>
          </a:prstGeom>
          <a:noFill/>
          <a:ln/>
        </p:spPr>
        <p:txBody>
          <a:bodyPr wrap="square" lIns="0" tIns="0" rIns="0" bIns="0" rtlCol="0" anchor="t"/>
          <a:lstStyle/>
          <a:p>
            <a:pPr indent="0" marL="0">
              <a:buNone/>
            </a:pPr>
            <a:r>
              <a:rPr lang="en-US" sz="2200" b="1" dirty="0">
                <a:solidFill>
                  <a:schemeClr val="tx1"/>
                </a:solidFill>
                <a:latin typeface="Calibri" pitchFamily="34" charset="0"/>
                <a:ea typeface="Calibri" pitchFamily="34" charset="-122"/>
                <a:cs typeface="Calibri" pitchFamily="34" charset="-120"/>
              </a:rPr>
              <a:t>Why</a:t>
            </a:r>
            <a:endParaRPr lang="en-US" sz="2200" dirty="0"/>
          </a:p>
        </p:txBody>
      </p:sp>
      <p:sp>
        <p:nvSpPr>
          <p:cNvPr id="9" name="Text 7"/>
          <p:cNvSpPr txBox="1"/>
          <p:nvPr/>
        </p:nvSpPr>
        <p:spPr>
          <a:xfrm>
            <a:off x="822960" y="3749040"/>
            <a:ext cx="2011680" cy="1828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Tourism comes in waves: Char Dham, summer, festivals. Small properties plan staff by memory, paper or WhatsApp (to validate).</a:t>
            </a:r>
            <a:endParaRPr lang="en-US" sz="1400" dirty="0"/>
          </a:p>
        </p:txBody>
      </p:sp>
      <p:sp>
        <p:nvSpPr>
          <p:cNvPr id="10" name="Shape 8"/>
          <p:cNvSpPr/>
          <p:nvPr/>
        </p:nvSpPr>
        <p:spPr>
          <a:xfrm>
            <a:off x="3246120" y="2240280"/>
            <a:ext cx="2514600" cy="3429000"/>
          </a:xfrm>
          <a:prstGeom prst="roundRect">
            <a:avLst>
              <a:gd name="adj" fmla="val 4364"/>
            </a:avLst>
          </a:prstGeom>
          <a:solidFill>
            <a:srgbClr val="F4F5FA"/>
          </a:solidFill>
          <a:ln/>
        </p:spPr>
      </p:sp>
      <p:sp>
        <p:nvSpPr>
          <p:cNvPr id="11" name="Shape 9"/>
          <p:cNvSpPr/>
          <p:nvPr/>
        </p:nvSpPr>
        <p:spPr>
          <a:xfrm>
            <a:off x="3520440" y="2514600"/>
            <a:ext cx="502920" cy="502920"/>
          </a:xfrm>
          <a:prstGeom prst="ellipse">
            <a:avLst/>
          </a:prstGeom>
          <a:solidFill>
            <a:schemeClr val="accent1"/>
          </a:solidFill>
          <a:ln/>
        </p:spPr>
      </p:sp>
      <p:sp>
        <p:nvSpPr>
          <p:cNvPr id="12" name="Text 10"/>
          <p:cNvSpPr txBox="1"/>
          <p:nvPr/>
        </p:nvSpPr>
        <p:spPr>
          <a:xfrm>
            <a:off x="3520440" y="25146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3520440" y="3200400"/>
            <a:ext cx="2011680" cy="457200"/>
          </a:xfrm>
          <a:prstGeom prst="rect">
            <a:avLst/>
          </a:prstGeom>
          <a:noFill/>
          <a:ln/>
        </p:spPr>
        <p:txBody>
          <a:bodyPr wrap="square" lIns="0" tIns="0" rIns="0" bIns="0" rtlCol="0" anchor="t"/>
          <a:lstStyle/>
          <a:p>
            <a:pPr indent="0" marL="0">
              <a:buNone/>
            </a:pPr>
            <a:r>
              <a:rPr lang="en-US" sz="2200" b="1" dirty="0">
                <a:solidFill>
                  <a:schemeClr val="tx1"/>
                </a:solidFill>
                <a:latin typeface="Calibri" pitchFamily="34" charset="0"/>
                <a:ea typeface="Calibri" pitchFamily="34" charset="-122"/>
                <a:cs typeface="Calibri" pitchFamily="34" charset="-120"/>
              </a:rPr>
              <a:t>What</a:t>
            </a:r>
            <a:endParaRPr lang="en-US" sz="2200" dirty="0"/>
          </a:p>
        </p:txBody>
      </p:sp>
      <p:sp>
        <p:nvSpPr>
          <p:cNvPr id="14" name="Text 12"/>
          <p:cNvSpPr txBox="1"/>
          <p:nvPr/>
        </p:nvSpPr>
        <p:spPr>
          <a:xfrm>
            <a:off x="3520440" y="3749040"/>
            <a:ext cx="2011680" cy="1828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One system that predicts the rush, plans fair shifts, sends each job to the right phone, proves the work, and flags who needs a talk.</a:t>
            </a:r>
            <a:endParaRPr lang="en-US" sz="1400" dirty="0"/>
          </a:p>
        </p:txBody>
      </p:sp>
      <p:sp>
        <p:nvSpPr>
          <p:cNvPr id="15" name="Shape 13"/>
          <p:cNvSpPr/>
          <p:nvPr/>
        </p:nvSpPr>
        <p:spPr>
          <a:xfrm>
            <a:off x="5943600" y="2240280"/>
            <a:ext cx="2514600" cy="3429000"/>
          </a:xfrm>
          <a:prstGeom prst="roundRect">
            <a:avLst>
              <a:gd name="adj" fmla="val 4364"/>
            </a:avLst>
          </a:prstGeom>
          <a:solidFill>
            <a:srgbClr val="F4F5FA"/>
          </a:solidFill>
          <a:ln/>
        </p:spPr>
      </p:sp>
      <p:sp>
        <p:nvSpPr>
          <p:cNvPr id="16" name="Shape 14"/>
          <p:cNvSpPr/>
          <p:nvPr/>
        </p:nvSpPr>
        <p:spPr>
          <a:xfrm>
            <a:off x="6217920" y="2514600"/>
            <a:ext cx="502920" cy="502920"/>
          </a:xfrm>
          <a:prstGeom prst="ellipse">
            <a:avLst/>
          </a:prstGeom>
          <a:solidFill>
            <a:schemeClr val="accent1"/>
          </a:solidFill>
          <a:ln/>
        </p:spPr>
      </p:sp>
      <p:sp>
        <p:nvSpPr>
          <p:cNvPr id="17" name="Text 15"/>
          <p:cNvSpPr txBox="1"/>
          <p:nvPr/>
        </p:nvSpPr>
        <p:spPr>
          <a:xfrm>
            <a:off x="6217920" y="25146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6217920" y="3200400"/>
            <a:ext cx="2011680" cy="457200"/>
          </a:xfrm>
          <a:prstGeom prst="rect">
            <a:avLst/>
          </a:prstGeom>
          <a:noFill/>
          <a:ln/>
        </p:spPr>
        <p:txBody>
          <a:bodyPr wrap="square" lIns="0" tIns="0" rIns="0" bIns="0" rtlCol="0" anchor="t"/>
          <a:lstStyle/>
          <a:p>
            <a:pPr indent="0" marL="0">
              <a:buNone/>
            </a:pPr>
            <a:r>
              <a:rPr lang="en-US" sz="2200" b="1" dirty="0">
                <a:solidFill>
                  <a:schemeClr val="tx1"/>
                </a:solidFill>
                <a:latin typeface="Calibri" pitchFamily="34" charset="0"/>
                <a:ea typeface="Calibri" pitchFamily="34" charset="-122"/>
                <a:cs typeface="Calibri" pitchFamily="34" charset="-120"/>
              </a:rPr>
              <a:t>For whom</a:t>
            </a:r>
            <a:endParaRPr lang="en-US" sz="2200" dirty="0"/>
          </a:p>
        </p:txBody>
      </p:sp>
      <p:sp>
        <p:nvSpPr>
          <p:cNvPr id="19" name="Text 17"/>
          <p:cNvSpPr txBox="1"/>
          <p:nvPr/>
        </p:nvSpPr>
        <p:spPr>
          <a:xfrm>
            <a:off x="6217920" y="3749040"/>
            <a:ext cx="2011680" cy="182880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Owners of small hotels (about 10–40 rooms) and registered homestays in Uttarakhand, and the people who work in them.</a:t>
            </a:r>
            <a:endParaRPr lang="en-US" sz="1400" dirty="0"/>
          </a:p>
        </p:txBody>
      </p:sp>
      <p:sp>
        <p:nvSpPr>
          <p:cNvPr id="20" name="Shape 18"/>
          <p:cNvSpPr/>
          <p:nvPr/>
        </p:nvSpPr>
        <p:spPr>
          <a:xfrm>
            <a:off x="8778240" y="2240280"/>
            <a:ext cx="2862072" cy="3429000"/>
          </a:xfrm>
          <a:prstGeom prst="roundRect">
            <a:avLst>
              <a:gd name="adj" fmla="val 3834"/>
            </a:avLst>
          </a:prstGeom>
          <a:solidFill>
            <a:srgbClr val="EEF0FF"/>
          </a:solidFill>
          <a:ln/>
        </p:spPr>
      </p:sp>
      <p:sp>
        <p:nvSpPr>
          <p:cNvPr id="21" name="Text 19"/>
          <p:cNvSpPr txBox="1"/>
          <p:nvPr/>
        </p:nvSpPr>
        <p:spPr>
          <a:xfrm>
            <a:off x="9006840" y="2606040"/>
            <a:ext cx="2468880" cy="914400"/>
          </a:xfrm>
          <a:prstGeom prst="rect">
            <a:avLst/>
          </a:prstGeom>
          <a:noFill/>
          <a:ln/>
        </p:spPr>
        <p:txBody>
          <a:bodyPr wrap="square" lIns="0" tIns="0" rIns="0" bIns="0" rtlCol="0" anchor="t"/>
          <a:lstStyle/>
          <a:p>
            <a:pPr indent="0" marL="0">
              <a:buNone/>
            </a:pPr>
            <a:r>
              <a:rPr lang="en-US" sz="5200" b="1" dirty="0">
                <a:solidFill>
                  <a:schemeClr val="accent1"/>
                </a:solidFill>
                <a:latin typeface="Calibri" pitchFamily="34" charset="0"/>
                <a:ea typeface="Calibri" pitchFamily="34" charset="-122"/>
                <a:cs typeface="Calibri" pitchFamily="34" charset="-120"/>
              </a:rPr>
              <a:t>5,000+</a:t>
            </a:r>
            <a:endParaRPr lang="en-US" sz="5200" dirty="0"/>
          </a:p>
        </p:txBody>
      </p:sp>
      <p:sp>
        <p:nvSpPr>
          <p:cNvPr id="22" name="Text 20"/>
          <p:cNvSpPr txBox="1"/>
          <p:nvPr/>
        </p:nvSpPr>
        <p:spPr>
          <a:xfrm>
            <a:off x="9006840" y="3611880"/>
            <a:ext cx="2423160" cy="118872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registered homestays in Uttarakhand, mostly run by a family with a few helpers</a:t>
            </a:r>
            <a:endParaRPr lang="en-US" sz="1500" dirty="0"/>
          </a:p>
        </p:txBody>
      </p:sp>
      <p:sp>
        <p:nvSpPr>
          <p:cNvPr id="23" name="Text 21"/>
          <p:cNvSpPr txBox="1"/>
          <p:nvPr/>
        </p:nvSpPr>
        <p:spPr>
          <a:xfrm>
            <a:off x="9006840" y="5074920"/>
            <a:ext cx="2423160" cy="457200"/>
          </a:xfrm>
          <a:prstGeom prst="rect">
            <a:avLst/>
          </a:prstGeom>
          <a:noFill/>
          <a:ln/>
        </p:spPr>
        <p:txBody>
          <a:bodyPr wrap="square" lIns="0" tIns="0" rIns="0" bIns="0" rtlCol="0" anchor="t"/>
          <a:lstStyle/>
          <a:p>
            <a:pPr indent="0" marL="0">
              <a:buNone/>
            </a:pPr>
            <a:r>
              <a:rPr lang="en-US" sz="1000" dirty="0">
                <a:solidFill>
                  <a:schemeClr val="tx2"/>
                </a:solidFill>
                <a:latin typeface="Calibri" pitchFamily="34" charset="0"/>
                <a:ea typeface="Calibri" pitchFamily="34" charset="-122"/>
                <a:cs typeface="Calibri" pitchFamily="34" charset="-120"/>
              </a:rPr>
              <a:t>Source: state figures as reported by ETV Bharat, 20 May 2026</a:t>
            </a:r>
            <a:endParaRPr lang="en-US" sz="10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CUSTOMER VS USER</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chemeClr val="tx1"/>
                </a:solidFill>
                <a:latin typeface="Calibri" pitchFamily="34" charset="0"/>
                <a:ea typeface="Calibri" pitchFamily="34" charset="-122"/>
                <a:cs typeface="Calibri" pitchFamily="34" charset="-120"/>
              </a:rPr>
              <a:t>The owner pays. Everyone else just uses it.</a:t>
            </a:r>
            <a:endParaRPr lang="en-US" sz="3200" dirty="0"/>
          </a:p>
        </p:txBody>
      </p:sp>
      <p:sp>
        <p:nvSpPr>
          <p:cNvPr id="4" name="Shape 2"/>
          <p:cNvSpPr/>
          <p:nvPr/>
        </p:nvSpPr>
        <p:spPr>
          <a:xfrm>
            <a:off x="548640" y="1691640"/>
            <a:ext cx="5394960" cy="4206240"/>
          </a:xfrm>
          <a:prstGeom prst="roundRect">
            <a:avLst>
              <a:gd name="adj" fmla="val 2609"/>
            </a:avLst>
          </a:prstGeom>
          <a:solidFill>
            <a:srgbClr val="EEF0FF"/>
          </a:solidFill>
          <a:ln/>
        </p:spPr>
      </p:sp>
      <p:sp>
        <p:nvSpPr>
          <p:cNvPr id="5" name="Shape 3"/>
          <p:cNvSpPr/>
          <p:nvPr/>
        </p:nvSpPr>
        <p:spPr>
          <a:xfrm>
            <a:off x="868680" y="1965960"/>
            <a:ext cx="1920240" cy="310896"/>
          </a:xfrm>
          <a:prstGeom prst="roundRect">
            <a:avLst>
              <a:gd name="adj" fmla="val 50000"/>
            </a:avLst>
          </a:prstGeom>
          <a:solidFill>
            <a:schemeClr val="accent1"/>
          </a:solidFill>
          <a:ln/>
        </p:spPr>
      </p:sp>
      <p:sp>
        <p:nvSpPr>
          <p:cNvPr id="6" name="Text 4"/>
          <p:cNvSpPr txBox="1"/>
          <p:nvPr/>
        </p:nvSpPr>
        <p:spPr>
          <a:xfrm>
            <a:off x="868680" y="1965960"/>
            <a:ext cx="19202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 · PAYS</a:t>
            </a:r>
            <a:endParaRPr lang="en-US" sz="1100" dirty="0"/>
          </a:p>
        </p:txBody>
      </p:sp>
      <p:sp>
        <p:nvSpPr>
          <p:cNvPr id="7" name="Text 5"/>
          <p:cNvSpPr txBox="1"/>
          <p:nvPr/>
        </p:nvSpPr>
        <p:spPr>
          <a:xfrm>
            <a:off x="868680" y="2468880"/>
            <a:ext cx="4846320" cy="548640"/>
          </a:xfrm>
          <a:prstGeom prst="rect">
            <a:avLst/>
          </a:prstGeom>
          <a:noFill/>
          <a:ln/>
        </p:spPr>
        <p:txBody>
          <a:bodyPr wrap="square" lIns="0" tIns="0" rIns="0" bIns="0" rtlCol="0" anchor="t"/>
          <a:lstStyle/>
          <a:p>
            <a:pPr indent="0" marL="0">
              <a:buNone/>
            </a:pPr>
            <a:r>
              <a:rPr lang="en-US" sz="2600" b="1" dirty="0">
                <a:solidFill>
                  <a:schemeClr val="tx1"/>
                </a:solidFill>
                <a:latin typeface="Calibri" pitchFamily="34" charset="0"/>
                <a:ea typeface="Calibri" pitchFamily="34" charset="-122"/>
                <a:cs typeface="Calibri" pitchFamily="34" charset="-120"/>
              </a:rPr>
              <a:t>Hotel or homestay owner</a:t>
            </a:r>
            <a:endParaRPr lang="en-US" sz="2600" dirty="0"/>
          </a:p>
        </p:txBody>
      </p:sp>
      <p:sp>
        <p:nvSpPr>
          <p:cNvPr id="8" name="Text 6"/>
          <p:cNvSpPr txBox="1"/>
          <p:nvPr/>
        </p:nvSpPr>
        <p:spPr>
          <a:xfrm>
            <a:off x="868680" y="3154680"/>
            <a:ext cx="4846320" cy="2468880"/>
          </a:xfrm>
          <a:prstGeom prst="rect">
            <a:avLst/>
          </a:prstGeom>
          <a:noFill/>
          <a:ln/>
        </p:spPr>
        <p:txBody>
          <a:bodyPr wrap="square" lIns="0" tIns="0" rIns="0" bIns="0" rtlCol="0" anchor="t"/>
          <a:lstStyle/>
          <a:p>
            <a:pPr indent="0" marL="0">
              <a:spcAft>
                <a:spcPts val="1200"/>
              </a:spcAft>
              <a:buNone/>
            </a:pPr>
            <a:r>
              <a:rPr lang="en-US" sz="1600" dirty="0">
                <a:solidFill>
                  <a:schemeClr val="tx2"/>
                </a:solidFill>
                <a:latin typeface="Calibri" pitchFamily="34" charset="0"/>
                <a:ea typeface="Calibri" pitchFamily="34" charset="-122"/>
                <a:cs typeface="Calibri" pitchFamily="34" charset="-120"/>
              </a:rPr>
              <a:t>Later: homestay clusters (8–10 homestays in one society) and the state tourism department (to validate).</a:t>
            </a:r>
            <a:endParaRPr lang="en-US" sz="1600" dirty="0"/>
          </a:p>
          <a:p>
            <a:pPr indent="0" marL="0">
              <a:buNone/>
            </a:pPr>
            <a:r>
              <a:rPr lang="en-US" sz="1600" b="1" dirty="0">
                <a:solidFill>
                  <a:schemeClr val="tx1"/>
                </a:solidFill>
                <a:latin typeface="Calibri" pitchFamily="34" charset="0"/>
                <a:ea typeface="Calibri" pitchFamily="34" charset="-122"/>
                <a:cs typeface="Calibri" pitchFamily="34" charset="-120"/>
              </a:rPr>
              <a:t>Can they buy it for themselves?  </a:t>
            </a:r>
            <a:pPr indent="0" marL="0">
              <a:buNone/>
            </a:pPr>
            <a:r>
              <a:rPr lang="en-US" sz="1600" dirty="0">
                <a:solidFill>
                  <a:schemeClr val="tx2"/>
                </a:solidFill>
                <a:latin typeface="Calibri" pitchFamily="34" charset="0"/>
                <a:ea typeface="Calibri" pitchFamily="34" charset="-122"/>
                <a:cs typeface="Calibri" pitchFamily="34" charset="-120"/>
              </a:rPr>
              <a:t>Yes. An owner buys it for their own property, like a booking system.</a:t>
            </a:r>
            <a:endParaRPr lang="en-US" sz="1600" dirty="0"/>
          </a:p>
        </p:txBody>
      </p:sp>
      <p:sp>
        <p:nvSpPr>
          <p:cNvPr id="9" name="Shape 7"/>
          <p:cNvSpPr/>
          <p:nvPr/>
        </p:nvSpPr>
        <p:spPr>
          <a:xfrm>
            <a:off x="6245352" y="1691640"/>
            <a:ext cx="5394960" cy="4206240"/>
          </a:xfrm>
          <a:prstGeom prst="roundRect">
            <a:avLst>
              <a:gd name="adj" fmla="val 2609"/>
            </a:avLst>
          </a:prstGeom>
          <a:solidFill>
            <a:srgbClr val="F4F5FA"/>
          </a:solidFill>
          <a:ln/>
        </p:spPr>
      </p:sp>
      <p:sp>
        <p:nvSpPr>
          <p:cNvPr id="10" name="Shape 8"/>
          <p:cNvSpPr/>
          <p:nvPr/>
        </p:nvSpPr>
        <p:spPr>
          <a:xfrm>
            <a:off x="6565392" y="1965960"/>
            <a:ext cx="2103120" cy="310896"/>
          </a:xfrm>
          <a:prstGeom prst="roundRect">
            <a:avLst>
              <a:gd name="adj" fmla="val 50000"/>
            </a:avLst>
          </a:prstGeom>
          <a:solidFill>
            <a:srgbClr val="111827"/>
          </a:solidFill>
          <a:ln/>
        </p:spPr>
      </p:sp>
      <p:sp>
        <p:nvSpPr>
          <p:cNvPr id="11" name="Text 9"/>
          <p:cNvSpPr txBox="1"/>
          <p:nvPr/>
        </p:nvSpPr>
        <p:spPr>
          <a:xfrm>
            <a:off x="6565392" y="1965960"/>
            <a:ext cx="210312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USERS · NEVER PAY</a:t>
            </a:r>
            <a:endParaRPr lang="en-US" sz="1100" dirty="0"/>
          </a:p>
        </p:txBody>
      </p:sp>
      <p:sp>
        <p:nvSpPr>
          <p:cNvPr id="12" name="Text 10"/>
          <p:cNvSpPr txBox="1"/>
          <p:nvPr/>
        </p:nvSpPr>
        <p:spPr>
          <a:xfrm>
            <a:off x="6565392" y="2468880"/>
            <a:ext cx="4846320" cy="548640"/>
          </a:xfrm>
          <a:prstGeom prst="rect">
            <a:avLst/>
          </a:prstGeom>
          <a:noFill/>
          <a:ln/>
        </p:spPr>
        <p:txBody>
          <a:bodyPr wrap="square" lIns="0" tIns="0" rIns="0" bIns="0" rtlCol="0" anchor="t"/>
          <a:lstStyle/>
          <a:p>
            <a:pPr indent="0" marL="0">
              <a:buNone/>
            </a:pPr>
            <a:r>
              <a:rPr lang="en-US" sz="2600" b="1" dirty="0">
                <a:solidFill>
                  <a:schemeClr val="tx1"/>
                </a:solidFill>
                <a:latin typeface="Calibri" pitchFamily="34" charset="0"/>
                <a:ea typeface="Calibri" pitchFamily="34" charset="-122"/>
                <a:cs typeface="Calibri" pitchFamily="34" charset="-120"/>
              </a:rPr>
              <a:t>Staff, guests, tourists, officials</a:t>
            </a:r>
            <a:endParaRPr lang="en-US" sz="2600" dirty="0"/>
          </a:p>
        </p:txBody>
      </p:sp>
      <p:sp>
        <p:nvSpPr>
          <p:cNvPr id="13" name="Text 11"/>
          <p:cNvSpPr txBox="1"/>
          <p:nvPr/>
        </p:nvSpPr>
        <p:spPr>
          <a:xfrm>
            <a:off x="6565392" y="3154680"/>
            <a:ext cx="4846320" cy="2468880"/>
          </a:xfrm>
          <a:prstGeom prst="rect">
            <a:avLst/>
          </a:prstGeom>
          <a:noFill/>
          <a:ln/>
        </p:spPr>
        <p:txBody>
          <a:bodyPr wrap="square" lIns="0" tIns="0" rIns="0" bIns="0" rtlCol="0" anchor="t"/>
          <a:lstStyle/>
          <a:p>
            <a:pPr indent="0" marL="0">
              <a:spcAft>
                <a:spcPts val="1200"/>
              </a:spcAft>
              <a:buNone/>
            </a:pPr>
            <a:r>
              <a:rPr lang="en-US" sz="1600" dirty="0">
                <a:solidFill>
                  <a:schemeClr val="tx2"/>
                </a:solidFill>
                <a:latin typeface="Calibri" pitchFamily="34" charset="0"/>
                <a:ea typeface="Calibri" pitchFamily="34" charset="-122"/>
                <a:cs typeface="Calibri" pitchFamily="34" charset="-120"/>
              </a:rPr>
              <a:t>Housekeepers, cooks, front desk, maintenance; guests in the room; tourists; district officials; job seekers; staffing agencies.</a:t>
            </a:r>
            <a:endParaRPr lang="en-US" sz="1600" dirty="0"/>
          </a:p>
          <a:p>
            <a:pPr indent="0" marL="0">
              <a:buNone/>
            </a:pPr>
            <a:r>
              <a:rPr lang="en-US" sz="1600" b="1" dirty="0">
                <a:solidFill>
                  <a:schemeClr val="tx1"/>
                </a:solidFill>
                <a:latin typeface="Calibri" pitchFamily="34" charset="0"/>
                <a:ea typeface="Calibri" pitchFamily="34" charset="-122"/>
                <a:cs typeface="Calibri" pitchFamily="34" charset="-120"/>
              </a:rPr>
              <a:t>Can they buy it?  </a:t>
            </a:r>
            <a:pPr indent="0" marL="0">
              <a:buNone/>
            </a:pPr>
            <a:r>
              <a:rPr lang="en-US" sz="1600" dirty="0">
                <a:solidFill>
                  <a:schemeClr val="tx2"/>
                </a:solidFill>
                <a:latin typeface="Calibri" pitchFamily="34" charset="0"/>
                <a:ea typeface="Calibri" pitchFamily="34" charset="-122"/>
                <a:cs typeface="Calibri" pitchFamily="34" charset="-120"/>
              </a:rPr>
              <a:t>No. So it must be free for them, work on any phone through a link, speak Hindi, and need no training.</a:t>
            </a:r>
            <a:endParaRPr lang="en-US" sz="16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ALL PEOPLE INVOLVED</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chemeClr val="tx1"/>
                </a:solidFill>
                <a:latin typeface="Calibri" pitchFamily="34" charset="0"/>
                <a:ea typeface="Calibri" pitchFamily="34" charset="-122"/>
                <a:cs typeface="Calibri" pitchFamily="34" charset="-120"/>
              </a:rPr>
              <a:t>Eight groups, one shared loop</a:t>
            </a:r>
            <a:endParaRPr lang="en-US" sz="3200" dirty="0"/>
          </a:p>
        </p:txBody>
      </p:sp>
      <p:sp>
        <p:nvSpPr>
          <p:cNvPr id="4" name="Shape 2"/>
          <p:cNvSpPr/>
          <p:nvPr/>
        </p:nvSpPr>
        <p:spPr>
          <a:xfrm>
            <a:off x="548640" y="1691640"/>
            <a:ext cx="2651760" cy="2057400"/>
          </a:xfrm>
          <a:prstGeom prst="roundRect">
            <a:avLst>
              <a:gd name="adj" fmla="val 5333"/>
            </a:avLst>
          </a:prstGeom>
          <a:solidFill>
            <a:srgbClr val="EEF0FF"/>
          </a:solidFill>
          <a:ln/>
        </p:spPr>
      </p:sp>
      <p:sp>
        <p:nvSpPr>
          <p:cNvPr id="5" name="Text 3"/>
          <p:cNvSpPr txBox="1"/>
          <p:nvPr/>
        </p:nvSpPr>
        <p:spPr>
          <a:xfrm>
            <a:off x="777240" y="1892808"/>
            <a:ext cx="228600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Owner or GM</a:t>
            </a:r>
            <a:endParaRPr lang="en-US" sz="1800" dirty="0"/>
          </a:p>
        </p:txBody>
      </p:sp>
      <p:sp>
        <p:nvSpPr>
          <p:cNvPr id="6" name="Text 4"/>
          <p:cNvSpPr txBox="1"/>
          <p:nvPr/>
        </p:nvSpPr>
        <p:spPr>
          <a:xfrm>
            <a:off x="777240" y="2377440"/>
            <a:ext cx="228600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Needs</a:t>
            </a:r>
            <a:endParaRPr lang="en-US" sz="1000" dirty="0"/>
          </a:p>
        </p:txBody>
      </p:sp>
      <p:sp>
        <p:nvSpPr>
          <p:cNvPr id="7" name="Text 5"/>
          <p:cNvSpPr txBox="1"/>
          <p:nvPr/>
        </p:nvSpPr>
        <p:spPr>
          <a:xfrm>
            <a:off x="777240" y="2587752"/>
            <a:ext cx="2286000" cy="4114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Is today OK? No peak surprises.</a:t>
            </a:r>
            <a:endParaRPr lang="en-US" sz="1300" dirty="0"/>
          </a:p>
        </p:txBody>
      </p:sp>
      <p:sp>
        <p:nvSpPr>
          <p:cNvPr id="8" name="Text 6"/>
          <p:cNvSpPr txBox="1"/>
          <p:nvPr/>
        </p:nvSpPr>
        <p:spPr>
          <a:xfrm>
            <a:off x="777240" y="2990088"/>
            <a:ext cx="2286000" cy="228600"/>
          </a:xfrm>
          <a:prstGeom prst="rect">
            <a:avLst/>
          </a:prstGeom>
          <a:noFill/>
          <a:ln/>
        </p:spPr>
        <p:txBody>
          <a:bodyPr wrap="square" lIns="0" tIns="0" rIns="0" bIns="0" rtlCol="0" anchor="t"/>
          <a:lstStyle/>
          <a:p>
            <a:pPr indent="0" marL="0">
              <a:buNone/>
            </a:pPr>
            <a:r>
              <a:rPr lang="en-US" sz="1000" b="1" spc="100" kern="0" dirty="0">
                <a:solidFill>
                  <a:schemeClr val="accent1"/>
                </a:solidFill>
                <a:latin typeface="Calibri" pitchFamily="34" charset="0"/>
                <a:ea typeface="Calibri" pitchFamily="34" charset="-122"/>
                <a:cs typeface="Calibri" pitchFamily="34" charset="-120"/>
              </a:rPr>
              <a:t>HOI gives</a:t>
            </a:r>
            <a:endParaRPr lang="en-US" sz="1000" dirty="0"/>
          </a:p>
        </p:txBody>
      </p:sp>
      <p:sp>
        <p:nvSpPr>
          <p:cNvPr id="9" name="Text 7"/>
          <p:cNvSpPr txBox="1"/>
          <p:nvPr/>
        </p:nvSpPr>
        <p:spPr>
          <a:xfrm>
            <a:off x="777240" y="3200400"/>
            <a:ext cx="228600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Today page: one answer, five numbers</a:t>
            </a:r>
            <a:endParaRPr lang="en-US" sz="1300" dirty="0"/>
          </a:p>
        </p:txBody>
      </p:sp>
      <p:sp>
        <p:nvSpPr>
          <p:cNvPr id="10" name="Shape 8"/>
          <p:cNvSpPr/>
          <p:nvPr/>
        </p:nvSpPr>
        <p:spPr>
          <a:xfrm>
            <a:off x="3355848" y="1691640"/>
            <a:ext cx="2651760" cy="2057400"/>
          </a:xfrm>
          <a:prstGeom prst="roundRect">
            <a:avLst>
              <a:gd name="adj" fmla="val 5333"/>
            </a:avLst>
          </a:prstGeom>
          <a:solidFill>
            <a:srgbClr val="EEF0FF"/>
          </a:solidFill>
          <a:ln/>
        </p:spPr>
      </p:sp>
      <p:sp>
        <p:nvSpPr>
          <p:cNvPr id="11" name="Text 9"/>
          <p:cNvSpPr txBox="1"/>
          <p:nvPr/>
        </p:nvSpPr>
        <p:spPr>
          <a:xfrm>
            <a:off x="3584448" y="1892808"/>
            <a:ext cx="228600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Department heads</a:t>
            </a:r>
            <a:endParaRPr lang="en-US" sz="1800" dirty="0"/>
          </a:p>
        </p:txBody>
      </p:sp>
      <p:sp>
        <p:nvSpPr>
          <p:cNvPr id="12" name="Text 10"/>
          <p:cNvSpPr txBox="1"/>
          <p:nvPr/>
        </p:nvSpPr>
        <p:spPr>
          <a:xfrm>
            <a:off x="3584448" y="2377440"/>
            <a:ext cx="228600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Needs</a:t>
            </a:r>
            <a:endParaRPr lang="en-US" sz="1000" dirty="0"/>
          </a:p>
        </p:txBody>
      </p:sp>
      <p:sp>
        <p:nvSpPr>
          <p:cNvPr id="13" name="Text 11"/>
          <p:cNvSpPr txBox="1"/>
          <p:nvPr/>
        </p:nvSpPr>
        <p:spPr>
          <a:xfrm>
            <a:off x="3584448" y="2587752"/>
            <a:ext cx="2286000" cy="4114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Their team's jobs and people</a:t>
            </a:r>
            <a:endParaRPr lang="en-US" sz="1300" dirty="0"/>
          </a:p>
        </p:txBody>
      </p:sp>
      <p:sp>
        <p:nvSpPr>
          <p:cNvPr id="14" name="Text 12"/>
          <p:cNvSpPr txBox="1"/>
          <p:nvPr/>
        </p:nvSpPr>
        <p:spPr>
          <a:xfrm>
            <a:off x="3584448" y="2990088"/>
            <a:ext cx="2286000" cy="228600"/>
          </a:xfrm>
          <a:prstGeom prst="rect">
            <a:avLst/>
          </a:prstGeom>
          <a:noFill/>
          <a:ln/>
        </p:spPr>
        <p:txBody>
          <a:bodyPr wrap="square" lIns="0" tIns="0" rIns="0" bIns="0" rtlCol="0" anchor="t"/>
          <a:lstStyle/>
          <a:p>
            <a:pPr indent="0" marL="0">
              <a:buNone/>
            </a:pPr>
            <a:r>
              <a:rPr lang="en-US" sz="1000" b="1" spc="100" kern="0" dirty="0">
                <a:solidFill>
                  <a:schemeClr val="accent1"/>
                </a:solidFill>
                <a:latin typeface="Calibri" pitchFamily="34" charset="0"/>
                <a:ea typeface="Calibri" pitchFamily="34" charset="-122"/>
                <a:cs typeface="Calibri" pitchFamily="34" charset="-120"/>
              </a:rPr>
              <a:t>HOI gives</a:t>
            </a:r>
            <a:endParaRPr lang="en-US" sz="1000" dirty="0"/>
          </a:p>
        </p:txBody>
      </p:sp>
      <p:sp>
        <p:nvSpPr>
          <p:cNvPr id="15" name="Text 13"/>
          <p:cNvSpPr txBox="1"/>
          <p:nvPr/>
        </p:nvSpPr>
        <p:spPr>
          <a:xfrm>
            <a:off x="3584448" y="3200400"/>
            <a:ext cx="228600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Own department only; pay stays private</a:t>
            </a:r>
            <a:endParaRPr lang="en-US" sz="1300" dirty="0"/>
          </a:p>
        </p:txBody>
      </p:sp>
      <p:sp>
        <p:nvSpPr>
          <p:cNvPr id="16" name="Shape 14"/>
          <p:cNvSpPr/>
          <p:nvPr/>
        </p:nvSpPr>
        <p:spPr>
          <a:xfrm>
            <a:off x="6163056" y="1691640"/>
            <a:ext cx="2651760" cy="2057400"/>
          </a:xfrm>
          <a:prstGeom prst="roundRect">
            <a:avLst>
              <a:gd name="adj" fmla="val 5333"/>
            </a:avLst>
          </a:prstGeom>
          <a:solidFill>
            <a:srgbClr val="EEF0FF"/>
          </a:solidFill>
          <a:ln/>
        </p:spPr>
      </p:sp>
      <p:sp>
        <p:nvSpPr>
          <p:cNvPr id="17" name="Text 15"/>
          <p:cNvSpPr txBox="1"/>
          <p:nvPr/>
        </p:nvSpPr>
        <p:spPr>
          <a:xfrm>
            <a:off x="6391656" y="1892808"/>
            <a:ext cx="228600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Frontline staff</a:t>
            </a:r>
            <a:endParaRPr lang="en-US" sz="1800" dirty="0"/>
          </a:p>
        </p:txBody>
      </p:sp>
      <p:sp>
        <p:nvSpPr>
          <p:cNvPr id="18" name="Text 16"/>
          <p:cNvSpPr txBox="1"/>
          <p:nvPr/>
        </p:nvSpPr>
        <p:spPr>
          <a:xfrm>
            <a:off x="6391656" y="2377440"/>
            <a:ext cx="228600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Needs</a:t>
            </a:r>
            <a:endParaRPr lang="en-US" sz="1000" dirty="0"/>
          </a:p>
        </p:txBody>
      </p:sp>
      <p:sp>
        <p:nvSpPr>
          <p:cNvPr id="19" name="Text 17"/>
          <p:cNvSpPr txBox="1"/>
          <p:nvPr/>
        </p:nvSpPr>
        <p:spPr>
          <a:xfrm>
            <a:off x="6391656" y="2587752"/>
            <a:ext cx="2286000" cy="4114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Clear jobs, fair shifts, thanks</a:t>
            </a:r>
            <a:endParaRPr lang="en-US" sz="1300" dirty="0"/>
          </a:p>
        </p:txBody>
      </p:sp>
      <p:sp>
        <p:nvSpPr>
          <p:cNvPr id="20" name="Text 18"/>
          <p:cNvSpPr txBox="1"/>
          <p:nvPr/>
        </p:nvSpPr>
        <p:spPr>
          <a:xfrm>
            <a:off x="6391656" y="2990088"/>
            <a:ext cx="2286000" cy="228600"/>
          </a:xfrm>
          <a:prstGeom prst="rect">
            <a:avLst/>
          </a:prstGeom>
          <a:noFill/>
          <a:ln/>
        </p:spPr>
        <p:txBody>
          <a:bodyPr wrap="square" lIns="0" tIns="0" rIns="0" bIns="0" rtlCol="0" anchor="t"/>
          <a:lstStyle/>
          <a:p>
            <a:pPr indent="0" marL="0">
              <a:buNone/>
            </a:pPr>
            <a:r>
              <a:rPr lang="en-US" sz="1000" b="1" spc="100" kern="0" dirty="0">
                <a:solidFill>
                  <a:schemeClr val="accent1"/>
                </a:solidFill>
                <a:latin typeface="Calibri" pitchFamily="34" charset="0"/>
                <a:ea typeface="Calibri" pitchFamily="34" charset="-122"/>
                <a:cs typeface="Calibri" pitchFamily="34" charset="-120"/>
              </a:rPr>
              <a:t>HOI gives</a:t>
            </a:r>
            <a:endParaRPr lang="en-US" sz="1000" dirty="0"/>
          </a:p>
        </p:txBody>
      </p:sp>
      <p:sp>
        <p:nvSpPr>
          <p:cNvPr id="21" name="Text 19"/>
          <p:cNvSpPr txBox="1"/>
          <p:nvPr/>
        </p:nvSpPr>
        <p:spPr>
          <a:xfrm>
            <a:off x="6391656" y="3200400"/>
            <a:ext cx="228600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One button per job, Hindi voice, points</a:t>
            </a:r>
            <a:endParaRPr lang="en-US" sz="1300" dirty="0"/>
          </a:p>
        </p:txBody>
      </p:sp>
      <p:sp>
        <p:nvSpPr>
          <p:cNvPr id="22" name="Shape 20"/>
          <p:cNvSpPr/>
          <p:nvPr/>
        </p:nvSpPr>
        <p:spPr>
          <a:xfrm>
            <a:off x="8970264" y="1691640"/>
            <a:ext cx="2651760" cy="2057400"/>
          </a:xfrm>
          <a:prstGeom prst="roundRect">
            <a:avLst>
              <a:gd name="adj" fmla="val 5333"/>
            </a:avLst>
          </a:prstGeom>
          <a:solidFill>
            <a:srgbClr val="EEF0FF"/>
          </a:solidFill>
          <a:ln/>
        </p:spPr>
      </p:sp>
      <p:sp>
        <p:nvSpPr>
          <p:cNvPr id="23" name="Text 21"/>
          <p:cNvSpPr txBox="1"/>
          <p:nvPr/>
        </p:nvSpPr>
        <p:spPr>
          <a:xfrm>
            <a:off x="9198864" y="1892808"/>
            <a:ext cx="228600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Guests</a:t>
            </a:r>
            <a:endParaRPr lang="en-US" sz="1800" dirty="0"/>
          </a:p>
        </p:txBody>
      </p:sp>
      <p:sp>
        <p:nvSpPr>
          <p:cNvPr id="24" name="Text 22"/>
          <p:cNvSpPr txBox="1"/>
          <p:nvPr/>
        </p:nvSpPr>
        <p:spPr>
          <a:xfrm>
            <a:off x="9198864" y="2377440"/>
            <a:ext cx="228600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Needs</a:t>
            </a:r>
            <a:endParaRPr lang="en-US" sz="1000" dirty="0"/>
          </a:p>
        </p:txBody>
      </p:sp>
      <p:sp>
        <p:nvSpPr>
          <p:cNvPr id="25" name="Text 23"/>
          <p:cNvSpPr txBox="1"/>
          <p:nvPr/>
        </p:nvSpPr>
        <p:spPr>
          <a:xfrm>
            <a:off x="9198864" y="2587752"/>
            <a:ext cx="2286000" cy="4114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Help without calling</a:t>
            </a:r>
            <a:endParaRPr lang="en-US" sz="1300" dirty="0"/>
          </a:p>
        </p:txBody>
      </p:sp>
      <p:sp>
        <p:nvSpPr>
          <p:cNvPr id="26" name="Text 24"/>
          <p:cNvSpPr txBox="1"/>
          <p:nvPr/>
        </p:nvSpPr>
        <p:spPr>
          <a:xfrm>
            <a:off x="9198864" y="2990088"/>
            <a:ext cx="2286000" cy="228600"/>
          </a:xfrm>
          <a:prstGeom prst="rect">
            <a:avLst/>
          </a:prstGeom>
          <a:noFill/>
          <a:ln/>
        </p:spPr>
        <p:txBody>
          <a:bodyPr wrap="square" lIns="0" tIns="0" rIns="0" bIns="0" rtlCol="0" anchor="t"/>
          <a:lstStyle/>
          <a:p>
            <a:pPr indent="0" marL="0">
              <a:buNone/>
            </a:pPr>
            <a:r>
              <a:rPr lang="en-US" sz="1000" b="1" spc="100" kern="0" dirty="0">
                <a:solidFill>
                  <a:schemeClr val="accent1"/>
                </a:solidFill>
                <a:latin typeface="Calibri" pitchFamily="34" charset="0"/>
                <a:ea typeface="Calibri" pitchFamily="34" charset="-122"/>
                <a:cs typeface="Calibri" pitchFamily="34" charset="-120"/>
              </a:rPr>
              <a:t>HOI gives</a:t>
            </a:r>
            <a:endParaRPr lang="en-US" sz="1000" dirty="0"/>
          </a:p>
        </p:txBody>
      </p:sp>
      <p:sp>
        <p:nvSpPr>
          <p:cNvPr id="27" name="Text 25"/>
          <p:cNvSpPr txBox="1"/>
          <p:nvPr/>
        </p:nvSpPr>
        <p:spPr>
          <a:xfrm>
            <a:off x="9198864" y="3200400"/>
            <a:ext cx="228600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Room QR: one tap, live status, local tips</a:t>
            </a:r>
            <a:endParaRPr lang="en-US" sz="1300" dirty="0"/>
          </a:p>
        </p:txBody>
      </p:sp>
      <p:sp>
        <p:nvSpPr>
          <p:cNvPr id="28" name="Shape 26"/>
          <p:cNvSpPr/>
          <p:nvPr/>
        </p:nvSpPr>
        <p:spPr>
          <a:xfrm>
            <a:off x="548640" y="3931920"/>
            <a:ext cx="2651760" cy="2057400"/>
          </a:xfrm>
          <a:prstGeom prst="roundRect">
            <a:avLst>
              <a:gd name="adj" fmla="val 5333"/>
            </a:avLst>
          </a:prstGeom>
          <a:solidFill>
            <a:srgbClr val="F4F5FA"/>
          </a:solidFill>
          <a:ln/>
        </p:spPr>
      </p:sp>
      <p:sp>
        <p:nvSpPr>
          <p:cNvPr id="29" name="Text 27"/>
          <p:cNvSpPr txBox="1"/>
          <p:nvPr/>
        </p:nvSpPr>
        <p:spPr>
          <a:xfrm>
            <a:off x="777240" y="4133088"/>
            <a:ext cx="228600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Tourists</a:t>
            </a:r>
            <a:endParaRPr lang="en-US" sz="1800" dirty="0"/>
          </a:p>
        </p:txBody>
      </p:sp>
      <p:sp>
        <p:nvSpPr>
          <p:cNvPr id="30" name="Text 28"/>
          <p:cNvSpPr txBox="1"/>
          <p:nvPr/>
        </p:nvSpPr>
        <p:spPr>
          <a:xfrm>
            <a:off x="777240" y="4617720"/>
            <a:ext cx="228600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Needs</a:t>
            </a:r>
            <a:endParaRPr lang="en-US" sz="1000" dirty="0"/>
          </a:p>
        </p:txBody>
      </p:sp>
      <p:sp>
        <p:nvSpPr>
          <p:cNvPr id="31" name="Text 29"/>
          <p:cNvSpPr txBox="1"/>
          <p:nvPr/>
        </p:nvSpPr>
        <p:spPr>
          <a:xfrm>
            <a:off x="777240" y="4828032"/>
            <a:ext cx="2286000" cy="4114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Where to go, how busy, safe stays</a:t>
            </a:r>
            <a:endParaRPr lang="en-US" sz="1300" dirty="0"/>
          </a:p>
        </p:txBody>
      </p:sp>
      <p:sp>
        <p:nvSpPr>
          <p:cNvPr id="32" name="Text 30"/>
          <p:cNvSpPr txBox="1"/>
          <p:nvPr/>
        </p:nvSpPr>
        <p:spPr>
          <a:xfrm>
            <a:off x="777240" y="5230368"/>
            <a:ext cx="2286000" cy="228600"/>
          </a:xfrm>
          <a:prstGeom prst="rect">
            <a:avLst/>
          </a:prstGeom>
          <a:noFill/>
          <a:ln/>
        </p:spPr>
        <p:txBody>
          <a:bodyPr wrap="square" lIns="0" tIns="0" rIns="0" bIns="0" rtlCol="0" anchor="t"/>
          <a:lstStyle/>
          <a:p>
            <a:pPr indent="0" marL="0">
              <a:buNone/>
            </a:pPr>
            <a:r>
              <a:rPr lang="en-US" sz="1000" b="1" spc="100" kern="0" dirty="0">
                <a:solidFill>
                  <a:schemeClr val="accent1"/>
                </a:solidFill>
                <a:latin typeface="Calibri" pitchFamily="34" charset="0"/>
                <a:ea typeface="Calibri" pitchFamily="34" charset="-122"/>
                <a:cs typeface="Calibri" pitchFamily="34" charset="-120"/>
              </a:rPr>
              <a:t>HOI gives</a:t>
            </a:r>
            <a:endParaRPr lang="en-US" sz="1000" dirty="0"/>
          </a:p>
        </p:txBody>
      </p:sp>
      <p:sp>
        <p:nvSpPr>
          <p:cNvPr id="33" name="Text 31"/>
          <p:cNvSpPr txBox="1"/>
          <p:nvPr/>
        </p:nvSpPr>
        <p:spPr>
          <a:xfrm>
            <a:off x="777240" y="5440680"/>
            <a:ext cx="228600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Travel guide: crowds, roads, verified stays</a:t>
            </a:r>
            <a:endParaRPr lang="en-US" sz="1300" dirty="0"/>
          </a:p>
        </p:txBody>
      </p:sp>
      <p:sp>
        <p:nvSpPr>
          <p:cNvPr id="34" name="Shape 32"/>
          <p:cNvSpPr/>
          <p:nvPr/>
        </p:nvSpPr>
        <p:spPr>
          <a:xfrm>
            <a:off x="3355848" y="3931920"/>
            <a:ext cx="2651760" cy="2057400"/>
          </a:xfrm>
          <a:prstGeom prst="roundRect">
            <a:avLst>
              <a:gd name="adj" fmla="val 5333"/>
            </a:avLst>
          </a:prstGeom>
          <a:solidFill>
            <a:srgbClr val="F4F5FA"/>
          </a:solidFill>
          <a:ln/>
        </p:spPr>
      </p:sp>
      <p:sp>
        <p:nvSpPr>
          <p:cNvPr id="35" name="Text 33"/>
          <p:cNvSpPr txBox="1"/>
          <p:nvPr/>
        </p:nvSpPr>
        <p:spPr>
          <a:xfrm>
            <a:off x="3584448" y="4133088"/>
            <a:ext cx="228600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District officials</a:t>
            </a:r>
            <a:endParaRPr lang="en-US" sz="1800" dirty="0"/>
          </a:p>
        </p:txBody>
      </p:sp>
      <p:sp>
        <p:nvSpPr>
          <p:cNvPr id="36" name="Text 34"/>
          <p:cNvSpPr txBox="1"/>
          <p:nvPr/>
        </p:nvSpPr>
        <p:spPr>
          <a:xfrm>
            <a:off x="3584448" y="4617720"/>
            <a:ext cx="228600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Needs</a:t>
            </a:r>
            <a:endParaRPr lang="en-US" sz="1000" dirty="0"/>
          </a:p>
        </p:txBody>
      </p:sp>
      <p:sp>
        <p:nvSpPr>
          <p:cNvPr id="37" name="Text 35"/>
          <p:cNvSpPr txBox="1"/>
          <p:nvPr/>
        </p:nvSpPr>
        <p:spPr>
          <a:xfrm>
            <a:off x="3584448" y="4828032"/>
            <a:ext cx="2286000" cy="4114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Registrations, complaints, crowds</a:t>
            </a:r>
            <a:endParaRPr lang="en-US" sz="1300" dirty="0"/>
          </a:p>
        </p:txBody>
      </p:sp>
      <p:sp>
        <p:nvSpPr>
          <p:cNvPr id="38" name="Text 36"/>
          <p:cNvSpPr txBox="1"/>
          <p:nvPr/>
        </p:nvSpPr>
        <p:spPr>
          <a:xfrm>
            <a:off x="3584448" y="5230368"/>
            <a:ext cx="2286000" cy="228600"/>
          </a:xfrm>
          <a:prstGeom prst="rect">
            <a:avLst/>
          </a:prstGeom>
          <a:noFill/>
          <a:ln/>
        </p:spPr>
        <p:txBody>
          <a:bodyPr wrap="square" lIns="0" tIns="0" rIns="0" bIns="0" rtlCol="0" anchor="t"/>
          <a:lstStyle/>
          <a:p>
            <a:pPr indent="0" marL="0">
              <a:buNone/>
            </a:pPr>
            <a:r>
              <a:rPr lang="en-US" sz="1000" b="1" spc="100" kern="0" dirty="0">
                <a:solidFill>
                  <a:schemeClr val="accent1"/>
                </a:solidFill>
                <a:latin typeface="Calibri" pitchFamily="34" charset="0"/>
                <a:ea typeface="Calibri" pitchFamily="34" charset="-122"/>
                <a:cs typeface="Calibri" pitchFamily="34" charset="-120"/>
              </a:rPr>
              <a:t>HOI gives</a:t>
            </a:r>
            <a:endParaRPr lang="en-US" sz="1000" dirty="0"/>
          </a:p>
        </p:txBody>
      </p:sp>
      <p:sp>
        <p:nvSpPr>
          <p:cNvPr id="39" name="Text 37"/>
          <p:cNvSpPr txBox="1"/>
          <p:nvPr/>
        </p:nvSpPr>
        <p:spPr>
          <a:xfrm>
            <a:off x="3584448" y="5440680"/>
            <a:ext cx="228600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Approvals, complaint queue, crowd forecast</a:t>
            </a:r>
            <a:endParaRPr lang="en-US" sz="1300" dirty="0"/>
          </a:p>
        </p:txBody>
      </p:sp>
      <p:sp>
        <p:nvSpPr>
          <p:cNvPr id="40" name="Shape 38"/>
          <p:cNvSpPr/>
          <p:nvPr/>
        </p:nvSpPr>
        <p:spPr>
          <a:xfrm>
            <a:off x="6163056" y="3931920"/>
            <a:ext cx="2651760" cy="2057400"/>
          </a:xfrm>
          <a:prstGeom prst="roundRect">
            <a:avLst>
              <a:gd name="adj" fmla="val 5333"/>
            </a:avLst>
          </a:prstGeom>
          <a:solidFill>
            <a:srgbClr val="F4F5FA"/>
          </a:solidFill>
          <a:ln/>
        </p:spPr>
      </p:sp>
      <p:sp>
        <p:nvSpPr>
          <p:cNvPr id="41" name="Text 39"/>
          <p:cNvSpPr txBox="1"/>
          <p:nvPr/>
        </p:nvSpPr>
        <p:spPr>
          <a:xfrm>
            <a:off x="6391656" y="4133088"/>
            <a:ext cx="228600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Job seekers &amp; agencies</a:t>
            </a:r>
            <a:endParaRPr lang="en-US" sz="1800" dirty="0"/>
          </a:p>
        </p:txBody>
      </p:sp>
      <p:sp>
        <p:nvSpPr>
          <p:cNvPr id="42" name="Text 40"/>
          <p:cNvSpPr txBox="1"/>
          <p:nvPr/>
        </p:nvSpPr>
        <p:spPr>
          <a:xfrm>
            <a:off x="6391656" y="4617720"/>
            <a:ext cx="228600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Needs</a:t>
            </a:r>
            <a:endParaRPr lang="en-US" sz="1000" dirty="0"/>
          </a:p>
        </p:txBody>
      </p:sp>
      <p:sp>
        <p:nvSpPr>
          <p:cNvPr id="43" name="Text 41"/>
          <p:cNvSpPr txBox="1"/>
          <p:nvPr/>
        </p:nvSpPr>
        <p:spPr>
          <a:xfrm>
            <a:off x="6391656" y="4828032"/>
            <a:ext cx="2286000" cy="4114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Seasonal work that fits</a:t>
            </a:r>
            <a:endParaRPr lang="en-US" sz="1300" dirty="0"/>
          </a:p>
        </p:txBody>
      </p:sp>
      <p:sp>
        <p:nvSpPr>
          <p:cNvPr id="44" name="Text 42"/>
          <p:cNvSpPr txBox="1"/>
          <p:nvPr/>
        </p:nvSpPr>
        <p:spPr>
          <a:xfrm>
            <a:off x="6391656" y="5230368"/>
            <a:ext cx="2286000" cy="228600"/>
          </a:xfrm>
          <a:prstGeom prst="rect">
            <a:avLst/>
          </a:prstGeom>
          <a:noFill/>
          <a:ln/>
        </p:spPr>
        <p:txBody>
          <a:bodyPr wrap="square" lIns="0" tIns="0" rIns="0" bIns="0" rtlCol="0" anchor="t"/>
          <a:lstStyle/>
          <a:p>
            <a:pPr indent="0" marL="0">
              <a:buNone/>
            </a:pPr>
            <a:r>
              <a:rPr lang="en-US" sz="1000" b="1" spc="100" kern="0" dirty="0">
                <a:solidFill>
                  <a:schemeClr val="accent1"/>
                </a:solidFill>
                <a:latin typeface="Calibri" pitchFamily="34" charset="0"/>
                <a:ea typeface="Calibri" pitchFamily="34" charset="-122"/>
                <a:cs typeface="Calibri" pitchFamily="34" charset="-120"/>
              </a:rPr>
              <a:t>HOI gives</a:t>
            </a:r>
            <a:endParaRPr lang="en-US" sz="1000" dirty="0"/>
          </a:p>
        </p:txBody>
      </p:sp>
      <p:sp>
        <p:nvSpPr>
          <p:cNvPr id="45" name="Text 43"/>
          <p:cNvSpPr txBox="1"/>
          <p:nvPr/>
        </p:nvSpPr>
        <p:spPr>
          <a:xfrm>
            <a:off x="6391656" y="5440680"/>
            <a:ext cx="228600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Hiring board, skill match, urgent requests</a:t>
            </a:r>
            <a:endParaRPr lang="en-US" sz="1300" dirty="0"/>
          </a:p>
        </p:txBody>
      </p:sp>
      <p:sp>
        <p:nvSpPr>
          <p:cNvPr id="46" name="Shape 44"/>
          <p:cNvSpPr/>
          <p:nvPr/>
        </p:nvSpPr>
        <p:spPr>
          <a:xfrm>
            <a:off x="8970264" y="3931920"/>
            <a:ext cx="2651760" cy="2057400"/>
          </a:xfrm>
          <a:prstGeom prst="roundRect">
            <a:avLst>
              <a:gd name="adj" fmla="val 5333"/>
            </a:avLst>
          </a:prstGeom>
          <a:solidFill>
            <a:srgbClr val="F4F5FA"/>
          </a:solidFill>
          <a:ln/>
        </p:spPr>
      </p:sp>
      <p:sp>
        <p:nvSpPr>
          <p:cNvPr id="47" name="Text 45"/>
          <p:cNvSpPr txBox="1"/>
          <p:nvPr/>
        </p:nvSpPr>
        <p:spPr>
          <a:xfrm>
            <a:off x="9198864" y="4133088"/>
            <a:ext cx="228600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HOI team</a:t>
            </a:r>
            <a:endParaRPr lang="en-US" sz="1800" dirty="0"/>
          </a:p>
        </p:txBody>
      </p:sp>
      <p:sp>
        <p:nvSpPr>
          <p:cNvPr id="48" name="Text 46"/>
          <p:cNvSpPr txBox="1"/>
          <p:nvPr/>
        </p:nvSpPr>
        <p:spPr>
          <a:xfrm>
            <a:off x="9198864" y="4617720"/>
            <a:ext cx="2286000" cy="22860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Needs</a:t>
            </a:r>
            <a:endParaRPr lang="en-US" sz="1000" dirty="0"/>
          </a:p>
        </p:txBody>
      </p:sp>
      <p:sp>
        <p:nvSpPr>
          <p:cNvPr id="49" name="Text 47"/>
          <p:cNvSpPr txBox="1"/>
          <p:nvPr/>
        </p:nvSpPr>
        <p:spPr>
          <a:xfrm>
            <a:off x="9198864" y="4828032"/>
            <a:ext cx="2286000" cy="4114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Run many hotels safely</a:t>
            </a:r>
            <a:endParaRPr lang="en-US" sz="1300" dirty="0"/>
          </a:p>
        </p:txBody>
      </p:sp>
      <p:sp>
        <p:nvSpPr>
          <p:cNvPr id="50" name="Text 48"/>
          <p:cNvSpPr txBox="1"/>
          <p:nvPr/>
        </p:nvSpPr>
        <p:spPr>
          <a:xfrm>
            <a:off x="9198864" y="5230368"/>
            <a:ext cx="2286000" cy="228600"/>
          </a:xfrm>
          <a:prstGeom prst="rect">
            <a:avLst/>
          </a:prstGeom>
          <a:noFill/>
          <a:ln/>
        </p:spPr>
        <p:txBody>
          <a:bodyPr wrap="square" lIns="0" tIns="0" rIns="0" bIns="0" rtlCol="0" anchor="t"/>
          <a:lstStyle/>
          <a:p>
            <a:pPr indent="0" marL="0">
              <a:buNone/>
            </a:pPr>
            <a:r>
              <a:rPr lang="en-US" sz="1000" b="1" spc="100" kern="0" dirty="0">
                <a:solidFill>
                  <a:schemeClr val="accent1"/>
                </a:solidFill>
                <a:latin typeface="Calibri" pitchFamily="34" charset="0"/>
                <a:ea typeface="Calibri" pitchFamily="34" charset="-122"/>
                <a:cs typeface="Calibri" pitchFamily="34" charset="-120"/>
              </a:rPr>
              <a:t>HOI gives</a:t>
            </a:r>
            <a:endParaRPr lang="en-US" sz="1000" dirty="0"/>
          </a:p>
        </p:txBody>
      </p:sp>
      <p:sp>
        <p:nvSpPr>
          <p:cNvPr id="51" name="Text 49"/>
          <p:cNvSpPr txBox="1"/>
          <p:nvPr/>
        </p:nvSpPr>
        <p:spPr>
          <a:xfrm>
            <a:off x="9198864" y="5440680"/>
            <a:ext cx="2286000" cy="4572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Console: hotels, plans, insights, audit log</a:t>
            </a:r>
            <a:endParaRPr lang="en-US" sz="13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SOLUTION · KEY FEATURES</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chemeClr val="tx1"/>
                </a:solidFill>
                <a:latin typeface="Calibri" pitchFamily="34" charset="0"/>
                <a:ea typeface="Calibri" pitchFamily="34" charset="-122"/>
                <a:cs typeface="Calibri" pitchFamily="34" charset="-120"/>
              </a:rPr>
              <a:t>One system, five simple apps</a:t>
            </a:r>
            <a:endParaRPr lang="en-US" sz="3200" dirty="0"/>
          </a:p>
        </p:txBody>
      </p:sp>
      <p:pic>
        <p:nvPicPr>
          <p:cNvPr id="4" name="Owner Today page" descr="Owner Today page">    </p:cNvPr>
          <p:cNvPicPr>
            <a:picLocks noChangeAspect="1"/>
          </p:cNvPicPr>
          <p:nvPr/>
        </p:nvPicPr>
        <p:blipFill>
          <a:blip r:embed="rId1"/>
          <a:stretch>
            <a:fillRect/>
          </a:stretch>
        </p:blipFill>
        <p:spPr>
          <a:xfrm>
            <a:off x="598247" y="1463040"/>
            <a:ext cx="4564226" cy="4297680"/>
          </a:xfrm>
          <a:prstGeom prst="rect">
            <a:avLst/>
          </a:prstGeom>
        </p:spPr>
      </p:pic>
      <p:pic>
        <p:nvPicPr>
          <p:cNvPr id="5" name="Staff app" descr="Staff app">    </p:cNvPr>
          <p:cNvPicPr>
            <a:picLocks noChangeAspect="1"/>
          </p:cNvPicPr>
          <p:nvPr/>
        </p:nvPicPr>
        <p:blipFill>
          <a:blip r:embed="rId2"/>
          <a:stretch>
            <a:fillRect/>
          </a:stretch>
        </p:blipFill>
        <p:spPr>
          <a:xfrm>
            <a:off x="5257800" y="1608113"/>
            <a:ext cx="2057400" cy="4053254"/>
          </a:xfrm>
          <a:prstGeom prst="rect">
            <a:avLst/>
          </a:prstGeom>
        </p:spPr>
      </p:pic>
      <p:pic>
        <p:nvPicPr>
          <p:cNvPr id="6" name="Guest page" descr="Guest page">    </p:cNvPr>
          <p:cNvPicPr>
            <a:picLocks noChangeAspect="1"/>
          </p:cNvPicPr>
          <p:nvPr/>
        </p:nvPicPr>
        <p:blipFill>
          <a:blip r:embed="rId3"/>
          <a:stretch>
            <a:fillRect/>
          </a:stretch>
        </p:blipFill>
        <p:spPr>
          <a:xfrm>
            <a:off x="7178040" y="1608113"/>
            <a:ext cx="2057400" cy="4053254"/>
          </a:xfrm>
          <a:prstGeom prst="rect">
            <a:avLst/>
          </a:prstGeom>
        </p:spPr>
      </p:pic>
      <p:pic>
        <p:nvPicPr>
          <p:cNvPr id="7" name="Travel guide" descr="Travel guide">    </p:cNvPr>
          <p:cNvPicPr>
            <a:picLocks noChangeAspect="1"/>
          </p:cNvPicPr>
          <p:nvPr/>
        </p:nvPicPr>
        <p:blipFill>
          <a:blip r:embed="rId4"/>
          <a:stretch>
            <a:fillRect/>
          </a:stretch>
        </p:blipFill>
        <p:spPr>
          <a:xfrm>
            <a:off x="9144000" y="1849380"/>
            <a:ext cx="2834640" cy="2016240"/>
          </a:xfrm>
          <a:prstGeom prst="rect">
            <a:avLst/>
          </a:prstGeom>
        </p:spPr>
      </p:pic>
      <p:pic>
        <p:nvPicPr>
          <p:cNvPr id="8" name="Officials' area" descr="Officials' area">    </p:cNvPr>
          <p:cNvPicPr>
            <a:picLocks noChangeAspect="1"/>
          </p:cNvPicPr>
          <p:nvPr/>
        </p:nvPicPr>
        <p:blipFill>
          <a:blip r:embed="rId5"/>
          <a:stretch>
            <a:fillRect/>
          </a:stretch>
        </p:blipFill>
        <p:spPr>
          <a:xfrm>
            <a:off x="9144000" y="3839760"/>
            <a:ext cx="2834640" cy="1830240"/>
          </a:xfrm>
          <a:prstGeom prst="rect">
            <a:avLst/>
          </a:prstGeom>
        </p:spPr>
      </p:pic>
      <p:sp>
        <p:nvSpPr>
          <p:cNvPr id="9" name="Text 2"/>
          <p:cNvSpPr txBox="1"/>
          <p:nvPr/>
        </p:nvSpPr>
        <p:spPr>
          <a:xfrm>
            <a:off x="548640" y="5852160"/>
            <a:ext cx="4480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Owner · is today OK?</a:t>
            </a:r>
            <a:endParaRPr lang="en-US" sz="1200" dirty="0"/>
          </a:p>
        </p:txBody>
      </p:sp>
      <p:sp>
        <p:nvSpPr>
          <p:cNvPr id="10" name="Text 3"/>
          <p:cNvSpPr txBox="1"/>
          <p:nvPr/>
        </p:nvSpPr>
        <p:spPr>
          <a:xfrm>
            <a:off x="5349240" y="5852160"/>
            <a:ext cx="18745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Staff · voice, one tap</a:t>
            </a:r>
            <a:endParaRPr lang="en-US" sz="1200" dirty="0"/>
          </a:p>
        </p:txBody>
      </p:sp>
      <p:sp>
        <p:nvSpPr>
          <p:cNvPr id="11" name="Text 4"/>
          <p:cNvSpPr txBox="1"/>
          <p:nvPr/>
        </p:nvSpPr>
        <p:spPr>
          <a:xfrm>
            <a:off x="7269480" y="5852160"/>
            <a:ext cx="187452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Guest · scan and ask</a:t>
            </a:r>
            <a:endParaRPr lang="en-US" sz="1200" dirty="0"/>
          </a:p>
        </p:txBody>
      </p:sp>
      <p:sp>
        <p:nvSpPr>
          <p:cNvPr id="12" name="Text 5"/>
          <p:cNvSpPr txBox="1"/>
          <p:nvPr/>
        </p:nvSpPr>
        <p:spPr>
          <a:xfrm>
            <a:off x="9235440" y="5852160"/>
            <a:ext cx="2194560" cy="27432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Tourist &amp; state · travel guide</a:t>
            </a:r>
            <a:endParaRPr lang="en-US" sz="1200" dirty="0"/>
          </a:p>
        </p:txBody>
      </p:sp>
      <p:sp>
        <p:nvSpPr>
          <p:cNvPr id="13" name="Text 6"/>
          <p:cNvSpPr txBox="1"/>
          <p:nvPr/>
        </p:nvSpPr>
        <p:spPr>
          <a:xfrm>
            <a:off x="548640" y="6108192"/>
            <a:ext cx="10789920" cy="27432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Predict the rush → plan fair shifts → send each job to the right phone → prove it with photos and times → learn who needs a talk.</a:t>
            </a:r>
            <a:endParaRPr lang="en-US" sz="12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rgbClr val="A5B4FC"/>
                </a:solidFill>
                <a:latin typeface="Calibri" pitchFamily="34" charset="0"/>
                <a:ea typeface="Calibri" pitchFamily="34" charset="-122"/>
                <a:cs typeface="Calibri" pitchFamily="34" charset="-120"/>
              </a:rPr>
              <a:t>PRODUCT DEMO · 2 MINUTES</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One Saturday at a hotel, run by HOI</a:t>
            </a:r>
            <a:endParaRPr lang="en-US" sz="3200" dirty="0"/>
          </a:p>
        </p:txBody>
      </p:sp>
      <p:pic>
        <p:nvPicPr>
          <p:cNvPr id="4" name="Demo film cover" descr="Demo film cover: One Saturday at a hotel, run by HOI">    </p:cNvPr>
          <p:cNvPicPr>
            <a:picLocks noChangeAspect="1"/>
          </p:cNvPicPr>
          <p:nvPr/>
        </p:nvPicPr>
        <p:blipFill>
          <a:blip r:embed="rId1"/>
          <a:stretch>
            <a:fillRect/>
          </a:stretch>
        </p:blipFill>
        <p:spPr>
          <a:xfrm>
            <a:off x="2026768" y="1481328"/>
            <a:ext cx="8138160" cy="4577715"/>
          </a:xfrm>
          <a:prstGeom prst="rect">
            <a:avLst/>
          </a:prstGeom>
        </p:spPr>
      </p:pic>
      <p:sp>
        <p:nvSpPr>
          <p:cNvPr id="5" name="Text 2"/>
          <p:cNvSpPr txBox="1"/>
          <p:nvPr/>
        </p:nvSpPr>
        <p:spPr>
          <a:xfrm>
            <a:off x="2026768" y="6168771"/>
            <a:ext cx="8138160" cy="274320"/>
          </a:xfrm>
          <a:prstGeom prst="rect">
            <a:avLst/>
          </a:prstGeom>
          <a:noFill/>
          <a:ln/>
        </p:spPr>
        <p:txBody>
          <a:bodyPr wrap="square" lIns="0" tIns="0" rIns="0" bIns="0" rtlCol="0" anchor="t"/>
          <a:lstStyle/>
          <a:p>
            <a:pPr algn="ctr" indent="0" marL="0">
              <a:buNone/>
            </a:pPr>
            <a:r>
              <a:rPr lang="en-US" sz="1200" dirty="0">
                <a:solidFill>
                  <a:srgbClr val="9CA3AF"/>
                </a:solidFill>
                <a:latin typeface="Calibri" pitchFamily="34" charset="0"/>
                <a:ea typeface="Calibri" pitchFamily="34" charset="-122"/>
                <a:cs typeface="Calibri" pitchFamily="34" charset="-120"/>
              </a:rPr>
              <a:t>Recorded on the live apps · 2 minutes · demo data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OUTCOME-DRIVEN: PREDICT → INSIGHT → ACTION → RESULT</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chemeClr val="tx1"/>
                </a:solidFill>
                <a:latin typeface="Calibri" pitchFamily="34" charset="0"/>
                <a:ea typeface="Calibri" pitchFamily="34" charset="-122"/>
                <a:cs typeface="Calibri" pitchFamily="34" charset="-120"/>
              </a:rPr>
              <a:t>Every prediction ends in an action we can measure</a:t>
            </a:r>
            <a:endParaRPr lang="en-US" sz="3200" dirty="0"/>
          </a:p>
        </p:txBody>
      </p:sp>
      <p:graphicFrame>
        <p:nvGraphicFramePr>
          <p:cNvPr id="4" name="Chart 0" descr=""/>
          <p:cNvGraphicFramePr/>
          <p:nvPr/>
        </p:nvGraphicFramePr>
        <p:xfrm>
          <a:off x="457200" y="1554480"/>
          <a:ext cx="51206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5029200" cy="274320"/>
          </a:xfrm>
          <a:prstGeom prst="rect">
            <a:avLst/>
          </a:prstGeom>
          <a:noFill/>
          <a:ln/>
        </p:spPr>
        <p:txBody>
          <a:bodyPr wrap="square" lIns="0" tIns="0" rIns="0" bIns="0" rtlCol="0" anchor="t"/>
          <a:lstStyle/>
          <a:p>
            <a:pPr indent="0" marL="0">
              <a:buNone/>
            </a:pPr>
            <a:r>
              <a:rPr lang="en-US" sz="1000" dirty="0">
                <a:solidFill>
                  <a:schemeClr val="tx2"/>
                </a:solidFill>
                <a:latin typeface="Calibri" pitchFamily="34" charset="0"/>
                <a:ea typeface="Calibri" pitchFamily="34" charset="-122"/>
                <a:cs typeface="Calibri" pitchFamily="34" charset="-120"/>
              </a:rPr>
              <a:t>Real public data: Hotel Booking Demand, two Portuguese hotels, Mar–Aug 2017 test period</a:t>
            </a:r>
            <a:endParaRPr lang="en-US" sz="1000" dirty="0"/>
          </a:p>
        </p:txBody>
      </p:sp>
      <p:sp>
        <p:nvSpPr>
          <p:cNvPr id="6" name="Text 3"/>
          <p:cNvSpPr txBox="1"/>
          <p:nvPr/>
        </p:nvSpPr>
        <p:spPr>
          <a:xfrm>
            <a:off x="5897880" y="1600200"/>
            <a:ext cx="1325880" cy="27432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PREDICTION</a:t>
            </a:r>
            <a:endParaRPr lang="en-US" sz="1000" dirty="0"/>
          </a:p>
        </p:txBody>
      </p:sp>
      <p:sp>
        <p:nvSpPr>
          <p:cNvPr id="7" name="Text 4"/>
          <p:cNvSpPr txBox="1"/>
          <p:nvPr/>
        </p:nvSpPr>
        <p:spPr>
          <a:xfrm>
            <a:off x="7269480" y="1600200"/>
            <a:ext cx="1371600" cy="27432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INSIGHT</a:t>
            </a:r>
            <a:endParaRPr lang="en-US" sz="1000" dirty="0"/>
          </a:p>
        </p:txBody>
      </p:sp>
      <p:sp>
        <p:nvSpPr>
          <p:cNvPr id="8" name="Text 5"/>
          <p:cNvSpPr txBox="1"/>
          <p:nvPr/>
        </p:nvSpPr>
        <p:spPr>
          <a:xfrm>
            <a:off x="8686800" y="1600200"/>
            <a:ext cx="1463040" cy="27432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ACTION</a:t>
            </a:r>
            <a:endParaRPr lang="en-US" sz="1000" dirty="0"/>
          </a:p>
        </p:txBody>
      </p:sp>
      <p:sp>
        <p:nvSpPr>
          <p:cNvPr id="9" name="Text 6"/>
          <p:cNvSpPr txBox="1"/>
          <p:nvPr/>
        </p:nvSpPr>
        <p:spPr>
          <a:xfrm>
            <a:off x="10195560" y="1600200"/>
            <a:ext cx="1463040" cy="274320"/>
          </a:xfrm>
          <a:prstGeom prst="rect">
            <a:avLst/>
          </a:prstGeom>
          <a:noFill/>
          <a:ln/>
        </p:spPr>
        <p:txBody>
          <a:bodyPr wrap="square" lIns="0" tIns="0" rIns="0" bIns="0" rtlCol="0" anchor="t"/>
          <a:lstStyle/>
          <a:p>
            <a:pPr indent="0" marL="0">
              <a:buNone/>
            </a:pPr>
            <a:r>
              <a:rPr lang="en-US" sz="1000" b="1" spc="100" kern="0" dirty="0">
                <a:solidFill>
                  <a:schemeClr val="accent6"/>
                </a:solidFill>
                <a:latin typeface="Calibri" pitchFamily="34" charset="0"/>
                <a:ea typeface="Calibri" pitchFamily="34" charset="-122"/>
                <a:cs typeface="Calibri" pitchFamily="34" charset="-120"/>
              </a:rPr>
              <a:t>MEASURED BY</a:t>
            </a:r>
            <a:endParaRPr lang="en-US" sz="1000" dirty="0"/>
          </a:p>
        </p:txBody>
      </p:sp>
      <p:sp>
        <p:nvSpPr>
          <p:cNvPr id="10" name="Shape 7"/>
          <p:cNvSpPr/>
          <p:nvPr/>
        </p:nvSpPr>
        <p:spPr>
          <a:xfrm>
            <a:off x="5806440" y="1920240"/>
            <a:ext cx="5852160" cy="1152144"/>
          </a:xfrm>
          <a:prstGeom prst="roundRect">
            <a:avLst>
              <a:gd name="adj" fmla="val 9524"/>
            </a:avLst>
          </a:prstGeom>
          <a:solidFill>
            <a:srgbClr val="EEF0FF"/>
          </a:solidFill>
          <a:ln/>
        </p:spPr>
      </p:sp>
      <p:sp>
        <p:nvSpPr>
          <p:cNvPr id="11" name="Text 8"/>
          <p:cNvSpPr txBox="1"/>
          <p:nvPr/>
        </p:nvSpPr>
        <p:spPr>
          <a:xfrm>
            <a:off x="5897880" y="2029968"/>
            <a:ext cx="1325880" cy="411480"/>
          </a:xfrm>
          <a:prstGeom prst="rect">
            <a:avLst/>
          </a:prstGeom>
          <a:noFill/>
          <a:ln/>
        </p:spPr>
        <p:txBody>
          <a:bodyPr wrap="square" lIns="0" tIns="0" rIns="0" bIns="0" rtlCol="0" anchor="t"/>
          <a:lstStyle/>
          <a:p>
            <a:pPr indent="0" marL="0">
              <a:buNone/>
            </a:pPr>
            <a:r>
              <a:rPr lang="en-US" sz="2000" b="1" dirty="0">
                <a:solidFill>
                  <a:schemeClr val="accent1"/>
                </a:solidFill>
                <a:latin typeface="Calibri" pitchFamily="34" charset="0"/>
                <a:ea typeface="Calibri" pitchFamily="34" charset="-122"/>
                <a:cs typeface="Calibri" pitchFamily="34" charset="-120"/>
              </a:rPr>
              <a:t>−83%</a:t>
            </a:r>
            <a:endParaRPr lang="en-US" sz="2000" dirty="0"/>
          </a:p>
        </p:txBody>
      </p:sp>
      <p:sp>
        <p:nvSpPr>
          <p:cNvPr id="12" name="Text 9"/>
          <p:cNvSpPr txBox="1"/>
          <p:nvPr/>
        </p:nvSpPr>
        <p:spPr>
          <a:xfrm>
            <a:off x="5897880" y="2450592"/>
            <a:ext cx="1325880" cy="594360"/>
          </a:xfrm>
          <a:prstGeom prst="rect">
            <a:avLst/>
          </a:prstGeom>
          <a:noFill/>
          <a:ln/>
        </p:spPr>
        <p:txBody>
          <a:bodyPr wrap="square" lIns="0" tIns="0" rIns="0" bIns="0" rtlCol="0" anchor="t"/>
          <a:lstStyle/>
          <a:p>
            <a:pPr indent="0" marL="0">
              <a:buNone/>
            </a:pPr>
            <a:r>
              <a:rPr lang="en-US" sz="950" dirty="0">
                <a:solidFill>
                  <a:schemeClr val="tx2"/>
                </a:solidFill>
                <a:latin typeface="Calibri" pitchFamily="34" charset="0"/>
                <a:ea typeface="Calibri" pitchFamily="34" charset="-122"/>
                <a:cs typeface="Calibri" pitchFamily="34" charset="-120"/>
              </a:rPr>
              <a:t>Forecast error, 1 day ahead</a:t>
            </a:r>
            <a:endParaRPr lang="en-US" sz="950" dirty="0"/>
          </a:p>
        </p:txBody>
      </p:sp>
      <p:sp>
        <p:nvSpPr>
          <p:cNvPr id="13" name="Text 10"/>
          <p:cNvSpPr txBox="1"/>
          <p:nvPr/>
        </p:nvSpPr>
        <p:spPr>
          <a:xfrm>
            <a:off x="7269480" y="2048256"/>
            <a:ext cx="1371600" cy="914400"/>
          </a:xfrm>
          <a:prstGeom prst="rect">
            <a:avLst/>
          </a:prstGeom>
          <a:noFill/>
          <a:ln/>
        </p:spPr>
        <p:txBody>
          <a:bodyPr wrap="square" lIns="0" tIns="0" rIns="0" bIns="0" rtlCol="0" anchor="t"/>
          <a:lstStyle/>
          <a:p>
            <a:pPr indent="0" marL="0">
              <a:buNone/>
            </a:pPr>
            <a:r>
              <a:rPr lang="en-US" sz="1150" i="1" dirty="0">
                <a:solidFill>
                  <a:schemeClr val="tx1"/>
                </a:solidFill>
                <a:latin typeface="Calibri" pitchFamily="34" charset="0"/>
                <a:ea typeface="Calibri" pitchFamily="34" charset="-122"/>
                <a:cs typeface="Calibri" pitchFamily="34" charset="-120"/>
              </a:rPr>
              <a:t>"Next Saturday is the peak; housekeeping is one short"</a:t>
            </a:r>
            <a:endParaRPr lang="en-US" sz="1150" dirty="0"/>
          </a:p>
        </p:txBody>
      </p:sp>
      <p:sp>
        <p:nvSpPr>
          <p:cNvPr id="14" name="Text 11"/>
          <p:cNvSpPr txBox="1"/>
          <p:nvPr/>
        </p:nvSpPr>
        <p:spPr>
          <a:xfrm>
            <a:off x="8686800" y="2048256"/>
            <a:ext cx="1463040" cy="91440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Shift plan from the forecast, rest rules kept; one tap asks agencies</a:t>
            </a:r>
            <a:endParaRPr lang="en-US" sz="1150" dirty="0"/>
          </a:p>
        </p:txBody>
      </p:sp>
      <p:sp>
        <p:nvSpPr>
          <p:cNvPr id="15" name="Text 12"/>
          <p:cNvSpPr txBox="1"/>
          <p:nvPr/>
        </p:nvSpPr>
        <p:spPr>
          <a:xfrm>
            <a:off x="10195560" y="2048256"/>
            <a:ext cx="1371600" cy="914400"/>
          </a:xfrm>
          <a:prstGeom prst="rect">
            <a:avLst/>
          </a:prstGeom>
          <a:noFill/>
          <a:ln/>
        </p:spPr>
        <p:txBody>
          <a:bodyPr wrap="square" lIns="0" tIns="0" rIns="0" bIns="0" rtlCol="0" anchor="t"/>
          <a:lstStyle/>
          <a:p>
            <a:pPr indent="0" marL="0">
              <a:buNone/>
            </a:pPr>
            <a:r>
              <a:rPr lang="en-US" sz="1150" dirty="0">
                <a:solidFill>
                  <a:schemeClr val="tx2"/>
                </a:solidFill>
                <a:latin typeface="Calibri" pitchFamily="34" charset="0"/>
                <a:ea typeface="Calibri" pitchFamily="34" charset="-122"/>
                <a:cs typeface="Calibri" pitchFamily="34" charset="-120"/>
              </a:rPr>
              <a:t>Hours short per week, overtime</a:t>
            </a:r>
            <a:endParaRPr lang="en-US" sz="1150" dirty="0"/>
          </a:p>
        </p:txBody>
      </p:sp>
      <p:sp>
        <p:nvSpPr>
          <p:cNvPr id="16" name="Shape 13"/>
          <p:cNvSpPr/>
          <p:nvPr/>
        </p:nvSpPr>
        <p:spPr>
          <a:xfrm>
            <a:off x="5806440" y="3182112"/>
            <a:ext cx="5852160" cy="1152144"/>
          </a:xfrm>
          <a:prstGeom prst="roundRect">
            <a:avLst>
              <a:gd name="adj" fmla="val 9524"/>
            </a:avLst>
          </a:prstGeom>
          <a:solidFill>
            <a:srgbClr val="F4F5FA"/>
          </a:solidFill>
          <a:ln/>
        </p:spPr>
      </p:sp>
      <p:sp>
        <p:nvSpPr>
          <p:cNvPr id="17" name="Text 14"/>
          <p:cNvSpPr txBox="1"/>
          <p:nvPr/>
        </p:nvSpPr>
        <p:spPr>
          <a:xfrm>
            <a:off x="5897880" y="3291840"/>
            <a:ext cx="1325880" cy="411480"/>
          </a:xfrm>
          <a:prstGeom prst="rect">
            <a:avLst/>
          </a:prstGeom>
          <a:noFill/>
          <a:ln/>
        </p:spPr>
        <p:txBody>
          <a:bodyPr wrap="square" lIns="0" tIns="0" rIns="0" bIns="0" rtlCol="0" anchor="t"/>
          <a:lstStyle/>
          <a:p>
            <a:pPr indent="0" marL="0">
              <a:buNone/>
            </a:pPr>
            <a:r>
              <a:rPr lang="en-US" sz="2000" b="1" dirty="0">
                <a:solidFill>
                  <a:schemeClr val="accent1"/>
                </a:solidFill>
                <a:latin typeface="Calibri" pitchFamily="34" charset="0"/>
                <a:ea typeface="Calibri" pitchFamily="34" charset="-122"/>
                <a:cs typeface="Calibri" pitchFamily="34" charset="-120"/>
              </a:rPr>
              <a:t>66% vs 55%</a:t>
            </a:r>
            <a:endParaRPr lang="en-US" sz="2000" dirty="0"/>
          </a:p>
        </p:txBody>
      </p:sp>
      <p:sp>
        <p:nvSpPr>
          <p:cNvPr id="18" name="Text 15"/>
          <p:cNvSpPr txBox="1"/>
          <p:nvPr/>
        </p:nvSpPr>
        <p:spPr>
          <a:xfrm>
            <a:off x="5897880" y="3712464"/>
            <a:ext cx="1325880" cy="594360"/>
          </a:xfrm>
          <a:prstGeom prst="rect">
            <a:avLst/>
          </a:prstGeom>
          <a:noFill/>
          <a:ln/>
        </p:spPr>
        <p:txBody>
          <a:bodyPr wrap="square" lIns="0" tIns="0" rIns="0" bIns="0" rtlCol="0" anchor="t"/>
          <a:lstStyle/>
          <a:p>
            <a:pPr indent="0" marL="0">
              <a:buNone/>
            </a:pPr>
            <a:r>
              <a:rPr lang="en-US" sz="950" dirty="0">
                <a:solidFill>
                  <a:schemeClr val="tx2"/>
                </a:solidFill>
                <a:latin typeface="Calibri" pitchFamily="34" charset="0"/>
                <a:ea typeface="Calibri" pitchFamily="34" charset="-122"/>
                <a:cs typeface="Calibri" pitchFamily="34" charset="-120"/>
              </a:rPr>
              <a:t>Ranks a leaver above a stayer (model vs checklist, 1,129 real records)</a:t>
            </a:r>
            <a:endParaRPr lang="en-US" sz="950" dirty="0"/>
          </a:p>
        </p:txBody>
      </p:sp>
      <p:sp>
        <p:nvSpPr>
          <p:cNvPr id="19" name="Text 16"/>
          <p:cNvSpPr txBox="1"/>
          <p:nvPr/>
        </p:nvSpPr>
        <p:spPr>
          <a:xfrm>
            <a:off x="7269480" y="3310128"/>
            <a:ext cx="1371600" cy="914400"/>
          </a:xfrm>
          <a:prstGeom prst="rect">
            <a:avLst/>
          </a:prstGeom>
          <a:noFill/>
          <a:ln/>
        </p:spPr>
        <p:txBody>
          <a:bodyPr wrap="square" lIns="0" tIns="0" rIns="0" bIns="0" rtlCol="0" anchor="t"/>
          <a:lstStyle/>
          <a:p>
            <a:pPr indent="0" marL="0">
              <a:buNone/>
            </a:pPr>
            <a:r>
              <a:rPr lang="en-US" sz="1150" i="1" dirty="0">
                <a:solidFill>
                  <a:schemeClr val="tx1"/>
                </a:solidFill>
                <a:latin typeface="Calibri" pitchFamily="34" charset="0"/>
                <a:ea typeface="Calibri" pitchFamily="34" charset="-122"/>
                <a:cs typeface="Calibri" pitchFamily="34" charset="-120"/>
              </a:rPr>
              <a:t>"HS05 has worked many late shifts"</a:t>
            </a:r>
            <a:endParaRPr lang="en-US" sz="1150" dirty="0"/>
          </a:p>
        </p:txBody>
      </p:sp>
      <p:sp>
        <p:nvSpPr>
          <p:cNvPr id="20" name="Text 17"/>
          <p:cNvSpPr txBox="1"/>
          <p:nvPr/>
        </p:nvSpPr>
        <p:spPr>
          <a:xfrm>
            <a:off x="8686800" y="3310128"/>
            <a:ext cx="1463040" cy="91440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Talking points; if high risk, matching people from the state jobs board</a:t>
            </a:r>
            <a:endParaRPr lang="en-US" sz="1150" dirty="0"/>
          </a:p>
        </p:txBody>
      </p:sp>
      <p:sp>
        <p:nvSpPr>
          <p:cNvPr id="21" name="Text 18"/>
          <p:cNvSpPr txBox="1"/>
          <p:nvPr/>
        </p:nvSpPr>
        <p:spPr>
          <a:xfrm>
            <a:off x="10195560" y="3310128"/>
            <a:ext cx="1371600" cy="914400"/>
          </a:xfrm>
          <a:prstGeom prst="rect">
            <a:avLst/>
          </a:prstGeom>
          <a:noFill/>
          <a:ln/>
        </p:spPr>
        <p:txBody>
          <a:bodyPr wrap="square" lIns="0" tIns="0" rIns="0" bIns="0" rtlCol="0" anchor="t"/>
          <a:lstStyle/>
          <a:p>
            <a:pPr indent="0" marL="0">
              <a:buNone/>
            </a:pPr>
            <a:r>
              <a:rPr lang="en-US" sz="1150" dirty="0">
                <a:solidFill>
                  <a:schemeClr val="tx2"/>
                </a:solidFill>
                <a:latin typeface="Calibri" pitchFamily="34" charset="0"/>
                <a:ea typeface="Calibri" pitchFamily="34" charset="-122"/>
                <a:cs typeface="Calibri" pitchFamily="34" charset="-120"/>
              </a:rPr>
              <a:t>Check-ins done; leavers in peak</a:t>
            </a:r>
            <a:endParaRPr lang="en-US" sz="1150" dirty="0"/>
          </a:p>
        </p:txBody>
      </p:sp>
      <p:sp>
        <p:nvSpPr>
          <p:cNvPr id="22" name="Shape 19"/>
          <p:cNvSpPr/>
          <p:nvPr/>
        </p:nvSpPr>
        <p:spPr>
          <a:xfrm>
            <a:off x="5806440" y="4443984"/>
            <a:ext cx="5852160" cy="1152144"/>
          </a:xfrm>
          <a:prstGeom prst="roundRect">
            <a:avLst>
              <a:gd name="adj" fmla="val 9524"/>
            </a:avLst>
          </a:prstGeom>
          <a:solidFill>
            <a:srgbClr val="F4F5FA"/>
          </a:solidFill>
          <a:ln/>
        </p:spPr>
      </p:sp>
      <p:sp>
        <p:nvSpPr>
          <p:cNvPr id="23" name="Text 20"/>
          <p:cNvSpPr txBox="1"/>
          <p:nvPr/>
        </p:nvSpPr>
        <p:spPr>
          <a:xfrm>
            <a:off x="5897880" y="4553712"/>
            <a:ext cx="1325880" cy="411480"/>
          </a:xfrm>
          <a:prstGeom prst="rect">
            <a:avLst/>
          </a:prstGeom>
          <a:noFill/>
          <a:ln/>
        </p:spPr>
        <p:txBody>
          <a:bodyPr wrap="square" lIns="0" tIns="0" rIns="0" bIns="0" rtlCol="0" anchor="t"/>
          <a:lstStyle/>
          <a:p>
            <a:pPr indent="0" marL="0">
              <a:buNone/>
            </a:pPr>
            <a:r>
              <a:rPr lang="en-US" sz="2000" b="1" dirty="0">
                <a:solidFill>
                  <a:schemeClr val="accent1"/>
                </a:solidFill>
                <a:latin typeface="Calibri" pitchFamily="34" charset="0"/>
                <a:ea typeface="Calibri" pitchFamily="34" charset="-122"/>
                <a:cs typeface="Calibri" pitchFamily="34" charset="-120"/>
              </a:rPr>
              <a:t>3 matches</a:t>
            </a:r>
            <a:endParaRPr lang="en-US" sz="2000" dirty="0"/>
          </a:p>
        </p:txBody>
      </p:sp>
      <p:sp>
        <p:nvSpPr>
          <p:cNvPr id="24" name="Text 21"/>
          <p:cNvSpPr txBox="1"/>
          <p:nvPr/>
        </p:nvSpPr>
        <p:spPr>
          <a:xfrm>
            <a:off x="5897880" y="4974336"/>
            <a:ext cx="1325880" cy="594360"/>
          </a:xfrm>
          <a:prstGeom prst="rect">
            <a:avLst/>
          </a:prstGeom>
          <a:noFill/>
          <a:ln/>
        </p:spPr>
        <p:txBody>
          <a:bodyPr wrap="square" lIns="0" tIns="0" rIns="0" bIns="0" rtlCol="0" anchor="t"/>
          <a:lstStyle/>
          <a:p>
            <a:pPr indent="0" marL="0">
              <a:buNone/>
            </a:pPr>
            <a:r>
              <a:rPr lang="en-US" sz="950" dirty="0">
                <a:solidFill>
                  <a:schemeClr val="tx2"/>
                </a:solidFill>
                <a:latin typeface="Calibri" pitchFamily="34" charset="0"/>
                <a:ea typeface="Calibri" pitchFamily="34" charset="-122"/>
                <a:cs typeface="Calibri" pitchFamily="34" charset="-120"/>
              </a:rPr>
              <a:t>Found live on the jobs board for the demo hotel's housekeeper</a:t>
            </a:r>
            <a:endParaRPr lang="en-US" sz="950" dirty="0"/>
          </a:p>
        </p:txBody>
      </p:sp>
      <p:sp>
        <p:nvSpPr>
          <p:cNvPr id="25" name="Text 22"/>
          <p:cNvSpPr txBox="1"/>
          <p:nvPr/>
        </p:nvSpPr>
        <p:spPr>
          <a:xfrm>
            <a:off x="7269480" y="4572000"/>
            <a:ext cx="1371600" cy="914400"/>
          </a:xfrm>
          <a:prstGeom prst="rect">
            <a:avLst/>
          </a:prstGeom>
          <a:noFill/>
          <a:ln/>
        </p:spPr>
        <p:txBody>
          <a:bodyPr wrap="square" lIns="0" tIns="0" rIns="0" bIns="0" rtlCol="0" anchor="t"/>
          <a:lstStyle/>
          <a:p>
            <a:pPr indent="0" marL="0">
              <a:buNone/>
            </a:pPr>
            <a:r>
              <a:rPr lang="en-US" sz="1150" i="1" dirty="0">
                <a:solidFill>
                  <a:schemeClr val="tx1"/>
                </a:solidFill>
                <a:latin typeface="Calibri" pitchFamily="34" charset="0"/>
                <a:ea typeface="Calibri" pitchFamily="34" charset="-122"/>
                <a:cs typeface="Calibri" pitchFamily="34" charset="-120"/>
              </a:rPr>
              <a:t>"Room 101 has waited 40 min"</a:t>
            </a:r>
            <a:endParaRPr lang="en-US" sz="1150" dirty="0"/>
          </a:p>
        </p:txBody>
      </p:sp>
      <p:sp>
        <p:nvSpPr>
          <p:cNvPr id="26" name="Text 23"/>
          <p:cNvSpPr txBox="1"/>
          <p:nvPr/>
        </p:nvSpPr>
        <p:spPr>
          <a:xfrm>
            <a:off x="8686800" y="4572000"/>
            <a:ext cx="1463040" cy="914400"/>
          </a:xfrm>
          <a:prstGeom prst="rect">
            <a:avLst/>
          </a:prstGeom>
          <a:noFill/>
          <a:ln/>
        </p:spPr>
        <p:txBody>
          <a:bodyPr wrap="square" lIns="0" tIns="0" rIns="0" bIns="0" rtlCol="0" anchor="t"/>
          <a:lstStyle/>
          <a:p>
            <a:pPr indent="0" marL="0">
              <a:buNone/>
            </a:pPr>
            <a:r>
              <a:rPr lang="en-US" sz="1150" dirty="0">
                <a:solidFill>
                  <a:schemeClr val="tx1"/>
                </a:solidFill>
                <a:latin typeface="Calibri" pitchFamily="34" charset="0"/>
                <a:ea typeface="Calibri" pitchFamily="34" charset="-122"/>
                <a:cs typeface="Calibri" pitchFamily="34" charset="-120"/>
              </a:rPr>
              <a:t>Jobs to on-shift staff, re-offered; checkout creates cleaning; photo proof</a:t>
            </a:r>
            <a:endParaRPr lang="en-US" sz="1150" dirty="0"/>
          </a:p>
        </p:txBody>
      </p:sp>
      <p:sp>
        <p:nvSpPr>
          <p:cNvPr id="27" name="Text 24"/>
          <p:cNvSpPr txBox="1"/>
          <p:nvPr/>
        </p:nvSpPr>
        <p:spPr>
          <a:xfrm>
            <a:off x="10195560" y="4572000"/>
            <a:ext cx="1371600" cy="914400"/>
          </a:xfrm>
          <a:prstGeom prst="rect">
            <a:avLst/>
          </a:prstGeom>
          <a:noFill/>
          <a:ln/>
        </p:spPr>
        <p:txBody>
          <a:bodyPr wrap="square" lIns="0" tIns="0" rIns="0" bIns="0" rtlCol="0" anchor="t"/>
          <a:lstStyle/>
          <a:p>
            <a:pPr indent="0" marL="0">
              <a:buNone/>
            </a:pPr>
            <a:r>
              <a:rPr lang="en-US" sz="1150" dirty="0">
                <a:solidFill>
                  <a:schemeClr val="tx2"/>
                </a:solidFill>
                <a:latin typeface="Calibri" pitchFamily="34" charset="0"/>
                <a:ea typeface="Calibri" pitchFamily="34" charset="-122"/>
                <a:cs typeface="Calibri" pitchFamily="34" charset="-120"/>
              </a:rPr>
              <a:t>Minutes to done; jobs with proof</a:t>
            </a:r>
            <a:endParaRPr lang="en-US" sz="1150" dirty="0"/>
          </a:p>
        </p:txBody>
      </p:sp>
      <p:sp>
        <p:nvSpPr>
          <p:cNvPr id="28" name="Text 25"/>
          <p:cNvSpPr txBox="1"/>
          <p:nvPr/>
        </p:nvSpPr>
        <p:spPr>
          <a:xfrm>
            <a:off x="5806440" y="5760720"/>
            <a:ext cx="5852160" cy="274320"/>
          </a:xfrm>
          <a:prstGeom prst="rect">
            <a:avLst/>
          </a:prstGeom>
          <a:noFill/>
          <a:ln/>
        </p:spPr>
        <p:txBody>
          <a:bodyPr wrap="square" lIns="0" tIns="0" rIns="0" bIns="0" rtlCol="0" anchor="t"/>
          <a:lstStyle/>
          <a:p>
            <a:pPr indent="0" marL="0">
              <a:buNone/>
            </a:pPr>
            <a:r>
              <a:rPr lang="en-US" sz="1000" dirty="0">
                <a:solidFill>
                  <a:schemeClr val="tx2"/>
                </a:solidFill>
                <a:latin typeface="Calibri" pitchFamily="34" charset="0"/>
                <a:ea typeface="Calibri" pitchFamily="34" charset="-122"/>
                <a:cs typeface="Calibri" pitchFamily="34" charset="-120"/>
              </a:rPr>
              <a:t>Turnover ranking is a prompt to talk, never a verdict. Staff are IDs only: no age, gender, religion or health.</a:t>
            </a:r>
            <a:endParaRPr lang="en-US" sz="10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MOAT</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chemeClr val="tx1"/>
                </a:solidFill>
                <a:latin typeface="Calibri" pitchFamily="34" charset="0"/>
                <a:ea typeface="Calibri" pitchFamily="34" charset="-122"/>
                <a:cs typeface="Calibri" pitchFamily="34" charset="-120"/>
              </a:rPr>
              <a:t>Booking tools sell the room. HOI runs the stay.</a:t>
            </a:r>
            <a:endParaRPr lang="en-US" sz="3200" dirty="0"/>
          </a:p>
        </p:txBody>
      </p:sp>
      <p:sp>
        <p:nvSpPr>
          <p:cNvPr id="4" name="Shape 2"/>
          <p:cNvSpPr/>
          <p:nvPr/>
        </p:nvSpPr>
        <p:spPr>
          <a:xfrm>
            <a:off x="548640" y="1645920"/>
            <a:ext cx="3749040" cy="4343400"/>
          </a:xfrm>
          <a:prstGeom prst="roundRect">
            <a:avLst>
              <a:gd name="adj" fmla="val 2927"/>
            </a:avLst>
          </a:prstGeom>
          <a:solidFill>
            <a:srgbClr val="F4F5FA"/>
          </a:solidFill>
          <a:ln/>
        </p:spPr>
      </p:sp>
      <p:sp>
        <p:nvSpPr>
          <p:cNvPr id="5" name="Text 3"/>
          <p:cNvSpPr txBox="1"/>
          <p:nvPr/>
        </p:nvSpPr>
        <p:spPr>
          <a:xfrm>
            <a:off x="822960" y="1874520"/>
            <a:ext cx="3200400" cy="365760"/>
          </a:xfrm>
          <a:prstGeom prst="rect">
            <a:avLst/>
          </a:prstGeom>
          <a:noFill/>
          <a:ln/>
        </p:spPr>
        <p:txBody>
          <a:bodyPr wrap="square" lIns="0" tIns="0" rIns="0" bIns="0" rtlCol="0" anchor="t"/>
          <a:lstStyle/>
          <a:p>
            <a:pPr indent="0" marL="0">
              <a:buNone/>
            </a:pPr>
            <a:r>
              <a:rPr lang="en-US" sz="1300" b="1" spc="100" kern="0" dirty="0">
                <a:solidFill>
                  <a:schemeClr val="accent6"/>
                </a:solidFill>
                <a:latin typeface="Calibri" pitchFamily="34" charset="0"/>
                <a:ea typeface="Calibri" pitchFamily="34" charset="-122"/>
                <a:cs typeface="Calibri" pitchFamily="34" charset="-120"/>
              </a:rPr>
              <a:t>They focus on</a:t>
            </a:r>
            <a:endParaRPr lang="en-US" sz="1300" dirty="0"/>
          </a:p>
        </p:txBody>
      </p:sp>
      <p:sp>
        <p:nvSpPr>
          <p:cNvPr id="6" name="Text 4"/>
          <p:cNvSpPr txBox="1"/>
          <p:nvPr/>
        </p:nvSpPr>
        <p:spPr>
          <a:xfrm>
            <a:off x="822960" y="2240280"/>
            <a:ext cx="3200400" cy="45720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eZee, STAAH, Hotelogix, OYO</a:t>
            </a:r>
            <a:endParaRPr lang="en-US" sz="2000" dirty="0"/>
          </a:p>
        </p:txBody>
      </p:sp>
      <p:sp>
        <p:nvSpPr>
          <p:cNvPr id="7" name="Text 5"/>
          <p:cNvSpPr txBox="1"/>
          <p:nvPr/>
        </p:nvSpPr>
        <p:spPr>
          <a:xfrm>
            <a:off x="822960" y="2880360"/>
            <a:ext cx="324612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2"/>
                </a:solidFill>
                <a:latin typeface="Calibri" pitchFamily="34" charset="0"/>
                <a:ea typeface="Calibri" pitchFamily="34" charset="-122"/>
                <a:cs typeface="Calibri" pitchFamily="34" charset="-120"/>
              </a:rPr>
              <a:t>Reservations, rates and billing</a:t>
            </a:r>
            <a:endParaRPr lang="en-US" sz="1400" dirty="0"/>
          </a:p>
          <a:p>
            <a:pPr marL="342900" indent="-342900">
              <a:spcAft>
                <a:spcPts val="800"/>
              </a:spcAft>
              <a:buSzPct val="100000"/>
              <a:buChar char="•"/>
            </a:pPr>
            <a:r>
              <a:rPr lang="en-US" sz="1400" dirty="0">
                <a:solidFill>
                  <a:schemeClr val="tx2"/>
                </a:solidFill>
                <a:latin typeface="Calibri" pitchFamily="34" charset="0"/>
                <a:ea typeface="Calibri" pitchFamily="34" charset="-122"/>
                <a:cs typeface="Calibri" pitchFamily="34" charset="-120"/>
              </a:rPr>
              <a:t>Selling through OTAs</a:t>
            </a:r>
            <a:endParaRPr lang="en-US" sz="1400" dirty="0"/>
          </a:p>
          <a:p>
            <a:pPr marL="342900" indent="-342900">
              <a:spcAft>
                <a:spcPts val="800"/>
              </a:spcAft>
              <a:buSzPct val="100000"/>
              <a:buChar char="•"/>
            </a:pPr>
            <a:r>
              <a:rPr lang="en-US" sz="1400" dirty="0">
                <a:solidFill>
                  <a:schemeClr val="tx2"/>
                </a:solidFill>
                <a:latin typeface="Calibri" pitchFamily="34" charset="0"/>
                <a:ea typeface="Calibri" pitchFamily="34" charset="-122"/>
                <a:cs typeface="Calibri" pitchFamily="34" charset="-120"/>
              </a:rPr>
              <a:t>Owner revenue and payouts</a:t>
            </a:r>
            <a:endParaRPr lang="en-US" sz="1400" dirty="0"/>
          </a:p>
          <a:p>
            <a:pPr marL="342900" indent="-342900">
              <a:buSzPct val="100000"/>
              <a:buChar char="•"/>
            </a:pPr>
            <a:r>
              <a:rPr lang="en-US" sz="1400" dirty="0">
                <a:solidFill>
                  <a:schemeClr val="tx2"/>
                </a:solidFill>
                <a:latin typeface="Calibri" pitchFamily="34" charset="0"/>
                <a:ea typeface="Calibri" pitchFamily="34" charset="-122"/>
                <a:cs typeface="Calibri" pitchFamily="34" charset="-120"/>
              </a:rPr>
              <a:t>We found no public sign of forecast-based shifts, photo-checked housekeeping or turnover support</a:t>
            </a:r>
            <a:endParaRPr lang="en-US" sz="1400" dirty="0"/>
          </a:p>
        </p:txBody>
      </p:sp>
      <p:sp>
        <p:nvSpPr>
          <p:cNvPr id="8" name="Shape 6"/>
          <p:cNvSpPr/>
          <p:nvPr/>
        </p:nvSpPr>
        <p:spPr>
          <a:xfrm>
            <a:off x="4617720" y="1755648"/>
            <a:ext cx="457200" cy="457200"/>
          </a:xfrm>
          <a:prstGeom prst="ellipse">
            <a:avLst/>
          </a:prstGeom>
          <a:solidFill>
            <a:schemeClr val="accent1"/>
          </a:solidFill>
          <a:ln/>
        </p:spPr>
      </p:sp>
      <p:sp>
        <p:nvSpPr>
          <p:cNvPr id="9" name="Text 7"/>
          <p:cNvSpPr txBox="1"/>
          <p:nvPr/>
        </p:nvSpPr>
        <p:spPr>
          <a:xfrm>
            <a:off x="4617720" y="17556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8"/>
          <p:cNvSpPr txBox="1"/>
          <p:nvPr/>
        </p:nvSpPr>
        <p:spPr>
          <a:xfrm>
            <a:off x="5303520" y="1691640"/>
            <a:ext cx="6309360" cy="36576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Closed loop on each hotel's own data</a:t>
            </a:r>
            <a:endParaRPr lang="en-US" sz="1800" dirty="0"/>
          </a:p>
        </p:txBody>
      </p:sp>
      <p:sp>
        <p:nvSpPr>
          <p:cNvPr id="11" name="Text 9"/>
          <p:cNvSpPr txBox="1"/>
          <p:nvPr/>
        </p:nvSpPr>
        <p:spPr>
          <a:xfrm>
            <a:off x="5303520" y="2075688"/>
            <a:ext cx="6309360" cy="5486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Forecast → shifts → jobs → results flow back; every week makes that hotel's forecast better.</a:t>
            </a:r>
            <a:endParaRPr lang="en-US" sz="1400" dirty="0"/>
          </a:p>
        </p:txBody>
      </p:sp>
      <p:sp>
        <p:nvSpPr>
          <p:cNvPr id="12" name="Shape 10"/>
          <p:cNvSpPr/>
          <p:nvPr/>
        </p:nvSpPr>
        <p:spPr>
          <a:xfrm>
            <a:off x="4617720" y="2852928"/>
            <a:ext cx="457200" cy="457200"/>
          </a:xfrm>
          <a:prstGeom prst="ellipse">
            <a:avLst/>
          </a:prstGeom>
          <a:solidFill>
            <a:schemeClr val="accent1"/>
          </a:solidFill>
          <a:ln/>
        </p:spPr>
      </p:sp>
      <p:sp>
        <p:nvSpPr>
          <p:cNvPr id="13" name="Text 11"/>
          <p:cNvSpPr txBox="1"/>
          <p:nvPr/>
        </p:nvSpPr>
        <p:spPr>
          <a:xfrm>
            <a:off x="4617720" y="28529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5303520" y="2788920"/>
            <a:ext cx="6309360" cy="36576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Built for the frontline</a:t>
            </a:r>
            <a:endParaRPr lang="en-US" sz="1800" dirty="0"/>
          </a:p>
        </p:txBody>
      </p:sp>
      <p:sp>
        <p:nvSpPr>
          <p:cNvPr id="15" name="Text 13"/>
          <p:cNvSpPr txBox="1"/>
          <p:nvPr/>
        </p:nvSpPr>
        <p:spPr>
          <a:xfrm>
            <a:off x="5303520" y="3172968"/>
            <a:ext cx="6309360" cy="5486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Voice in Hindi and English, one button per job, any phone through a link.</a:t>
            </a:r>
            <a:endParaRPr lang="en-US" sz="1400" dirty="0"/>
          </a:p>
        </p:txBody>
      </p:sp>
      <p:sp>
        <p:nvSpPr>
          <p:cNvPr id="16" name="Shape 14"/>
          <p:cNvSpPr/>
          <p:nvPr/>
        </p:nvSpPr>
        <p:spPr>
          <a:xfrm>
            <a:off x="4617720" y="3950208"/>
            <a:ext cx="457200" cy="457200"/>
          </a:xfrm>
          <a:prstGeom prst="ellipse">
            <a:avLst/>
          </a:prstGeom>
          <a:solidFill>
            <a:schemeClr val="accent1"/>
          </a:solidFill>
          <a:ln/>
        </p:spPr>
      </p:sp>
      <p:sp>
        <p:nvSpPr>
          <p:cNvPr id="17" name="Text 15"/>
          <p:cNvSpPr txBox="1"/>
          <p:nvPr/>
        </p:nvSpPr>
        <p:spPr>
          <a:xfrm>
            <a:off x="4617720" y="3950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5303520" y="3886200"/>
            <a:ext cx="6309360" cy="36576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A network, not a tool</a:t>
            </a:r>
            <a:endParaRPr lang="en-US" sz="1800" dirty="0"/>
          </a:p>
        </p:txBody>
      </p:sp>
      <p:sp>
        <p:nvSpPr>
          <p:cNvPr id="19" name="Text 17"/>
          <p:cNvSpPr txBox="1"/>
          <p:nvPr/>
        </p:nvSpPr>
        <p:spPr>
          <a:xfrm>
            <a:off x="5303520" y="4270248"/>
            <a:ext cx="6309360" cy="5486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Hotels, job seekers, staffing agencies and officials on one travel guide: more hotels make every hotel easier to staff.</a:t>
            </a:r>
            <a:endParaRPr lang="en-US" sz="1400" dirty="0"/>
          </a:p>
        </p:txBody>
      </p:sp>
      <p:sp>
        <p:nvSpPr>
          <p:cNvPr id="20" name="Shape 18"/>
          <p:cNvSpPr/>
          <p:nvPr/>
        </p:nvSpPr>
        <p:spPr>
          <a:xfrm>
            <a:off x="4617720" y="5047488"/>
            <a:ext cx="457200" cy="457200"/>
          </a:xfrm>
          <a:prstGeom prst="ellipse">
            <a:avLst/>
          </a:prstGeom>
          <a:solidFill>
            <a:schemeClr val="accent1"/>
          </a:solidFill>
          <a:ln/>
        </p:spPr>
      </p:sp>
      <p:sp>
        <p:nvSpPr>
          <p:cNvPr id="21" name="Text 19"/>
          <p:cNvSpPr txBox="1"/>
          <p:nvPr/>
        </p:nvSpPr>
        <p:spPr>
          <a:xfrm>
            <a:off x="4617720" y="504748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5303520" y="4983480"/>
            <a:ext cx="6309360" cy="36576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Trust by design</a:t>
            </a:r>
            <a:endParaRPr lang="en-US" sz="1800" dirty="0"/>
          </a:p>
        </p:txBody>
      </p:sp>
      <p:sp>
        <p:nvSpPr>
          <p:cNvPr id="23" name="Text 21"/>
          <p:cNvSpPr txBox="1"/>
          <p:nvPr/>
        </p:nvSpPr>
        <p:spPr>
          <a:xfrm>
            <a:off x="5303520" y="5367528"/>
            <a:ext cx="6309360" cy="5486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Staff are IDs only; pay reasons stay with owner and HR; no booking commission, ever.</a:t>
            </a:r>
            <a:endParaRPr lang="en-US" sz="1400" dirty="0"/>
          </a:p>
        </p:txBody>
      </p:sp>
      <p:sp>
        <p:nvSpPr>
          <p:cNvPr id="24" name="Text 22"/>
          <p:cNvSpPr txBox="1"/>
          <p:nvPr/>
        </p:nvSpPr>
        <p:spPr>
          <a:xfrm>
            <a:off x="4617720" y="5760720"/>
            <a:ext cx="6949440" cy="27432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Honestly: an early moat. It grows with each hotel's data and with the network.</a:t>
            </a:r>
            <a:endParaRPr lang="en-US" sz="120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LONG-TERM BUSINESS STRATEGY</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chemeClr val="tx1"/>
                </a:solidFill>
                <a:latin typeface="Calibri" pitchFamily="34" charset="0"/>
                <a:ea typeface="Calibri" pitchFamily="34" charset="-122"/>
                <a:cs typeface="Calibri" pitchFamily="34" charset="-120"/>
              </a:rPr>
              <a:t>Free to start, paid to grow, a platform for the state</a:t>
            </a:r>
            <a:endParaRPr lang="en-US" sz="3200" dirty="0"/>
          </a:p>
        </p:txBody>
      </p:sp>
      <p:sp>
        <p:nvSpPr>
          <p:cNvPr id="4" name="Shape 2"/>
          <p:cNvSpPr/>
          <p:nvPr/>
        </p:nvSpPr>
        <p:spPr>
          <a:xfrm>
            <a:off x="548640" y="1691640"/>
            <a:ext cx="2651760" cy="2651760"/>
          </a:xfrm>
          <a:prstGeom prst="roundRect">
            <a:avLst>
              <a:gd name="adj" fmla="val 4138"/>
            </a:avLst>
          </a:prstGeom>
          <a:solidFill>
            <a:srgbClr val="F4F5FA"/>
          </a:solidFill>
          <a:ln/>
        </p:spPr>
      </p:sp>
      <p:sp>
        <p:nvSpPr>
          <p:cNvPr id="5" name="Text 3"/>
          <p:cNvSpPr txBox="1"/>
          <p:nvPr/>
        </p:nvSpPr>
        <p:spPr>
          <a:xfrm>
            <a:off x="777240" y="1874520"/>
            <a:ext cx="219456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START</a:t>
            </a:r>
            <a:endParaRPr lang="en-US" sz="1100" dirty="0"/>
          </a:p>
        </p:txBody>
      </p:sp>
      <p:sp>
        <p:nvSpPr>
          <p:cNvPr id="6" name="Text 4"/>
          <p:cNvSpPr txBox="1"/>
          <p:nvPr/>
        </p:nvSpPr>
        <p:spPr>
          <a:xfrm>
            <a:off x="777240" y="2194560"/>
            <a:ext cx="2240280" cy="5943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Registered homestays</a:t>
            </a:r>
            <a:endParaRPr lang="en-US" sz="1500" dirty="0"/>
          </a:p>
        </p:txBody>
      </p:sp>
      <p:sp>
        <p:nvSpPr>
          <p:cNvPr id="7" name="Text 5"/>
          <p:cNvSpPr txBox="1"/>
          <p:nvPr/>
        </p:nvSpPr>
        <p:spPr>
          <a:xfrm>
            <a:off x="777240" y="2834640"/>
            <a:ext cx="2286000" cy="457200"/>
          </a:xfrm>
          <a:prstGeom prst="rect">
            <a:avLst/>
          </a:prstGeom>
          <a:noFill/>
          <a:ln/>
        </p:spPr>
        <p:txBody>
          <a:bodyPr wrap="square" lIns="0" tIns="0" rIns="0" bIns="0" rtlCol="0" anchor="t"/>
          <a:lstStyle/>
          <a:p>
            <a:pPr indent="0" marL="0">
              <a:buNone/>
            </a:pPr>
            <a:r>
              <a:rPr lang="en-US" sz="1800" b="1" dirty="0">
                <a:solidFill>
                  <a:srgbClr val="16A34A"/>
                </a:solidFill>
                <a:latin typeface="Calibri" pitchFamily="34" charset="0"/>
                <a:ea typeface="Calibri" pitchFamily="34" charset="-122"/>
                <a:cs typeface="Calibri" pitchFamily="34" charset="-120"/>
              </a:rPr>
              <a:t>Free</a:t>
            </a:r>
            <a:endParaRPr lang="en-US" sz="1800" dirty="0"/>
          </a:p>
        </p:txBody>
      </p:sp>
      <p:sp>
        <p:nvSpPr>
          <p:cNvPr id="8" name="Text 6"/>
          <p:cNvSpPr txBox="1"/>
          <p:nvPr/>
        </p:nvSpPr>
        <p:spPr>
          <a:xfrm>
            <a:off x="777240" y="3429000"/>
            <a:ext cx="2240280" cy="822960"/>
          </a:xfrm>
          <a:prstGeom prst="rect">
            <a:avLst/>
          </a:prstGeom>
          <a:noFill/>
          <a:ln/>
        </p:spPr>
        <p:txBody>
          <a:bodyPr wrap="square" lIns="0" tIns="0" rIns="0" bIns="0" rtlCol="0" anchor="t"/>
          <a:lstStyle/>
          <a:p>
            <a:pPr indent="0" marL="0">
              <a:buNone/>
            </a:pPr>
            <a:r>
              <a:rPr lang="en-US" sz="1250" dirty="0">
                <a:solidFill>
                  <a:schemeClr val="tx2"/>
                </a:solidFill>
                <a:latin typeface="Calibri" pitchFamily="34" charset="0"/>
                <a:ea typeface="Calibri" pitchFamily="34" charset="-122"/>
                <a:cs typeface="Calibri" pitchFamily="34" charset="-120"/>
              </a:rPr>
              <a:t>Adoption first; data starts to flow</a:t>
            </a:r>
            <a:endParaRPr lang="en-US" sz="1250" dirty="0"/>
          </a:p>
        </p:txBody>
      </p:sp>
      <p:sp>
        <p:nvSpPr>
          <p:cNvPr id="9" name="Shape 7"/>
          <p:cNvSpPr/>
          <p:nvPr/>
        </p:nvSpPr>
        <p:spPr>
          <a:xfrm>
            <a:off x="3355848" y="1691640"/>
            <a:ext cx="2651760" cy="2651760"/>
          </a:xfrm>
          <a:prstGeom prst="roundRect">
            <a:avLst>
              <a:gd name="adj" fmla="val 4138"/>
            </a:avLst>
          </a:prstGeom>
          <a:solidFill>
            <a:srgbClr val="EEF0FF"/>
          </a:solidFill>
          <a:ln w="12700">
            <a:solidFill>
              <a:srgbClr val="5B5CF6"/>
            </a:solidFill>
            <a:prstDash val="solid"/>
          </a:ln>
        </p:spPr>
      </p:sp>
      <p:sp>
        <p:nvSpPr>
          <p:cNvPr id="10" name="Text 8"/>
          <p:cNvSpPr txBox="1"/>
          <p:nvPr/>
        </p:nvSpPr>
        <p:spPr>
          <a:xfrm>
            <a:off x="3584448" y="1874520"/>
            <a:ext cx="219456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GROW</a:t>
            </a:r>
            <a:endParaRPr lang="en-US" sz="1100" dirty="0"/>
          </a:p>
        </p:txBody>
      </p:sp>
      <p:sp>
        <p:nvSpPr>
          <p:cNvPr id="11" name="Text 9"/>
          <p:cNvSpPr txBox="1"/>
          <p:nvPr/>
        </p:nvSpPr>
        <p:spPr>
          <a:xfrm>
            <a:off x="3584448" y="2194560"/>
            <a:ext cx="2240280" cy="5943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Small hotels, up to ~40 rooms</a:t>
            </a:r>
            <a:endParaRPr lang="en-US" sz="1500" dirty="0"/>
          </a:p>
        </p:txBody>
      </p:sp>
      <p:sp>
        <p:nvSpPr>
          <p:cNvPr id="12" name="Text 10"/>
          <p:cNvSpPr txBox="1"/>
          <p:nvPr/>
        </p:nvSpPr>
        <p:spPr>
          <a:xfrm>
            <a:off x="3584448" y="2834640"/>
            <a:ext cx="2286000" cy="4572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₹999–1,999/mo</a:t>
            </a:r>
            <a:endParaRPr lang="en-US" sz="1800" dirty="0"/>
          </a:p>
        </p:txBody>
      </p:sp>
      <p:sp>
        <p:nvSpPr>
          <p:cNvPr id="13" name="Text 11"/>
          <p:cNvSpPr txBox="1"/>
          <p:nvPr/>
        </p:nvSpPr>
        <p:spPr>
          <a:xfrm>
            <a:off x="3584448" y="3429000"/>
            <a:ext cx="2240280" cy="822960"/>
          </a:xfrm>
          <a:prstGeom prst="rect">
            <a:avLst/>
          </a:prstGeom>
          <a:noFill/>
          <a:ln/>
        </p:spPr>
        <p:txBody>
          <a:bodyPr wrap="square" lIns="0" tIns="0" rIns="0" bIns="0" rtlCol="0" anchor="t"/>
          <a:lstStyle/>
          <a:p>
            <a:pPr indent="0" marL="0">
              <a:buNone/>
            </a:pPr>
            <a:r>
              <a:rPr lang="en-US" sz="1250" dirty="0">
                <a:solidFill>
                  <a:schemeClr val="tx2"/>
                </a:solidFill>
                <a:latin typeface="Calibri" pitchFamily="34" charset="0"/>
                <a:ea typeface="Calibri" pitchFamily="34" charset="-122"/>
                <a:cs typeface="Calibri" pitchFamily="34" charset="-120"/>
              </a:rPr>
              <a:t>Near the cost of a small booking system</a:t>
            </a:r>
            <a:endParaRPr lang="en-US" sz="1250" dirty="0"/>
          </a:p>
        </p:txBody>
      </p:sp>
      <p:sp>
        <p:nvSpPr>
          <p:cNvPr id="14" name="Shape 12"/>
          <p:cNvSpPr/>
          <p:nvPr/>
        </p:nvSpPr>
        <p:spPr>
          <a:xfrm>
            <a:off x="6163056" y="1691640"/>
            <a:ext cx="2651760" cy="2651760"/>
          </a:xfrm>
          <a:prstGeom prst="roundRect">
            <a:avLst>
              <a:gd name="adj" fmla="val 4138"/>
            </a:avLst>
          </a:prstGeom>
          <a:solidFill>
            <a:srgbClr val="F4F5FA"/>
          </a:solidFill>
          <a:ln/>
        </p:spPr>
      </p:sp>
      <p:sp>
        <p:nvSpPr>
          <p:cNvPr id="15" name="Text 13"/>
          <p:cNvSpPr txBox="1"/>
          <p:nvPr/>
        </p:nvSpPr>
        <p:spPr>
          <a:xfrm>
            <a:off x="6391656" y="1874520"/>
            <a:ext cx="219456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SCALE</a:t>
            </a:r>
            <a:endParaRPr lang="en-US" sz="1100" dirty="0"/>
          </a:p>
        </p:txBody>
      </p:sp>
      <p:sp>
        <p:nvSpPr>
          <p:cNvPr id="16" name="Text 14"/>
          <p:cNvSpPr txBox="1"/>
          <p:nvPr/>
        </p:nvSpPr>
        <p:spPr>
          <a:xfrm>
            <a:off x="6391656" y="2194560"/>
            <a:ext cx="2240280" cy="5943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Hotel groups · homestay clusters</a:t>
            </a:r>
            <a:endParaRPr lang="en-US" sz="1500" dirty="0"/>
          </a:p>
        </p:txBody>
      </p:sp>
      <p:sp>
        <p:nvSpPr>
          <p:cNvPr id="17" name="Text 15"/>
          <p:cNvSpPr txBox="1"/>
          <p:nvPr/>
        </p:nvSpPr>
        <p:spPr>
          <a:xfrm>
            <a:off x="6391656" y="2834640"/>
            <a:ext cx="2286000" cy="4572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Shared plan</a:t>
            </a:r>
            <a:endParaRPr lang="en-US" sz="1800" dirty="0"/>
          </a:p>
        </p:txBody>
      </p:sp>
      <p:sp>
        <p:nvSpPr>
          <p:cNvPr id="18" name="Text 16"/>
          <p:cNvSpPr txBox="1"/>
          <p:nvPr/>
        </p:nvSpPr>
        <p:spPr>
          <a:xfrm>
            <a:off x="6391656" y="3429000"/>
            <a:ext cx="2240280" cy="822960"/>
          </a:xfrm>
          <a:prstGeom prst="rect">
            <a:avLst/>
          </a:prstGeom>
          <a:noFill/>
          <a:ln/>
        </p:spPr>
        <p:txBody>
          <a:bodyPr wrap="square" lIns="0" tIns="0" rIns="0" bIns="0" rtlCol="0" anchor="t"/>
          <a:lstStyle/>
          <a:p>
            <a:pPr indent="0" marL="0">
              <a:buNone/>
            </a:pPr>
            <a:r>
              <a:rPr lang="en-US" sz="1250" dirty="0">
                <a:solidFill>
                  <a:schemeClr val="tx2"/>
                </a:solidFill>
                <a:latin typeface="Calibri" pitchFamily="34" charset="0"/>
                <a:ea typeface="Calibri" pitchFamily="34" charset="-122"/>
                <a:cs typeface="Calibri" pitchFamily="34" charset="-120"/>
              </a:rPr>
              <a:t>Clusters share staff and experiences</a:t>
            </a:r>
            <a:endParaRPr lang="en-US" sz="1250" dirty="0"/>
          </a:p>
        </p:txBody>
      </p:sp>
      <p:sp>
        <p:nvSpPr>
          <p:cNvPr id="19" name="Shape 17"/>
          <p:cNvSpPr/>
          <p:nvPr/>
        </p:nvSpPr>
        <p:spPr>
          <a:xfrm>
            <a:off x="8970264" y="1691640"/>
            <a:ext cx="2651760" cy="2651760"/>
          </a:xfrm>
          <a:prstGeom prst="roundRect">
            <a:avLst>
              <a:gd name="adj" fmla="val 4138"/>
            </a:avLst>
          </a:prstGeom>
          <a:solidFill>
            <a:srgbClr val="F4F5FA"/>
          </a:solidFill>
          <a:ln/>
        </p:spPr>
      </p:sp>
      <p:sp>
        <p:nvSpPr>
          <p:cNvPr id="20" name="Text 18"/>
          <p:cNvSpPr txBox="1"/>
          <p:nvPr/>
        </p:nvSpPr>
        <p:spPr>
          <a:xfrm>
            <a:off x="9198864" y="1874520"/>
            <a:ext cx="2194560" cy="274320"/>
          </a:xfrm>
          <a:prstGeom prst="rect">
            <a:avLst/>
          </a:prstGeom>
          <a:noFill/>
          <a:ln/>
        </p:spPr>
        <p:txBody>
          <a:bodyPr wrap="square" lIns="0" tIns="0" rIns="0" bIns="0" rtlCol="0" anchor="t"/>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PLATFORM</a:t>
            </a:r>
            <a:endParaRPr lang="en-US" sz="1100" dirty="0"/>
          </a:p>
        </p:txBody>
      </p:sp>
      <p:sp>
        <p:nvSpPr>
          <p:cNvPr id="21" name="Text 19"/>
          <p:cNvSpPr txBox="1"/>
          <p:nvPr/>
        </p:nvSpPr>
        <p:spPr>
          <a:xfrm>
            <a:off x="9198864" y="2194560"/>
            <a:ext cx="2240280" cy="59436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State tourism department</a:t>
            </a:r>
            <a:endParaRPr lang="en-US" sz="1500" dirty="0"/>
          </a:p>
        </p:txBody>
      </p:sp>
      <p:sp>
        <p:nvSpPr>
          <p:cNvPr id="22" name="Text 20"/>
          <p:cNvSpPr txBox="1"/>
          <p:nvPr/>
        </p:nvSpPr>
        <p:spPr>
          <a:xfrm>
            <a:off x="9198864" y="2834640"/>
            <a:ext cx="2286000" cy="45720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Contract</a:t>
            </a:r>
            <a:endParaRPr lang="en-US" sz="1800" dirty="0"/>
          </a:p>
        </p:txBody>
      </p:sp>
      <p:sp>
        <p:nvSpPr>
          <p:cNvPr id="23" name="Text 21"/>
          <p:cNvSpPr txBox="1"/>
          <p:nvPr/>
        </p:nvSpPr>
        <p:spPr>
          <a:xfrm>
            <a:off x="9198864" y="3429000"/>
            <a:ext cx="2240280" cy="822960"/>
          </a:xfrm>
          <a:prstGeom prst="rect">
            <a:avLst/>
          </a:prstGeom>
          <a:noFill/>
          <a:ln/>
        </p:spPr>
        <p:txBody>
          <a:bodyPr wrap="square" lIns="0" tIns="0" rIns="0" bIns="0" rtlCol="0" anchor="t"/>
          <a:lstStyle/>
          <a:p>
            <a:pPr indent="0" marL="0">
              <a:buNone/>
            </a:pPr>
            <a:r>
              <a:rPr lang="en-US" sz="1250" dirty="0">
                <a:solidFill>
                  <a:schemeClr val="tx2"/>
                </a:solidFill>
                <a:latin typeface="Calibri" pitchFamily="34" charset="0"/>
                <a:ea typeface="Calibri" pitchFamily="34" charset="-122"/>
                <a:cs typeface="Calibri" pitchFamily="34" charset="-120"/>
              </a:rPr>
              <a:t>Travel guide, hiring board, crowd forecasts</a:t>
            </a:r>
            <a:endParaRPr lang="en-US" sz="1250" dirty="0"/>
          </a:p>
        </p:txBody>
      </p:sp>
      <p:sp>
        <p:nvSpPr>
          <p:cNvPr id="24" name="Text 22"/>
          <p:cNvSpPr txBox="1"/>
          <p:nvPr/>
        </p:nvSpPr>
        <p:spPr>
          <a:xfrm>
            <a:off x="548640" y="4434840"/>
            <a:ext cx="10607040" cy="274320"/>
          </a:xfrm>
          <a:prstGeom prst="rect">
            <a:avLst/>
          </a:prstGeom>
          <a:noFill/>
          <a:ln/>
        </p:spPr>
        <p:txBody>
          <a:bodyPr wrap="square" lIns="0" tIns="0" rIns="0" bIns="0" rtlCol="0" anchor="t"/>
          <a:lstStyle/>
          <a:p>
            <a:pPr indent="0" marL="0">
              <a:buNone/>
            </a:pPr>
            <a:r>
              <a:rPr lang="en-US" sz="1100" i="1" dirty="0">
                <a:solidFill>
                  <a:schemeClr val="accent6"/>
                </a:solidFill>
                <a:latin typeface="Calibri" pitchFamily="34" charset="0"/>
                <a:ea typeface="Calibri" pitchFamily="34" charset="-122"/>
                <a:cs typeface="Calibri" pitchFamily="34" charset="-120"/>
              </a:rPr>
              <a:t>Prices are a proposal to validate. No booking commission at any stage.</a:t>
            </a:r>
            <a:endParaRPr lang="en-US" sz="1100" dirty="0"/>
          </a:p>
        </p:txBody>
      </p:sp>
      <p:sp>
        <p:nvSpPr>
          <p:cNvPr id="25" name="Shape 23"/>
          <p:cNvSpPr/>
          <p:nvPr/>
        </p:nvSpPr>
        <p:spPr>
          <a:xfrm>
            <a:off x="548640" y="4937760"/>
            <a:ext cx="438912" cy="438912"/>
          </a:xfrm>
          <a:prstGeom prst="ellipse">
            <a:avLst/>
          </a:prstGeom>
          <a:solidFill>
            <a:srgbClr val="111827"/>
          </a:solidFill>
          <a:ln/>
        </p:spPr>
      </p:sp>
      <p:sp>
        <p:nvSpPr>
          <p:cNvPr id="26" name="Text 24"/>
          <p:cNvSpPr txBox="1"/>
          <p:nvPr/>
        </p:nvSpPr>
        <p:spPr>
          <a:xfrm>
            <a:off x="548640" y="493776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7" name="Text 25"/>
          <p:cNvSpPr txBox="1"/>
          <p:nvPr/>
        </p:nvSpPr>
        <p:spPr>
          <a:xfrm>
            <a:off x="1097280" y="4919472"/>
            <a:ext cx="1920240" cy="32004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Mussoorie &amp; Rishikesh</a:t>
            </a:r>
            <a:endParaRPr lang="en-US" sz="1400" dirty="0"/>
          </a:p>
        </p:txBody>
      </p:sp>
      <p:sp>
        <p:nvSpPr>
          <p:cNvPr id="28" name="Text 26"/>
          <p:cNvSpPr txBox="1"/>
          <p:nvPr/>
        </p:nvSpPr>
        <p:spPr>
          <a:xfrm>
            <a:off x="1097280" y="5230368"/>
            <a:ext cx="1920240" cy="32004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First pilots, close to GEU</a:t>
            </a:r>
            <a:endParaRPr lang="en-US" sz="1200" dirty="0"/>
          </a:p>
        </p:txBody>
      </p:sp>
      <p:sp>
        <p:nvSpPr>
          <p:cNvPr id="29" name="Shape 27"/>
          <p:cNvSpPr/>
          <p:nvPr/>
        </p:nvSpPr>
        <p:spPr>
          <a:xfrm>
            <a:off x="3063240" y="4937760"/>
            <a:ext cx="438912" cy="438912"/>
          </a:xfrm>
          <a:prstGeom prst="ellipse">
            <a:avLst/>
          </a:prstGeom>
          <a:solidFill>
            <a:srgbClr val="111827"/>
          </a:solidFill>
          <a:ln/>
        </p:spPr>
      </p:sp>
      <p:sp>
        <p:nvSpPr>
          <p:cNvPr id="30" name="Text 28"/>
          <p:cNvSpPr txBox="1"/>
          <p:nvPr/>
        </p:nvSpPr>
        <p:spPr>
          <a:xfrm>
            <a:off x="3063240" y="493776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31" name="Text 29"/>
          <p:cNvSpPr txBox="1"/>
          <p:nvPr/>
        </p:nvSpPr>
        <p:spPr>
          <a:xfrm>
            <a:off x="3611880" y="4919472"/>
            <a:ext cx="1920240" cy="32004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Char Dham routes</a:t>
            </a:r>
            <a:endParaRPr lang="en-US" sz="1400" dirty="0"/>
          </a:p>
        </p:txBody>
      </p:sp>
      <p:sp>
        <p:nvSpPr>
          <p:cNvPr id="32" name="Text 30"/>
          <p:cNvSpPr txBox="1"/>
          <p:nvPr/>
        </p:nvSpPr>
        <p:spPr>
          <a:xfrm>
            <a:off x="3611880" y="5230368"/>
            <a:ext cx="1920240" cy="32004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Biggest seasonal swings</a:t>
            </a:r>
            <a:endParaRPr lang="en-US" sz="1200" dirty="0"/>
          </a:p>
        </p:txBody>
      </p:sp>
      <p:sp>
        <p:nvSpPr>
          <p:cNvPr id="33" name="Shape 31"/>
          <p:cNvSpPr/>
          <p:nvPr/>
        </p:nvSpPr>
        <p:spPr>
          <a:xfrm>
            <a:off x="5577840" y="4937760"/>
            <a:ext cx="438912" cy="438912"/>
          </a:xfrm>
          <a:prstGeom prst="ellipse">
            <a:avLst/>
          </a:prstGeom>
          <a:solidFill>
            <a:srgbClr val="111827"/>
          </a:solidFill>
          <a:ln/>
        </p:spPr>
      </p:sp>
      <p:sp>
        <p:nvSpPr>
          <p:cNvPr id="34" name="Text 32"/>
          <p:cNvSpPr txBox="1"/>
          <p:nvPr/>
        </p:nvSpPr>
        <p:spPr>
          <a:xfrm>
            <a:off x="5577840" y="493776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5" name="Text 33"/>
          <p:cNvSpPr txBox="1"/>
          <p:nvPr/>
        </p:nvSpPr>
        <p:spPr>
          <a:xfrm>
            <a:off x="6126480" y="4919472"/>
            <a:ext cx="1920240" cy="32004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Other hill states</a:t>
            </a:r>
            <a:endParaRPr lang="en-US" sz="1400" dirty="0"/>
          </a:p>
        </p:txBody>
      </p:sp>
      <p:sp>
        <p:nvSpPr>
          <p:cNvPr id="36" name="Text 34"/>
          <p:cNvSpPr txBox="1"/>
          <p:nvPr/>
        </p:nvSpPr>
        <p:spPr>
          <a:xfrm>
            <a:off x="6126480" y="5230368"/>
            <a:ext cx="1920240" cy="32004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Same seasonal pattern</a:t>
            </a:r>
            <a:endParaRPr lang="en-US" sz="1200" dirty="0"/>
          </a:p>
        </p:txBody>
      </p:sp>
      <p:sp>
        <p:nvSpPr>
          <p:cNvPr id="37" name="Shape 35"/>
          <p:cNvSpPr/>
          <p:nvPr/>
        </p:nvSpPr>
        <p:spPr>
          <a:xfrm>
            <a:off x="8183880" y="4800600"/>
            <a:ext cx="3456432" cy="1325880"/>
          </a:xfrm>
          <a:prstGeom prst="roundRect">
            <a:avLst>
              <a:gd name="adj" fmla="val 8276"/>
            </a:avLst>
          </a:prstGeom>
          <a:solidFill>
            <a:srgbClr val="111827"/>
          </a:solidFill>
          <a:ln/>
        </p:spPr>
      </p:sp>
      <p:sp>
        <p:nvSpPr>
          <p:cNvPr id="38" name="Text 36"/>
          <p:cNvSpPr txBox="1"/>
          <p:nvPr/>
        </p:nvSpPr>
        <p:spPr>
          <a:xfrm>
            <a:off x="8412480" y="4919472"/>
            <a:ext cx="3017520" cy="320040"/>
          </a:xfrm>
          <a:prstGeom prst="rect">
            <a:avLst/>
          </a:prstGeom>
          <a:noFill/>
          <a:ln/>
        </p:spPr>
        <p:txBody>
          <a:bodyPr wrap="square" lIns="0" tIns="0" rIns="0" bIns="0" rtlCol="0" anchor="t"/>
          <a:lstStyle/>
          <a:p>
            <a:pPr indent="0" marL="0">
              <a:buNone/>
            </a:pPr>
            <a:r>
              <a:rPr lang="en-US" sz="1300" b="1" dirty="0">
                <a:solidFill>
                  <a:srgbClr val="A5B4FC"/>
                </a:solidFill>
                <a:latin typeface="Calibri" pitchFamily="34" charset="0"/>
                <a:ea typeface="Calibri" pitchFamily="34" charset="-122"/>
                <a:cs typeface="Calibri" pitchFamily="34" charset="-120"/>
              </a:rPr>
              <a:t>Validation plan</a:t>
            </a:r>
            <a:endParaRPr lang="en-US" sz="1300" dirty="0"/>
          </a:p>
        </p:txBody>
      </p:sp>
      <p:sp>
        <p:nvSpPr>
          <p:cNvPr id="39" name="Text 37"/>
          <p:cNvSpPr txBox="1"/>
          <p:nvPr/>
        </p:nvSpPr>
        <p:spPr>
          <a:xfrm>
            <a:off x="8412480" y="5230368"/>
            <a:ext cx="3063240" cy="822960"/>
          </a:xfrm>
          <a:prstGeom prst="rect">
            <a:avLst/>
          </a:prstGeom>
          <a:noFill/>
          <a:ln/>
        </p:spPr>
        <p:txBody>
          <a:bodyPr wrap="square" lIns="0" tIns="0" rIns="0" bIns="0" rtlCol="0" anchor="t"/>
          <a:lstStyle/>
          <a:p>
            <a:pPr indent="0" marL="0">
              <a:buNone/>
            </a:pPr>
            <a:r>
              <a:rPr lang="en-US" sz="1150" dirty="0">
                <a:solidFill>
                  <a:srgbClr val="E5E7EB"/>
                </a:solidFill>
                <a:latin typeface="Calibri" pitchFamily="34" charset="0"/>
                <a:ea typeface="Calibri" pitchFamily="34" charset="-122"/>
                <a:cs typeface="Calibri" pitchFamily="34" charset="-120"/>
              </a:rPr>
              <a:t>8–10 interviews with go/no-go targets → free 2-week pilot measuring hours short, check-ins, minutes to done.</a:t>
            </a:r>
            <a:endParaRPr lang="en-US" sz="1150" dirty="0"/>
          </a:p>
        </p:txBody>
      </p:sp>
      <p:sp>
        <p:nvSpPr>
          <p:cNvPr id="25" name="Slide Number Placeholder 0"/>
          <p:cNvSpPr>
            <a:spLocks noGrp="1"/>
          </p:cNvSpPr>
          <p:nvPr>
            <p:ph type="sldNum" sz="quarter" idx="4294967295"/>
          </p:nvPr>
        </p:nvSpPr>
        <p:spPr>
          <a:xfrm>
            <a:off x="1124712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9144000" cy="274320"/>
          </a:xfrm>
          <a:prstGeom prst="rect">
            <a:avLst/>
          </a:prstGeom>
          <a:noFill/>
          <a:ln/>
        </p:spPr>
        <p:txBody>
          <a:bodyPr wrap="square" lIns="0" tIns="0" rIns="0" bIns="0" rtlCol="0" anchor="t"/>
          <a:lstStyle/>
          <a:p>
            <a:pPr indent="0" marL="0">
              <a:buNone/>
            </a:pPr>
            <a:r>
              <a:rPr lang="en-US" sz="1200" b="1" spc="200" kern="0" dirty="0">
                <a:solidFill>
                  <a:srgbClr val="A5B4FC"/>
                </a:solidFill>
                <a:latin typeface="Calibri" pitchFamily="34" charset="0"/>
                <a:ea typeface="Calibri" pitchFamily="34" charset="-122"/>
                <a:cs typeface="Calibri" pitchFamily="34" charset="-120"/>
              </a:rPr>
              <a:t>LIVE TODAY · THE ASK</a:t>
            </a:r>
            <a:endParaRPr lang="en-US" sz="1200" dirty="0"/>
          </a:p>
        </p:txBody>
      </p:sp>
      <p:sp>
        <p:nvSpPr>
          <p:cNvPr id="3" name="Text 1"/>
          <p:cNvSpPr txBox="1"/>
          <p:nvPr/>
        </p:nvSpPr>
        <p:spPr>
          <a:xfrm>
            <a:off x="548640" y="676656"/>
            <a:ext cx="1060704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Everything you saw is live</a:t>
            </a:r>
            <a:endParaRPr lang="en-US" sz="3200" dirty="0"/>
          </a:p>
        </p:txBody>
      </p:sp>
      <p:sp>
        <p:nvSpPr>
          <p:cNvPr id="4" name="Shape 2"/>
          <p:cNvSpPr/>
          <p:nvPr/>
        </p:nvSpPr>
        <p:spPr>
          <a:xfrm>
            <a:off x="594360" y="1737360"/>
            <a:ext cx="201168" cy="201168"/>
          </a:xfrm>
          <a:prstGeom prst="ellipse">
            <a:avLst/>
          </a:prstGeom>
          <a:solidFill>
            <a:srgbClr val="22C55E"/>
          </a:solidFill>
          <a:ln/>
        </p:spPr>
      </p:sp>
      <p:sp>
        <p:nvSpPr>
          <p:cNvPr id="5" name="Text 3"/>
          <p:cNvSpPr txBox="1"/>
          <p:nvPr/>
        </p:nvSpPr>
        <p:spPr>
          <a:xfrm>
            <a:off x="960120" y="1645920"/>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Hotel portal (owner)</a:t>
            </a:r>
            <a:endParaRPr lang="en-US" sz="1700" dirty="0"/>
          </a:p>
        </p:txBody>
      </p:sp>
      <p:sp>
        <p:nvSpPr>
          <p:cNvPr id="6" name="Text 4"/>
          <p:cNvSpPr txBox="1"/>
          <p:nvPr/>
        </p:nvSpPr>
        <p:spPr>
          <a:xfrm>
            <a:off x="4023360" y="1664208"/>
            <a:ext cx="3291840" cy="365760"/>
          </a:xfrm>
          <a:prstGeom prst="rect">
            <a:avLst/>
          </a:prstGeom>
          <a:noFill/>
          <a:ln/>
        </p:spPr>
        <p:txBody>
          <a:bodyPr wrap="square" lIns="0" tIns="0" rIns="0" bIns="0" rtlCol="0" anchor="t"/>
          <a:lstStyle/>
          <a:p>
            <a:pPr indent="0" marL="0">
              <a:buNone/>
            </a:pPr>
            <a:r>
              <a:rPr lang="en-US" sz="1300" dirty="0">
                <a:solidFill>
                  <a:srgbClr val="A5B4FC"/>
                </a:solidFill>
                <a:latin typeface="Calibri" pitchFamily="34" charset="0"/>
                <a:ea typeface="Calibri" pitchFamily="34" charset="-122"/>
                <a:cs typeface="Calibri" pitchFamily="34" charset="-120"/>
              </a:rPr>
              <a:t>hoi-dashboard.onrender.com</a:t>
            </a:r>
            <a:endParaRPr lang="en-US" sz="1300" dirty="0"/>
          </a:p>
        </p:txBody>
      </p:sp>
      <p:sp>
        <p:nvSpPr>
          <p:cNvPr id="7" name="Shape 5"/>
          <p:cNvSpPr/>
          <p:nvPr/>
        </p:nvSpPr>
        <p:spPr>
          <a:xfrm>
            <a:off x="594360" y="2359152"/>
            <a:ext cx="201168" cy="201168"/>
          </a:xfrm>
          <a:prstGeom prst="ellipse">
            <a:avLst/>
          </a:prstGeom>
          <a:solidFill>
            <a:srgbClr val="22C55E"/>
          </a:solidFill>
          <a:ln/>
        </p:spPr>
      </p:sp>
      <p:sp>
        <p:nvSpPr>
          <p:cNvPr id="8" name="Text 6"/>
          <p:cNvSpPr txBox="1"/>
          <p:nvPr/>
        </p:nvSpPr>
        <p:spPr>
          <a:xfrm>
            <a:off x="960120" y="2267712"/>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Staff app</a:t>
            </a:r>
            <a:endParaRPr lang="en-US" sz="1700" dirty="0"/>
          </a:p>
        </p:txBody>
      </p:sp>
      <p:sp>
        <p:nvSpPr>
          <p:cNvPr id="9" name="Text 7"/>
          <p:cNvSpPr txBox="1"/>
          <p:nvPr/>
        </p:nvSpPr>
        <p:spPr>
          <a:xfrm>
            <a:off x="4023360" y="2286000"/>
            <a:ext cx="3291840" cy="365760"/>
          </a:xfrm>
          <a:prstGeom prst="rect">
            <a:avLst/>
          </a:prstGeom>
          <a:noFill/>
          <a:ln/>
        </p:spPr>
        <p:txBody>
          <a:bodyPr wrap="square" lIns="0" tIns="0" rIns="0" bIns="0" rtlCol="0" anchor="t"/>
          <a:lstStyle/>
          <a:p>
            <a:pPr indent="0" marL="0">
              <a:buNone/>
            </a:pPr>
            <a:r>
              <a:rPr lang="en-US" sz="1300" dirty="0">
                <a:solidFill>
                  <a:srgbClr val="A5B4FC"/>
                </a:solidFill>
                <a:latin typeface="Calibri" pitchFamily="34" charset="0"/>
                <a:ea typeface="Calibri" pitchFamily="34" charset="-122"/>
                <a:cs typeface="Calibri" pitchFamily="34" charset="-120"/>
              </a:rPr>
              <a:t>hoi-platform-api.onrender.com/worker/</a:t>
            </a:r>
            <a:endParaRPr lang="en-US" sz="1300" dirty="0"/>
          </a:p>
        </p:txBody>
      </p:sp>
      <p:sp>
        <p:nvSpPr>
          <p:cNvPr id="10" name="Shape 8"/>
          <p:cNvSpPr/>
          <p:nvPr/>
        </p:nvSpPr>
        <p:spPr>
          <a:xfrm>
            <a:off x="594360" y="2980944"/>
            <a:ext cx="201168" cy="201168"/>
          </a:xfrm>
          <a:prstGeom prst="ellipse">
            <a:avLst/>
          </a:prstGeom>
          <a:solidFill>
            <a:srgbClr val="22C55E"/>
          </a:solidFill>
          <a:ln/>
        </p:spPr>
      </p:sp>
      <p:sp>
        <p:nvSpPr>
          <p:cNvPr id="11" name="Text 9"/>
          <p:cNvSpPr txBox="1"/>
          <p:nvPr/>
        </p:nvSpPr>
        <p:spPr>
          <a:xfrm>
            <a:off x="960120" y="2889504"/>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Guest page</a:t>
            </a:r>
            <a:endParaRPr lang="en-US" sz="1700" dirty="0"/>
          </a:p>
        </p:txBody>
      </p:sp>
      <p:sp>
        <p:nvSpPr>
          <p:cNvPr id="12" name="Text 10"/>
          <p:cNvSpPr txBox="1"/>
          <p:nvPr/>
        </p:nvSpPr>
        <p:spPr>
          <a:xfrm>
            <a:off x="4023360" y="2907792"/>
            <a:ext cx="3291840" cy="365760"/>
          </a:xfrm>
          <a:prstGeom prst="rect">
            <a:avLst/>
          </a:prstGeom>
          <a:noFill/>
          <a:ln/>
        </p:spPr>
        <p:txBody>
          <a:bodyPr wrap="square" lIns="0" tIns="0" rIns="0" bIns="0" rtlCol="0" anchor="t"/>
          <a:lstStyle/>
          <a:p>
            <a:pPr indent="0" marL="0">
              <a:buNone/>
            </a:pPr>
            <a:r>
              <a:rPr lang="en-US" sz="1300" dirty="0">
                <a:solidFill>
                  <a:srgbClr val="A5B4FC"/>
                </a:solidFill>
                <a:latin typeface="Calibri" pitchFamily="34" charset="0"/>
                <a:ea typeface="Calibri" pitchFamily="34" charset="-122"/>
                <a:cs typeface="Calibri" pitchFamily="34" charset="-120"/>
              </a:rPr>
              <a:t>room QR link</a:t>
            </a:r>
            <a:endParaRPr lang="en-US" sz="1300" dirty="0"/>
          </a:p>
        </p:txBody>
      </p:sp>
      <p:sp>
        <p:nvSpPr>
          <p:cNvPr id="13" name="Shape 11"/>
          <p:cNvSpPr/>
          <p:nvPr/>
        </p:nvSpPr>
        <p:spPr>
          <a:xfrm>
            <a:off x="594360" y="3602736"/>
            <a:ext cx="201168" cy="201168"/>
          </a:xfrm>
          <a:prstGeom prst="ellipse">
            <a:avLst/>
          </a:prstGeom>
          <a:solidFill>
            <a:srgbClr val="22C55E"/>
          </a:solidFill>
          <a:ln/>
        </p:spPr>
      </p:sp>
      <p:sp>
        <p:nvSpPr>
          <p:cNvPr id="14" name="Text 12"/>
          <p:cNvSpPr txBox="1"/>
          <p:nvPr/>
        </p:nvSpPr>
        <p:spPr>
          <a:xfrm>
            <a:off x="960120" y="3511296"/>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Uttarakhand Travel Guide</a:t>
            </a:r>
            <a:endParaRPr lang="en-US" sz="1700" dirty="0"/>
          </a:p>
        </p:txBody>
      </p:sp>
      <p:sp>
        <p:nvSpPr>
          <p:cNvPr id="15" name="Text 13"/>
          <p:cNvSpPr txBox="1"/>
          <p:nvPr/>
        </p:nvSpPr>
        <p:spPr>
          <a:xfrm>
            <a:off x="4023360" y="3529584"/>
            <a:ext cx="3291840" cy="365760"/>
          </a:xfrm>
          <a:prstGeom prst="rect">
            <a:avLst/>
          </a:prstGeom>
          <a:noFill/>
          <a:ln/>
        </p:spPr>
        <p:txBody>
          <a:bodyPr wrap="square" lIns="0" tIns="0" rIns="0" bIns="0" rtlCol="0" anchor="t"/>
          <a:lstStyle/>
          <a:p>
            <a:pPr indent="0" marL="0">
              <a:buNone/>
            </a:pPr>
            <a:r>
              <a:rPr lang="en-US" sz="1300" dirty="0">
                <a:solidFill>
                  <a:srgbClr val="A5B4FC"/>
                </a:solidFill>
                <a:latin typeface="Calibri" pitchFamily="34" charset="0"/>
                <a:ea typeface="Calibri" pitchFamily="34" charset="-122"/>
                <a:cs typeface="Calibri" pitchFamily="34" charset="-120"/>
              </a:rPr>
              <a:t>hoi-portal.vercel.app</a:t>
            </a:r>
            <a:endParaRPr lang="en-US" sz="1300" dirty="0"/>
          </a:p>
        </p:txBody>
      </p:sp>
      <p:sp>
        <p:nvSpPr>
          <p:cNvPr id="16" name="Shape 14"/>
          <p:cNvSpPr/>
          <p:nvPr/>
        </p:nvSpPr>
        <p:spPr>
          <a:xfrm>
            <a:off x="594360" y="4224528"/>
            <a:ext cx="201168" cy="201168"/>
          </a:xfrm>
          <a:prstGeom prst="ellipse">
            <a:avLst/>
          </a:prstGeom>
          <a:solidFill>
            <a:srgbClr val="22C55E"/>
          </a:solidFill>
          <a:ln/>
        </p:spPr>
      </p:sp>
      <p:sp>
        <p:nvSpPr>
          <p:cNvPr id="17" name="Text 15"/>
          <p:cNvSpPr txBox="1"/>
          <p:nvPr/>
        </p:nvSpPr>
        <p:spPr>
          <a:xfrm>
            <a:off x="960120" y="4133088"/>
            <a:ext cx="3108960" cy="36576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HOI console</a:t>
            </a:r>
            <a:endParaRPr lang="en-US" sz="1700" dirty="0"/>
          </a:p>
        </p:txBody>
      </p:sp>
      <p:sp>
        <p:nvSpPr>
          <p:cNvPr id="18" name="Text 16"/>
          <p:cNvSpPr txBox="1"/>
          <p:nvPr/>
        </p:nvSpPr>
        <p:spPr>
          <a:xfrm>
            <a:off x="4023360" y="4151376"/>
            <a:ext cx="3291840" cy="365760"/>
          </a:xfrm>
          <a:prstGeom prst="rect">
            <a:avLst/>
          </a:prstGeom>
          <a:noFill/>
          <a:ln/>
        </p:spPr>
        <p:txBody>
          <a:bodyPr wrap="square" lIns="0" tIns="0" rIns="0" bIns="0" rtlCol="0" anchor="t"/>
          <a:lstStyle/>
          <a:p>
            <a:pPr indent="0" marL="0">
              <a:buNone/>
            </a:pPr>
            <a:r>
              <a:rPr lang="en-US" sz="1300" dirty="0">
                <a:solidFill>
                  <a:srgbClr val="A5B4FC"/>
                </a:solidFill>
                <a:latin typeface="Calibri" pitchFamily="34" charset="0"/>
                <a:ea typeface="Calibri" pitchFamily="34" charset="-122"/>
                <a:cs typeface="Calibri" pitchFamily="34" charset="-120"/>
              </a:rPr>
              <a:t>hoi-platform-admin.onrender.com</a:t>
            </a:r>
            <a:endParaRPr lang="en-US" sz="1300" dirty="0"/>
          </a:p>
        </p:txBody>
      </p:sp>
      <p:sp>
        <p:nvSpPr>
          <p:cNvPr id="19" name="Text 17"/>
          <p:cNvSpPr txBox="1"/>
          <p:nvPr/>
        </p:nvSpPr>
        <p:spPr>
          <a:xfrm>
            <a:off x="594360" y="4892040"/>
            <a:ext cx="6675120" cy="1188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D1D5DB"/>
                </a:solidFill>
                <a:latin typeface="Calibri" pitchFamily="34" charset="0"/>
                <a:ea typeface="Calibri" pitchFamily="34" charset="-122"/>
                <a:cs typeface="Calibri" pitchFamily="34" charset="-120"/>
              </a:rPr>
              <a:t>600+ automated tests pass</a:t>
            </a:r>
            <a:endParaRPr lang="en-US" sz="1300" dirty="0"/>
          </a:p>
          <a:p>
            <a:pPr marL="342900" indent="-342900">
              <a:spcAft>
                <a:spcPts val="600"/>
              </a:spcAft>
              <a:buSzPct val="100000"/>
              <a:buChar char="•"/>
            </a:pPr>
            <a:r>
              <a:rPr lang="en-US" sz="1300" dirty="0">
                <a:solidFill>
                  <a:srgbClr val="D1D5DB"/>
                </a:solidFill>
                <a:latin typeface="Calibri" pitchFamily="34" charset="0"/>
                <a:ea typeface="Calibri" pitchFamily="34" charset="-122"/>
                <a:cs typeface="Calibri" pitchFamily="34" charset="-120"/>
              </a:rPr>
              <a:t>Demo hotel registered on the travel guide (UK-HTL-DDN-00030)</a:t>
            </a:r>
            <a:endParaRPr lang="en-US" sz="1300" dirty="0"/>
          </a:p>
          <a:p>
            <a:pPr marL="342900" indent="-342900">
              <a:buSzPct val="100000"/>
              <a:buChar char="•"/>
            </a:pPr>
            <a:r>
              <a:rPr lang="en-US" sz="1300" dirty="0">
                <a:solidFill>
                  <a:srgbClr val="D1D5DB"/>
                </a:solidFill>
                <a:latin typeface="Calibri" pitchFamily="34" charset="0"/>
                <a:ea typeface="Calibri" pitchFamily="34" charset="-122"/>
                <a:cs typeface="Calibri" pitchFamily="34" charset="-120"/>
              </a:rPr>
              <a:t>All demo data is made up and labelled "(demo)"</a:t>
            </a:r>
            <a:endParaRPr lang="en-US" sz="1300" dirty="0"/>
          </a:p>
        </p:txBody>
      </p:sp>
      <p:sp>
        <p:nvSpPr>
          <p:cNvPr id="20" name="Shape 18"/>
          <p:cNvSpPr/>
          <p:nvPr/>
        </p:nvSpPr>
        <p:spPr>
          <a:xfrm>
            <a:off x="7772400" y="1645920"/>
            <a:ext cx="3886200" cy="4434840"/>
          </a:xfrm>
          <a:prstGeom prst="roundRect">
            <a:avLst>
              <a:gd name="adj" fmla="val 3294"/>
            </a:avLst>
          </a:prstGeom>
          <a:solidFill>
            <a:srgbClr val="1F2550"/>
          </a:solidFill>
          <a:ln w="12700">
            <a:solidFill>
              <a:srgbClr val="3B4280"/>
            </a:solidFill>
            <a:prstDash val="solid"/>
          </a:ln>
        </p:spPr>
      </p:sp>
      <p:sp>
        <p:nvSpPr>
          <p:cNvPr id="21" name="Text 19"/>
          <p:cNvSpPr txBox="1"/>
          <p:nvPr/>
        </p:nvSpPr>
        <p:spPr>
          <a:xfrm>
            <a:off x="8092440" y="1920240"/>
            <a:ext cx="3291840" cy="274320"/>
          </a:xfrm>
          <a:prstGeom prst="rect">
            <a:avLst/>
          </a:prstGeom>
          <a:noFill/>
          <a:ln/>
        </p:spPr>
        <p:txBody>
          <a:bodyPr wrap="square" lIns="0" tIns="0" rIns="0" bIns="0" rtlCol="0" anchor="t"/>
          <a:lstStyle/>
          <a:p>
            <a:pPr indent="0" marL="0">
              <a:buNone/>
            </a:pPr>
            <a:r>
              <a:rPr lang="en-US" sz="1200" b="1" spc="200" kern="0" dirty="0">
                <a:solidFill>
                  <a:srgbClr val="A5B4FC"/>
                </a:solidFill>
                <a:latin typeface="Calibri" pitchFamily="34" charset="0"/>
                <a:ea typeface="Calibri" pitchFamily="34" charset="-122"/>
                <a:cs typeface="Calibri" pitchFamily="34" charset="-120"/>
              </a:rPr>
              <a:t>OUR ASK</a:t>
            </a:r>
            <a:endParaRPr lang="en-US" sz="1200" dirty="0"/>
          </a:p>
        </p:txBody>
      </p:sp>
      <p:sp>
        <p:nvSpPr>
          <p:cNvPr id="22" name="Text 20"/>
          <p:cNvSpPr txBox="1"/>
          <p:nvPr/>
        </p:nvSpPr>
        <p:spPr>
          <a:xfrm>
            <a:off x="8092440" y="2331720"/>
            <a:ext cx="3291840" cy="23774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3 hotels or homestays</a:t>
            </a:r>
            <a:endParaRPr lang="en-US" sz="2000" dirty="0"/>
          </a:p>
          <a:p>
            <a:pPr indent="0" marL="0">
              <a:spcAft>
                <a:spcPts val="1600"/>
              </a:spcAft>
              <a:buNone/>
            </a:pPr>
            <a:r>
              <a:rPr lang="en-US" sz="2000" dirty="0">
                <a:solidFill>
                  <a:srgbClr val="D1D5DB"/>
                </a:solidFill>
                <a:latin typeface="Calibri" pitchFamily="34" charset="0"/>
                <a:ea typeface="Calibri" pitchFamily="34" charset="-122"/>
                <a:cs typeface="Calibri" pitchFamily="34" charset="-120"/>
              </a:rPr>
              <a:t>for a free 2-week pilot</a:t>
            </a:r>
            <a:endParaRPr lang="en-US" sz="2000" dirty="0"/>
          </a:p>
          <a:p>
            <a:pPr indent="0" marL="0">
              <a:buNone/>
            </a:pPr>
            <a:r>
              <a:rPr lang="en-US" sz="2000" b="1" dirty="0">
                <a:solidFill>
                  <a:srgbClr val="FFFFFF"/>
                </a:solidFill>
                <a:latin typeface="Calibri" pitchFamily="34" charset="0"/>
                <a:ea typeface="Calibri" pitchFamily="34" charset="-122"/>
                <a:cs typeface="Calibri" pitchFamily="34" charset="-120"/>
              </a:rPr>
              <a:t>Mentor time</a:t>
            </a:r>
            <a:endParaRPr lang="en-US" sz="2000" dirty="0"/>
          </a:p>
          <a:p>
            <a:pPr indent="0" marL="0">
              <a:buNone/>
            </a:pPr>
            <a:r>
              <a:rPr lang="en-US" sz="2000" dirty="0">
                <a:solidFill>
                  <a:srgbClr val="D1D5DB"/>
                </a:solidFill>
                <a:latin typeface="Calibri" pitchFamily="34" charset="0"/>
                <a:ea typeface="Calibri" pitchFamily="34" charset="-122"/>
                <a:cs typeface="Calibri" pitchFamily="34" charset="-120"/>
              </a:rPr>
              <a:t>on pricing and the state partnership</a:t>
            </a:r>
            <a:endParaRPr lang="en-US" sz="2000" dirty="0"/>
          </a:p>
        </p:txBody>
      </p:sp>
      <p:sp>
        <p:nvSpPr>
          <p:cNvPr id="23" name="Text 21"/>
          <p:cNvSpPr txBox="1"/>
          <p:nvPr/>
        </p:nvSpPr>
        <p:spPr>
          <a:xfrm>
            <a:off x="8092440" y="5257800"/>
            <a:ext cx="338328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Smarter hotels. </a:t>
            </a:r>
            <a:pPr indent="0" marL="0">
              <a:buNone/>
            </a:pPr>
            <a:r>
              <a:rPr lang="en-US" sz="1800" b="1" dirty="0">
                <a:solidFill>
                  <a:srgbClr val="A5B4FC"/>
                </a:solidFill>
                <a:latin typeface="Calibri" pitchFamily="34" charset="0"/>
                <a:ea typeface="Calibri" pitchFamily="34" charset="-122"/>
                <a:cs typeface="Calibri" pitchFamily="34" charset="-120"/>
              </a:rPr>
              <a:t>Happier teams.</a:t>
            </a:r>
            <a:endParaRPr lang="en-US" sz="1800" dirty="0"/>
          </a:p>
        </p:txBody>
      </p:sp>
    </p:spTree>
  </p:cSld>
  <p:clrMapOvr>
    <a:masterClrMapping/>
  </p:clrMapOvr>
</p:sld>
</file>

<file path=ppt/theme/theme1.xml><?xml version="1.0" encoding="utf-8"?>
<a:theme xmlns:a="http://schemas.openxmlformats.org/drawingml/2006/main" name="HOI Final">
  <a:themeElements>
    <a:clrScheme name="HOI Final">
      <a:dk1>
        <a:srgbClr val="111827"/>
      </a:dk1>
      <a:lt1>
        <a:srgbClr val="FFFFFF"/>
      </a:lt1>
      <a:dk2>
        <a:srgbClr val="4B5563"/>
      </a:dk2>
      <a:lt2>
        <a:srgbClr val="F4F5FA"/>
      </a:lt2>
      <a:accent1>
        <a:srgbClr val="5B5CF6"/>
      </a:accent1>
      <a:accent2>
        <a:srgbClr val="3CA3FD"/>
      </a:accent2>
      <a:accent3>
        <a:srgbClr val="16A34A"/>
      </a:accent3>
      <a:accent4>
        <a:srgbClr val="D97706"/>
      </a:accent4>
      <a:accent5>
        <a:srgbClr val="DC2626"/>
      </a:accent5>
      <a:accent6>
        <a:srgbClr val="6B7280"/>
      </a:accent6>
      <a:hlink>
        <a:srgbClr val="4F46E5"/>
      </a:hlink>
      <a:folHlink>
        <a:srgbClr val="7C3AED"/>
      </a:folHlink>
    </a:clrScheme>
    <a:fontScheme name="HOI Final">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Team Innov8</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HOI: Hospitality Operations Intelligence</dc:title>
  <dc:subject>PptxGenJS Presentation</dc:subject>
  <dc:creator>Team Innov8</dc:creator>
  <cp:lastModifiedBy>Team Innov8</cp:lastModifiedBy>
  <cp:revision>1</cp:revision>
  <dcterms:created xsi:type="dcterms:W3CDTF">2026-10-14T00:16:01Z</dcterms:created>
  <dcterms:modified xsi:type="dcterms:W3CDTF">2026-10-14T00:16:01Z</dcterms:modified>
</cp:coreProperties>
</file>