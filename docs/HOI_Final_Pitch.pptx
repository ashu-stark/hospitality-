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e08fe9-0935-bb74-f99a-01f68f82931f}">
          <p14:sldIdLst>
            <p14:sldId id="256"/>
          </p14:sldIdLst>
        </p14:section>
        <p14:section name="Problem" id="{c6e6cb94-8d77-5c49-ee37-5388b642a071}">
          <p14:sldIdLst>
            <p14:sldId id="257"/>
            <p14:sldId id="258"/>
          </p14:sldIdLst>
        </p14:section>
        <p14:section name="People" id="{f4a3a4a5-2dbb-0ef6-44bb-3fa530626605}">
          <p14:sldIdLst>
            <p14:sldId id="259"/>
          </p14:sldIdLst>
        </p14:section>
        <p14:section name="Solution" id="{25b31b89-ccd8-839b-5b3b-cf44f592ce61}">
          <p14:sldIdLst>
            <p14:sldId id="260"/>
            <p14:sldId id="261"/>
            <p14:sldId id="262"/>
          </p14:sldIdLst>
        </p14:section>
        <p14:section name="Ecosystem" id="{7725c9c6-1a4b-d67e-bede-ac0c2bce4a27}">
          <p14:sldIdLst>
            <p14:sldId id="263"/>
          </p14:sldIdLst>
        </p14:section>
        <p14:section name="Outcomes" id="{b622bef8-96c6-d8c6-8feb-a9cb31878dba}">
          <p14:sldIdLst>
            <p14:sldId id="264"/>
            <p14:sldId id="265"/>
          </p14:sldIdLst>
        </p14:section>
        <p14:section name="Business" id="{50508b26-a66d-1c34-f2d0-bf0b89dce69d}">
          <p14:sldIdLst>
            <p14:sldId id="266"/>
          </p14:sldIdLst>
        </p14:section>
        <p14:section name="Close" id="{f5eb8726-3507-5eb2-c4d7-1794cd3ec00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peak season in Mussoorie. Every room is full. Two housekeepers didn't come, room 104 has asked for towels twice, and the owner is planning next week's shifts on WhatsApp. Nobody saw this Saturday coming, though the data to predict it already existed. This is HOI, Hospitality Operations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India's hospitality sector was projected to be short of 1.1 million workers in 2025, and hotels still plan staff by hand: too few people, too much overtime, too late to notice who is leaving. In Uttarakhand, tourism comes in waves. We help small hotels and homestays predict the rush, plan fair shifts, route every job and keep good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workers quit about 1.8 times as often as other workers. Char Dham drew a record 51 lakh pilgrims in 2025, and 65 percent of them arrived by 24 June, so the rush comes early. And Uttarakhand has more than 5,000 registered homestays, mostly family-run.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pays, and yes, they can buy it for themselves, like a booking system. But the people who make it work are the housekeeper with a basic Android phone and the guest in room 104, so they use it free, by voice, in Hindi. Tourists, officials, job seekers and agencies use the travel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closed loop across five simple apps. HOI forecasts how full the hotel will be, plans fair shifts that keep rest rules, sends every job to the right person's phone, by voice in Hindi, proves the work with photos and times, and shows who may be thinking of leaving and what to talk about. Results flow back into the next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screens, all live today. The owner's Today page answers 'is today OK?'. The staff app works by tap or Hindi voice. Guests scan a QR in the room. Tourists use the travel guide, and officials see approvals, complaints and crowd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 THE FILM: click the cover image, delete it, then Insert &gt; Video &gt; This Device &gt; videos/HOI_demo_2min.mp4; place it at the same position and size (9.2 x 5.18 in) and set Playback &gt; Start: When Clicked. Then play the film (2 minutes); short version 0:18 to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travel guide is also the state's data layer. Live today: crowd forecasts per destination, daily occupancy and capacity from hotels that opt in, registrations and approvals, complaints and response times, seasonal jobs and staffing demand, and road alerts. Small groups are hidden so no single business can be identified. Next: tourism money flow by district from hotels that opt in, and open anonymised data for planners. Joining the official state portal is a proposal we want to discuss with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starts with a prediction and ends with an action. One day ahead our forecast was off by 1.9 rooms against 10.9 for the usual rule, 83 percent less error, on real public hotel data. The turnover model ranks a leaver above a stayer 66 percent of the time against 55 for a checklist, so it's a prompt to talk, never a verdict. It found three matching job seekers live for our demo hotel, and in a live test a new job reached the on-shift staff member's phone in 4.4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software helps hotels sell the room; HOI helps them run the stay. Compared with workforce tools like Flexkeeping and Deputy, HOI adds turnover risk with reasons and fixes, and forecasting that knows the Char Dham season and road closures. It's also linked to a state travel and jobs network, works by Hindi voice, and never takes a booking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Homestays use it free; small hotels pay about a thousand to two thousand rupees a month; groups and clusters share a plan; the state is a platform customer. We never take a cut of bookings. Growth: Mussoorie and Rishikesh, then the Char Dham routes, then other hill states. Prices are a proposal we validate with interviews and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saw is running today. We're asking for three hotels or homestays for a free two-week pilot, and a conversation with the state tourism department about the data layer. Thank you. HOI: smarter hotels, happier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C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hvs.com/article/9274-hvs-monday-musings-indian-hospitality-sector-skill-shortage-to-hinder-recovery-and-growth"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bls.gov/news.release/jolts.t04.htm" TargetMode="External"/><Relationship Id="rId2" Type="http://schemas.openxmlformats.org/officeDocument/2006/relationships/hyperlink" Target="https://www.newsonair.gov.in/badrinath-temple-portals-to-close-today-concluding-this-years-char-dham-yatra" TargetMode="External"/><Relationship Id="rId3" Type="http://schemas.openxmlformats.org/officeDocument/2006/relationships/hyperlink" Target="https://www.theweek.in/news/india/2025/06/24/char-dham-yatra-breaks-records-with-unprecedented-number-of-pilgrims.html" TargetMode="External"/><Relationship Id="rId4" Type="http://schemas.openxmlformats.org/officeDocument/2006/relationships/hyperlink" Target="https://www.etvbharat.com/en/state/uttarakhand-homestay-scheme-revised-community-tourism-promoted-for-the-first-time-enn26052005510" TargetMode="External"/><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image" Target="../media/image-5-2.png"/><Relationship Id="rId7" Type="http://schemas.openxmlformats.org/officeDocument/2006/relationships/image" Target="../media/image-5-7.png"/><Relationship Id="rId8" Type="http://schemas.openxmlformats.org/officeDocument/2006/relationships/image" Target="../media/image-5-2.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16/j.dib.2018.11.126" TargetMode="Externa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flexkeeping.com/products/hotel-collaboration-software" TargetMode="External"/><Relationship Id="rId2" Type="http://schemas.openxmlformats.org/officeDocument/2006/relationships/hyperlink" Target="https://www.deputy.com/industry/hospitality" TargetMode="Externa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I logo">    </p:cNvPr>
          <p:cNvPicPr>
            <a:picLocks noChangeAspect="1"/>
          </p:cNvPicPr>
          <p:nvPr/>
        </p:nvPicPr>
        <p:blipFill>
          <a:blip r:embed="rId1"/>
          <a:stretch>
            <a:fillRect/>
          </a:stretch>
        </p:blipFill>
        <p:spPr>
          <a:xfrm>
            <a:off x="5455768" y="1417320"/>
            <a:ext cx="1280160" cy="1280160"/>
          </a:xfrm>
          <a:prstGeom prst="rect">
            <a:avLst/>
          </a:prstGeom>
        </p:spPr>
      </p:pic>
      <p:sp>
        <p:nvSpPr>
          <p:cNvPr id="3" name="Text 0"/>
          <p:cNvSpPr txBox="1"/>
          <p:nvPr/>
        </p:nvSpPr>
        <p:spPr>
          <a:xfrm>
            <a:off x="548640" y="2971800"/>
            <a:ext cx="11094415" cy="731520"/>
          </a:xfrm>
          <a:prstGeom prst="rect">
            <a:avLst/>
          </a:prstGeom>
          <a:noFill/>
          <a:ln/>
        </p:spPr>
        <p:txBody>
          <a:bodyPr wrap="square" lIns="0" tIns="0" rIns="0" bIns="0" rtlCol="0" anchor="ctr"/>
          <a:lstStyle/>
          <a:p>
            <a:pPr algn="ctr" indent="0" marL="0">
              <a:buNone/>
            </a:pPr>
            <a:r>
              <a:rPr lang="en-US" sz="3800" b="1" dirty="0">
                <a:solidFill>
                  <a:srgbClr val="FFFFFF"/>
                </a:solidFill>
                <a:latin typeface="Arial" pitchFamily="34" charset="0"/>
                <a:ea typeface="Arial" pitchFamily="34" charset="-122"/>
                <a:cs typeface="Arial" pitchFamily="34" charset="-120"/>
              </a:rPr>
              <a:t>Hospitality Operations Intelligence</a:t>
            </a:r>
            <a:endParaRPr lang="en-US" sz="3800" dirty="0"/>
          </a:p>
        </p:txBody>
      </p:sp>
      <p:sp>
        <p:nvSpPr>
          <p:cNvPr id="4" name="Text 1"/>
          <p:cNvSpPr txBox="1"/>
          <p:nvPr/>
        </p:nvSpPr>
        <p:spPr>
          <a:xfrm>
            <a:off x="548640" y="3703320"/>
            <a:ext cx="11094415" cy="411480"/>
          </a:xfrm>
          <a:prstGeom prst="rect">
            <a:avLst/>
          </a:prstGeom>
          <a:noFill/>
          <a:ln/>
        </p:spPr>
        <p:txBody>
          <a:bodyPr wrap="square" lIns="0" tIns="0" rIns="0" bIns="0" rtlCol="0" anchor="t"/>
          <a:lstStyle/>
          <a:p>
            <a:pPr algn="ctr" indent="0" marL="0">
              <a:buNone/>
            </a:pPr>
            <a:r>
              <a:rPr lang="en-US" sz="1600" dirty="0">
                <a:solidFill>
                  <a:srgbClr val="A1A1AA"/>
                </a:solidFill>
                <a:latin typeface="Arial" pitchFamily="34" charset="0"/>
                <a:ea typeface="Arial" pitchFamily="34" charset="-122"/>
                <a:cs typeface="Arial" pitchFamily="34" charset="-120"/>
              </a:rPr>
              <a:t>A workforce-first AI platform for hotels, resorts and homestays</a:t>
            </a:r>
            <a:endParaRPr lang="en-US" sz="1600" dirty="0"/>
          </a:p>
        </p:txBody>
      </p:sp>
      <p:sp>
        <p:nvSpPr>
          <p:cNvPr id="5" name="Text 2"/>
          <p:cNvSpPr txBox="1"/>
          <p:nvPr/>
        </p:nvSpPr>
        <p:spPr>
          <a:xfrm>
            <a:off x="548640" y="4343400"/>
            <a:ext cx="11094415" cy="365760"/>
          </a:xfrm>
          <a:prstGeom prst="rect">
            <a:avLst/>
          </a:prstGeom>
          <a:noFill/>
          <a:ln/>
        </p:spPr>
        <p:txBody>
          <a:bodyPr wrap="square" lIns="0" tIns="0" rIns="0" bIns="0" rtlCol="0" anchor="t"/>
          <a:lstStyle/>
          <a:p>
            <a:pPr algn="ctr" indent="0" marL="0">
              <a:buNone/>
            </a:pPr>
            <a:r>
              <a:rPr lang="en-US" sz="1500" b="1" dirty="0">
                <a:solidFill>
                  <a:srgbClr val="8B8CF8"/>
                </a:solidFill>
                <a:latin typeface="Arial" pitchFamily="34" charset="0"/>
                <a:ea typeface="Arial" pitchFamily="34" charset="-122"/>
                <a:cs typeface="Arial" pitchFamily="34" charset="-120"/>
              </a:rPr>
              <a:t>Smarter hotels. Happier teams.</a:t>
            </a:r>
            <a:endParaRPr lang="en-US" sz="1500" dirty="0"/>
          </a:p>
        </p:txBody>
      </p:sp>
      <p:sp>
        <p:nvSpPr>
          <p:cNvPr id="6" name="Text 3"/>
          <p:cNvSpPr txBox="1"/>
          <p:nvPr/>
        </p:nvSpPr>
        <p:spPr>
          <a:xfrm>
            <a:off x="548640" y="5989320"/>
            <a:ext cx="11094415" cy="320040"/>
          </a:xfrm>
          <a:prstGeom prst="rect">
            <a:avLst/>
          </a:prstGeom>
          <a:noFill/>
          <a:ln/>
        </p:spPr>
        <p:txBody>
          <a:bodyPr wrap="square" lIns="0" tIns="0" rIns="0" bIns="0" rtlCol="0" anchor="t"/>
          <a:lstStyle/>
          <a:p>
            <a:pPr algn="ctr" indent="0" marL="0">
              <a:buNone/>
            </a:pPr>
            <a:r>
              <a:rPr lang="en-US" sz="1100" dirty="0">
                <a:solidFill>
                  <a:srgbClr val="71717A"/>
                </a:solidFill>
                <a:latin typeface="Arial" pitchFamily="34" charset="0"/>
                <a:ea typeface="Arial" pitchFamily="34" charset="-122"/>
                <a:cs typeface="Arial" pitchFamily="34" charset="-120"/>
              </a:rPr>
              <a:t>AI–Tourism Hackathon 2026  ·  Team Innov8  ·  TBI-GEU, Dehradun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Problem Statement</a:t>
            </a:r>
            <a:endParaRPr lang="en-US" sz="3000" dirty="0"/>
          </a:p>
        </p:txBody>
      </p:sp>
      <p:sp>
        <p:nvSpPr>
          <p:cNvPr id="3" name="Text 1"/>
          <p:cNvSpPr txBox="1"/>
          <p:nvPr/>
        </p:nvSpPr>
        <p:spPr>
          <a:xfrm>
            <a:off x="1645920" y="1417320"/>
            <a:ext cx="8899855"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India's hospitality sector was projected to be short of 1.1 million workers in 2025, and hotels still plan staff by hand.</a:t>
            </a:r>
            <a:endParaRPr lang="en-US" sz="2200" dirty="0"/>
          </a:p>
        </p:txBody>
      </p:sp>
      <p:sp>
        <p:nvSpPr>
          <p:cNvPr id="4" name="Text 2"/>
          <p:cNvSpPr txBox="1"/>
          <p:nvPr/>
        </p:nvSpPr>
        <p:spPr>
          <a:xfrm>
            <a:off x="1645920" y="2468880"/>
            <a:ext cx="8899855" cy="365760"/>
          </a:xfrm>
          <a:prstGeom prst="rect">
            <a:avLst/>
          </a:prstGeom>
          <a:noFill/>
          <a:ln/>
        </p:spPr>
        <p:txBody>
          <a:bodyPr wrap="square" lIns="0" tIns="0" rIns="0" bIns="0" rtlCol="0" anchor="t"/>
          <a:lstStyle/>
          <a:p>
            <a:pPr algn="ctr" indent="0" marL="0">
              <a:buNone/>
            </a:pPr>
            <a:r>
              <a:rPr lang="en-US" sz="1300" dirty="0">
                <a:solidFill>
                  <a:srgbClr val="A1A1AA"/>
                </a:solidFill>
                <a:latin typeface="Arial" pitchFamily="34" charset="0"/>
                <a:ea typeface="Arial" pitchFamily="34" charset="-122"/>
                <a:cs typeface="Arial" pitchFamily="34" charset="-120"/>
              </a:rPr>
              <a:t>Too few people. Too much overtime. Too late to notice who is leaving.</a:t>
            </a:r>
            <a:endParaRPr lang="en-US" sz="1300" dirty="0"/>
          </a:p>
        </p:txBody>
      </p:sp>
      <p:sp>
        <p:nvSpPr>
          <p:cNvPr id="5" name="Text 3"/>
          <p:cNvSpPr txBox="1"/>
          <p:nvPr/>
        </p:nvSpPr>
        <p:spPr>
          <a:xfrm>
            <a:off x="1234440" y="3474720"/>
            <a:ext cx="3058058"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Why</a:t>
            </a:r>
            <a:endParaRPr lang="en-US" sz="1800" dirty="0"/>
          </a:p>
        </p:txBody>
      </p:sp>
      <p:sp>
        <p:nvSpPr>
          <p:cNvPr id="6" name="Text 4"/>
          <p:cNvSpPr txBox="1"/>
          <p:nvPr/>
        </p:nvSpPr>
        <p:spPr>
          <a:xfrm>
            <a:off x="1325880" y="3977640"/>
            <a:ext cx="2875178"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Tourism comes in waves: Char Dham, summer, festivals. Small properties plan staff by memory or WhatsApp.</a:t>
            </a:r>
            <a:endParaRPr lang="en-US" sz="1150" dirty="0"/>
          </a:p>
        </p:txBody>
      </p:sp>
      <p:sp>
        <p:nvSpPr>
          <p:cNvPr id="7" name="Shape 5"/>
          <p:cNvSpPr/>
          <p:nvPr/>
        </p:nvSpPr>
        <p:spPr>
          <a:xfrm>
            <a:off x="4429658" y="3383280"/>
            <a:ext cx="0" cy="2103120"/>
          </a:xfrm>
          <a:prstGeom prst="line">
            <a:avLst/>
          </a:prstGeom>
          <a:noFill/>
          <a:ln w="9525">
            <a:solidFill>
              <a:srgbClr val="3F3F46"/>
            </a:solidFill>
            <a:prstDash val="solid"/>
          </a:ln>
        </p:spPr>
      </p:sp>
      <p:sp>
        <p:nvSpPr>
          <p:cNvPr id="8" name="Text 6"/>
          <p:cNvSpPr txBox="1"/>
          <p:nvPr/>
        </p:nvSpPr>
        <p:spPr>
          <a:xfrm>
            <a:off x="4566818" y="3474720"/>
            <a:ext cx="3058058"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What</a:t>
            </a:r>
            <a:endParaRPr lang="en-US" sz="1800" dirty="0"/>
          </a:p>
        </p:txBody>
      </p:sp>
      <p:sp>
        <p:nvSpPr>
          <p:cNvPr id="9" name="Text 7"/>
          <p:cNvSpPr txBox="1"/>
          <p:nvPr/>
        </p:nvSpPr>
        <p:spPr>
          <a:xfrm>
            <a:off x="4658258" y="3977640"/>
            <a:ext cx="2875178"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Predict the rush, plan fair shifts, send every job to the right phone, prove the work, flag who needs a talk.</a:t>
            </a:r>
            <a:endParaRPr lang="en-US" sz="1150" dirty="0"/>
          </a:p>
        </p:txBody>
      </p:sp>
      <p:sp>
        <p:nvSpPr>
          <p:cNvPr id="10" name="Shape 8"/>
          <p:cNvSpPr/>
          <p:nvPr/>
        </p:nvSpPr>
        <p:spPr>
          <a:xfrm>
            <a:off x="7762037" y="3383280"/>
            <a:ext cx="0" cy="2103120"/>
          </a:xfrm>
          <a:prstGeom prst="line">
            <a:avLst/>
          </a:prstGeom>
          <a:noFill/>
          <a:ln w="9525">
            <a:solidFill>
              <a:srgbClr val="3F3F46"/>
            </a:solidFill>
            <a:prstDash val="solid"/>
          </a:ln>
        </p:spPr>
      </p:sp>
      <p:sp>
        <p:nvSpPr>
          <p:cNvPr id="11" name="Text 9"/>
          <p:cNvSpPr txBox="1"/>
          <p:nvPr/>
        </p:nvSpPr>
        <p:spPr>
          <a:xfrm>
            <a:off x="7899197" y="3474720"/>
            <a:ext cx="3058058"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 whom</a:t>
            </a:r>
            <a:endParaRPr lang="en-US" sz="1800" dirty="0"/>
          </a:p>
        </p:txBody>
      </p:sp>
      <p:sp>
        <p:nvSpPr>
          <p:cNvPr id="12" name="Text 10"/>
          <p:cNvSpPr txBox="1"/>
          <p:nvPr/>
        </p:nvSpPr>
        <p:spPr>
          <a:xfrm>
            <a:off x="7990637" y="3977640"/>
            <a:ext cx="2875178"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Small hotels (10–40 rooms) and registered homestays in Uttarakhand, and the people who work in them.</a:t>
            </a:r>
            <a:endParaRPr lang="en-US" sz="1150" dirty="0"/>
          </a:p>
        </p:txBody>
      </p:sp>
      <p:sp>
        <p:nvSpPr>
          <p:cNvPr id="13" name="Text 11"/>
          <p:cNvSpPr txBox="1"/>
          <p:nvPr/>
        </p:nvSpPr>
        <p:spPr>
          <a:xfrm>
            <a:off x="548640" y="6263640"/>
            <a:ext cx="10545775" cy="274320"/>
          </a:xfrm>
          <a:prstGeom prst="rect">
            <a:avLst/>
          </a:prstGeom>
          <a:noFill/>
          <a:ln/>
        </p:spPr>
        <p:txBody>
          <a:bodyPr wrap="square" lIns="0" tIns="0" rIns="0" bIns="0" rtlCol="0" anchor="t"/>
          <a:lstStyle/>
          <a:p>
            <a:pPr algn="ctr" indent="0" marL="0">
              <a:buNone/>
            </a:pPr>
            <a:r>
              <a:rPr lang="en-US" sz="850" dirty="0">
                <a:solidFill>
                  <a:srgbClr val="71717A"/>
                </a:solidFill>
                <a:latin typeface="Arial" pitchFamily="34" charset="0"/>
                <a:ea typeface="Arial" pitchFamily="34" charset="-122"/>
                <a:cs typeface="Arial" pitchFamily="34" charset="-120"/>
              </a:rPr>
              <a:t>Sources: </a:t>
            </a:r>
            <a:pPr algn="ctr" indent="0" marL="0">
              <a:buNone/>
            </a:pPr>
            <a:r>
              <a:rPr lang="en-US" sz="850" u="sng" dirty="0">
                <a:solidFill>
                  <a:srgbClr val="818CF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HVS: Indian Hospitality Sector – Skill Shortage (Ministry of Tourism study)</a:t>
            </a:r>
            <a:endParaRPr lang="en-US" sz="85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Numbers</a:t>
            </a:r>
            <a:endParaRPr lang="en-US" sz="3000" dirty="0"/>
          </a:p>
        </p:txBody>
      </p:sp>
      <p:sp>
        <p:nvSpPr>
          <p:cNvPr id="3" name="Text 1"/>
          <p:cNvSpPr txBox="1"/>
          <p:nvPr/>
        </p:nvSpPr>
        <p:spPr>
          <a:xfrm>
            <a:off x="868680" y="178308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1.8×</a:t>
            </a:r>
            <a:endParaRPr lang="en-US" sz="4400" dirty="0"/>
          </a:p>
        </p:txBody>
      </p:sp>
      <p:sp>
        <p:nvSpPr>
          <p:cNvPr id="4" name="Text 2"/>
          <p:cNvSpPr txBox="1"/>
          <p:nvPr/>
        </p:nvSpPr>
        <p:spPr>
          <a:xfrm>
            <a:off x="868680" y="265176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Higher quit rate</a:t>
            </a:r>
            <a:endParaRPr lang="en-US" sz="1600" dirty="0"/>
          </a:p>
        </p:txBody>
      </p:sp>
      <p:sp>
        <p:nvSpPr>
          <p:cNvPr id="5" name="Text 3"/>
          <p:cNvSpPr txBox="1"/>
          <p:nvPr/>
        </p:nvSpPr>
        <p:spPr>
          <a:xfrm>
            <a:off x="960120" y="315468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Accommodation and food workers quit at 3.5% a month vs 1.9% for all industries (US)</a:t>
            </a:r>
            <a:endParaRPr lang="en-US" sz="1150" dirty="0"/>
          </a:p>
        </p:txBody>
      </p:sp>
      <p:sp>
        <p:nvSpPr>
          <p:cNvPr id="6" name="Shape 4"/>
          <p:cNvSpPr/>
          <p:nvPr/>
        </p:nvSpPr>
        <p:spPr>
          <a:xfrm>
            <a:off x="3413684" y="1691640"/>
            <a:ext cx="0" cy="3291840"/>
          </a:xfrm>
          <a:prstGeom prst="line">
            <a:avLst/>
          </a:prstGeom>
          <a:noFill/>
          <a:ln w="9525">
            <a:solidFill>
              <a:srgbClr val="3F3F46"/>
            </a:solidFill>
            <a:prstDash val="solid"/>
          </a:ln>
        </p:spPr>
      </p:sp>
      <p:sp>
        <p:nvSpPr>
          <p:cNvPr id="7" name="Text 5"/>
          <p:cNvSpPr txBox="1"/>
          <p:nvPr/>
        </p:nvSpPr>
        <p:spPr>
          <a:xfrm>
            <a:off x="3550844" y="178308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51 lakh</a:t>
            </a:r>
            <a:endParaRPr lang="en-US" sz="4400" dirty="0"/>
          </a:p>
        </p:txBody>
      </p:sp>
      <p:sp>
        <p:nvSpPr>
          <p:cNvPr id="8" name="Text 6"/>
          <p:cNvSpPr txBox="1"/>
          <p:nvPr/>
        </p:nvSpPr>
        <p:spPr>
          <a:xfrm>
            <a:off x="3550844" y="265176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Char Dham pilgrims</a:t>
            </a:r>
            <a:endParaRPr lang="en-US" sz="1600" dirty="0"/>
          </a:p>
        </p:txBody>
      </p:sp>
      <p:sp>
        <p:nvSpPr>
          <p:cNvPr id="9" name="Text 7"/>
          <p:cNvSpPr txBox="1"/>
          <p:nvPr/>
        </p:nvSpPr>
        <p:spPr>
          <a:xfrm>
            <a:off x="3642284" y="315468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Record Char Dham season in 2025</a:t>
            </a:r>
            <a:endParaRPr lang="en-US" sz="1150" dirty="0"/>
          </a:p>
        </p:txBody>
      </p:sp>
      <p:sp>
        <p:nvSpPr>
          <p:cNvPr id="10" name="Shape 8"/>
          <p:cNvSpPr/>
          <p:nvPr/>
        </p:nvSpPr>
        <p:spPr>
          <a:xfrm>
            <a:off x="6095848" y="1691640"/>
            <a:ext cx="0" cy="3291840"/>
          </a:xfrm>
          <a:prstGeom prst="line">
            <a:avLst/>
          </a:prstGeom>
          <a:noFill/>
          <a:ln w="9525">
            <a:solidFill>
              <a:srgbClr val="3F3F46"/>
            </a:solidFill>
            <a:prstDash val="solid"/>
          </a:ln>
        </p:spPr>
      </p:sp>
      <p:sp>
        <p:nvSpPr>
          <p:cNvPr id="11" name="Text 9"/>
          <p:cNvSpPr txBox="1"/>
          <p:nvPr/>
        </p:nvSpPr>
        <p:spPr>
          <a:xfrm>
            <a:off x="6233008" y="178308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65%</a:t>
            </a:r>
            <a:endParaRPr lang="en-US" sz="4400" dirty="0"/>
          </a:p>
        </p:txBody>
      </p:sp>
      <p:sp>
        <p:nvSpPr>
          <p:cNvPr id="12" name="Text 10"/>
          <p:cNvSpPr txBox="1"/>
          <p:nvPr/>
        </p:nvSpPr>
        <p:spPr>
          <a:xfrm>
            <a:off x="6233008" y="265176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Arrived by June</a:t>
            </a:r>
            <a:endParaRPr lang="en-US" sz="1600" dirty="0"/>
          </a:p>
        </p:txBody>
      </p:sp>
      <p:sp>
        <p:nvSpPr>
          <p:cNvPr id="13" name="Text 11"/>
          <p:cNvSpPr txBox="1"/>
          <p:nvPr/>
        </p:nvSpPr>
        <p:spPr>
          <a:xfrm>
            <a:off x="6324448" y="315468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33 of 51 lakh pilgrims came by 24 June: the rush comes early</a:t>
            </a:r>
            <a:endParaRPr lang="en-US" sz="1150" dirty="0"/>
          </a:p>
        </p:txBody>
      </p:sp>
      <p:sp>
        <p:nvSpPr>
          <p:cNvPr id="14" name="Shape 12"/>
          <p:cNvSpPr/>
          <p:nvPr/>
        </p:nvSpPr>
        <p:spPr>
          <a:xfrm>
            <a:off x="8778011" y="1691640"/>
            <a:ext cx="0" cy="3291840"/>
          </a:xfrm>
          <a:prstGeom prst="line">
            <a:avLst/>
          </a:prstGeom>
          <a:noFill/>
          <a:ln w="9525">
            <a:solidFill>
              <a:srgbClr val="3F3F46"/>
            </a:solidFill>
            <a:prstDash val="solid"/>
          </a:ln>
        </p:spPr>
      </p:sp>
      <p:sp>
        <p:nvSpPr>
          <p:cNvPr id="15" name="Text 13"/>
          <p:cNvSpPr txBox="1"/>
          <p:nvPr/>
        </p:nvSpPr>
        <p:spPr>
          <a:xfrm>
            <a:off x="8915171" y="1783080"/>
            <a:ext cx="2407844" cy="822960"/>
          </a:xfrm>
          <a:prstGeom prst="rect">
            <a:avLst/>
          </a:prstGeom>
          <a:noFill/>
          <a:ln/>
        </p:spPr>
        <p:txBody>
          <a:bodyPr wrap="square" lIns="0" tIns="0" rIns="0" bIns="0" rtlCol="0" anchor="ctr"/>
          <a:lstStyle/>
          <a:p>
            <a:pPr algn="ctr" indent="0" marL="0">
              <a:buNone/>
            </a:pPr>
            <a:r>
              <a:rPr lang="en-US" sz="4400" b="1" dirty="0">
                <a:solidFill>
                  <a:srgbClr val="8B8CF8"/>
                </a:solidFill>
                <a:latin typeface="Arial" pitchFamily="34" charset="0"/>
                <a:ea typeface="Arial" pitchFamily="34" charset="-122"/>
                <a:cs typeface="Arial" pitchFamily="34" charset="-120"/>
              </a:rPr>
              <a:t>5,000+</a:t>
            </a:r>
            <a:endParaRPr lang="en-US" sz="4400" dirty="0"/>
          </a:p>
        </p:txBody>
      </p:sp>
      <p:sp>
        <p:nvSpPr>
          <p:cNvPr id="16" name="Text 14"/>
          <p:cNvSpPr txBox="1"/>
          <p:nvPr/>
        </p:nvSpPr>
        <p:spPr>
          <a:xfrm>
            <a:off x="8915171" y="265176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Registered homestays</a:t>
            </a:r>
            <a:endParaRPr lang="en-US" sz="1600" dirty="0"/>
          </a:p>
        </p:txBody>
      </p:sp>
      <p:sp>
        <p:nvSpPr>
          <p:cNvPr id="17" name="Text 15"/>
          <p:cNvSpPr txBox="1"/>
          <p:nvPr/>
        </p:nvSpPr>
        <p:spPr>
          <a:xfrm>
            <a:off x="9006611" y="315468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In Uttarakhand, most run by a family with a few helpers</a:t>
            </a:r>
            <a:endParaRPr lang="en-US" sz="1150" dirty="0"/>
          </a:p>
        </p:txBody>
      </p:sp>
      <p:sp>
        <p:nvSpPr>
          <p:cNvPr id="18" name="Text 16"/>
          <p:cNvSpPr txBox="1"/>
          <p:nvPr/>
        </p:nvSpPr>
        <p:spPr>
          <a:xfrm>
            <a:off x="548640" y="6263640"/>
            <a:ext cx="10545775" cy="274320"/>
          </a:xfrm>
          <a:prstGeom prst="rect">
            <a:avLst/>
          </a:prstGeom>
          <a:noFill/>
          <a:ln/>
        </p:spPr>
        <p:txBody>
          <a:bodyPr wrap="square" lIns="0" tIns="0" rIns="0" bIns="0" rtlCol="0" anchor="t"/>
          <a:lstStyle/>
          <a:p>
            <a:pPr algn="ctr" indent="0" marL="0">
              <a:buNone/>
            </a:pPr>
            <a:r>
              <a:rPr lang="en-US" sz="850" dirty="0">
                <a:solidFill>
                  <a:srgbClr val="71717A"/>
                </a:solidFill>
                <a:latin typeface="Arial" pitchFamily="34" charset="0"/>
                <a:ea typeface="Arial" pitchFamily="34" charset="-122"/>
                <a:cs typeface="Arial" pitchFamily="34" charset="-120"/>
              </a:rPr>
              <a:t>Sources: </a:t>
            </a:r>
            <a:pPr algn="ctr" indent="0" marL="0">
              <a:buNone/>
            </a:pPr>
            <a:r>
              <a:rPr lang="en-US" sz="850" u="sng" dirty="0">
                <a:solidFill>
                  <a:srgbClr val="818CF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 BLS, JOLTS Table 4</a:t>
            </a:r>
            <a:pPr algn="ctr" indent="0" marL="0">
              <a:buNone/>
            </a:pPr>
            <a:r>
              <a:rPr lang="en-US" sz="850" dirty="0">
                <a:solidFill>
                  <a:srgbClr val="71717A"/>
                </a:solidFill>
                <a:latin typeface="Arial" pitchFamily="34" charset="0"/>
                <a:ea typeface="Arial" pitchFamily="34" charset="-122"/>
                <a:cs typeface="Arial" pitchFamily="34" charset="-120"/>
              </a:rPr>
              <a:t>  ·  </a:t>
            </a:r>
            <a:pPr algn="ctr" indent="0" marL="0">
              <a:buNone/>
            </a:pPr>
            <a:r>
              <a:rPr lang="en-US" sz="850" u="sng" dirty="0">
                <a:solidFill>
                  <a:srgbClr val="818CF8"/>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 India Radio: 51 lakh pilgrims</a:t>
            </a:r>
            <a:pPr algn="ctr" indent="0" marL="0">
              <a:buNone/>
            </a:pPr>
            <a:r>
              <a:rPr lang="en-US" sz="850" dirty="0">
                <a:solidFill>
                  <a:srgbClr val="71717A"/>
                </a:solidFill>
                <a:latin typeface="Arial" pitchFamily="34" charset="0"/>
                <a:ea typeface="Arial" pitchFamily="34" charset="-122"/>
                <a:cs typeface="Arial" pitchFamily="34" charset="-120"/>
              </a:rPr>
              <a:t>  ·  </a:t>
            </a:r>
            <a:pPr algn="ctr" indent="0" marL="0">
              <a:buNone/>
            </a:pPr>
            <a:r>
              <a:rPr lang="en-US" sz="850" u="sng" dirty="0">
                <a:solidFill>
                  <a:srgbClr val="818CF8"/>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Week, 24 June 2025</a:t>
            </a:r>
            <a:pPr algn="ctr" indent="0" marL="0">
              <a:buNone/>
            </a:pPr>
            <a:r>
              <a:rPr lang="en-US" sz="850" dirty="0">
                <a:solidFill>
                  <a:srgbClr val="71717A"/>
                </a:solidFill>
                <a:latin typeface="Arial" pitchFamily="34" charset="0"/>
                <a:ea typeface="Arial" pitchFamily="34" charset="-122"/>
                <a:cs typeface="Arial" pitchFamily="34" charset="-120"/>
              </a:rPr>
              <a:t>  ·  </a:t>
            </a:r>
            <a:pPr algn="ctr" indent="0" marL="0">
              <a:buNone/>
            </a:pPr>
            <a:r>
              <a:rPr lang="en-US" sz="850" u="sng" dirty="0">
                <a:solidFill>
                  <a:srgbClr val="818CF8"/>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ETV Bharat, 20 May 2026</a:t>
            </a:r>
            <a:endParaRPr lang="en-US" sz="85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Who Pays, Who Uses</a:t>
            </a:r>
            <a:endParaRPr lang="en-US" sz="3000" dirty="0"/>
          </a:p>
        </p:txBody>
      </p:sp>
      <p:sp>
        <p:nvSpPr>
          <p:cNvPr id="3" name="Text 1"/>
          <p:cNvSpPr txBox="1"/>
          <p:nvPr/>
        </p:nvSpPr>
        <p:spPr>
          <a:xfrm>
            <a:off x="1371600" y="1188720"/>
            <a:ext cx="9448495" cy="411480"/>
          </a:xfrm>
          <a:prstGeom prst="rect">
            <a:avLst/>
          </a:prstGeom>
          <a:noFill/>
          <a:ln/>
        </p:spPr>
        <p:txBody>
          <a:bodyPr wrap="square" lIns="0" tIns="0" rIns="0" bIns="0" rtlCol="0" anchor="ctr"/>
          <a:lstStyle/>
          <a:p>
            <a:pPr algn="ctr" indent="0" marL="0">
              <a:buNone/>
            </a:pPr>
            <a:r>
              <a:rPr lang="en-US" sz="1400" dirty="0">
                <a:solidFill>
                  <a:srgbClr val="A1A1AA"/>
                </a:solidFill>
                <a:latin typeface="Arial" pitchFamily="34" charset="0"/>
                <a:ea typeface="Arial" pitchFamily="34" charset="-122"/>
                <a:cs typeface="Arial" pitchFamily="34" charset="-120"/>
              </a:rPr>
              <a:t>The owner pays and can buy it for themselves. Everyone else uses it free, on any phone, in Hindi.</a:t>
            </a:r>
            <a:endParaRPr lang="en-US" sz="1400" dirty="0"/>
          </a:p>
        </p:txBody>
      </p:sp>
      <p:pic>
        <p:nvPicPr>
          <p:cNvPr id="4" name="Image 0" descr="C:\Users\ashut\AppData\Local\Temp\claude\c--Users-ashut-Downloads-INNOV8\a05e3449-b391-4de7-b995-d2f2810b4436\scratchpad\refdeck\media\image3.png">    </p:cNvPr>
          <p:cNvPicPr>
            <a:picLocks noChangeAspect="1"/>
          </p:cNvPicPr>
          <p:nvPr/>
        </p:nvPicPr>
        <p:blipFill>
          <a:blip r:embed="rId1"/>
          <a:stretch>
            <a:fillRect/>
          </a:stretch>
        </p:blipFill>
        <p:spPr>
          <a:xfrm>
            <a:off x="1520922" y="2057400"/>
            <a:ext cx="566928" cy="566928"/>
          </a:xfrm>
          <a:prstGeom prst="rect">
            <a:avLst/>
          </a:prstGeom>
        </p:spPr>
      </p:pic>
      <p:sp>
        <p:nvSpPr>
          <p:cNvPr id="5" name="Text 2"/>
          <p:cNvSpPr txBox="1"/>
          <p:nvPr/>
        </p:nvSpPr>
        <p:spPr>
          <a:xfrm>
            <a:off x="868680" y="2852928"/>
            <a:ext cx="1871411"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Owners &amp; GMs</a:t>
            </a:r>
            <a:endParaRPr lang="en-US" sz="1500" dirty="0"/>
          </a:p>
        </p:txBody>
      </p:sp>
      <p:sp>
        <p:nvSpPr>
          <p:cNvPr id="6" name="Text 3"/>
          <p:cNvSpPr txBox="1"/>
          <p:nvPr/>
        </p:nvSpPr>
        <p:spPr>
          <a:xfrm>
            <a:off x="868680" y="3310128"/>
            <a:ext cx="1871411"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Customer · pays</a:t>
            </a:r>
            <a:endParaRPr lang="en-US" sz="1250" dirty="0"/>
          </a:p>
        </p:txBody>
      </p:sp>
      <p:sp>
        <p:nvSpPr>
          <p:cNvPr id="7" name="Text 4"/>
          <p:cNvSpPr txBox="1"/>
          <p:nvPr/>
        </p:nvSpPr>
        <p:spPr>
          <a:xfrm>
            <a:off x="960120" y="3721608"/>
            <a:ext cx="1688531"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Is today OK? Rush forecast, shift plan, who may leave.</a:t>
            </a:r>
            <a:endParaRPr lang="en-US" sz="1150" dirty="0"/>
          </a:p>
        </p:txBody>
      </p:sp>
      <p:sp>
        <p:nvSpPr>
          <p:cNvPr id="8" name="Shape 5"/>
          <p:cNvSpPr/>
          <p:nvPr/>
        </p:nvSpPr>
        <p:spPr>
          <a:xfrm>
            <a:off x="2877251" y="1965960"/>
            <a:ext cx="0" cy="3566160"/>
          </a:xfrm>
          <a:prstGeom prst="line">
            <a:avLst/>
          </a:prstGeom>
          <a:noFill/>
          <a:ln w="9525">
            <a:solidFill>
              <a:srgbClr val="3F3F46"/>
            </a:solidFill>
            <a:prstDash val="solid"/>
          </a:ln>
        </p:spPr>
      </p:sp>
      <p:pic>
        <p:nvPicPr>
          <p:cNvPr id="9" name="Image 1" descr="C:\Users\ashut\AppData\Local\Temp\claude\c--Users-ashut-Downloads-INNOV8\a05e3449-b391-4de7-b995-d2f2810b4436\scratchpad\refdeck\media\image4.png">    </p:cNvPr>
          <p:cNvPicPr>
            <a:picLocks noChangeAspect="1"/>
          </p:cNvPicPr>
          <p:nvPr/>
        </p:nvPicPr>
        <p:blipFill>
          <a:blip r:embed="rId2"/>
          <a:stretch>
            <a:fillRect/>
          </a:stretch>
        </p:blipFill>
        <p:spPr>
          <a:xfrm>
            <a:off x="3666653" y="2057400"/>
            <a:ext cx="566928" cy="566928"/>
          </a:xfrm>
          <a:prstGeom prst="rect">
            <a:avLst/>
          </a:prstGeom>
        </p:spPr>
      </p:pic>
      <p:sp>
        <p:nvSpPr>
          <p:cNvPr id="10" name="Text 6"/>
          <p:cNvSpPr txBox="1"/>
          <p:nvPr/>
        </p:nvSpPr>
        <p:spPr>
          <a:xfrm>
            <a:off x="3014411" y="2852928"/>
            <a:ext cx="1871411"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Department Heads</a:t>
            </a:r>
            <a:endParaRPr lang="en-US" sz="1500" dirty="0"/>
          </a:p>
        </p:txBody>
      </p:sp>
      <p:sp>
        <p:nvSpPr>
          <p:cNvPr id="11" name="Text 7"/>
          <p:cNvSpPr txBox="1"/>
          <p:nvPr/>
        </p:nvSpPr>
        <p:spPr>
          <a:xfrm>
            <a:off x="3014411" y="3310128"/>
            <a:ext cx="1871411"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User</a:t>
            </a:r>
            <a:endParaRPr lang="en-US" sz="1250" dirty="0"/>
          </a:p>
        </p:txBody>
      </p:sp>
      <p:sp>
        <p:nvSpPr>
          <p:cNvPr id="12" name="Text 8"/>
          <p:cNvSpPr txBox="1"/>
          <p:nvPr/>
        </p:nvSpPr>
        <p:spPr>
          <a:xfrm>
            <a:off x="3105851" y="3721608"/>
            <a:ext cx="1688531"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Their team's jobs and people only; pay stays private.</a:t>
            </a:r>
            <a:endParaRPr lang="en-US" sz="1150" dirty="0"/>
          </a:p>
        </p:txBody>
      </p:sp>
      <p:sp>
        <p:nvSpPr>
          <p:cNvPr id="13" name="Shape 9"/>
          <p:cNvSpPr/>
          <p:nvPr/>
        </p:nvSpPr>
        <p:spPr>
          <a:xfrm>
            <a:off x="5022982" y="1965960"/>
            <a:ext cx="0" cy="3566160"/>
          </a:xfrm>
          <a:prstGeom prst="line">
            <a:avLst/>
          </a:prstGeom>
          <a:noFill/>
          <a:ln w="9525">
            <a:solidFill>
              <a:srgbClr val="3F3F46"/>
            </a:solidFill>
            <a:prstDash val="solid"/>
          </a:ln>
        </p:spPr>
      </p:sp>
      <p:pic>
        <p:nvPicPr>
          <p:cNvPr id="14" name="Image 2" descr="C:\Users\ashut\AppData\Local\Temp\claude\c--Users-ashut-Downloads-INNOV8\a05e3449-b391-4de7-b995-d2f2810b4436\scratchpad\refdeck\media\image5.png">    </p:cNvPr>
          <p:cNvPicPr>
            <a:picLocks noChangeAspect="1"/>
          </p:cNvPicPr>
          <p:nvPr/>
        </p:nvPicPr>
        <p:blipFill>
          <a:blip r:embed="rId3"/>
          <a:stretch>
            <a:fillRect/>
          </a:stretch>
        </p:blipFill>
        <p:spPr>
          <a:xfrm>
            <a:off x="5812384" y="2057400"/>
            <a:ext cx="566928" cy="566928"/>
          </a:xfrm>
          <a:prstGeom prst="rect">
            <a:avLst/>
          </a:prstGeom>
        </p:spPr>
      </p:pic>
      <p:sp>
        <p:nvSpPr>
          <p:cNvPr id="15" name="Text 10"/>
          <p:cNvSpPr txBox="1"/>
          <p:nvPr/>
        </p:nvSpPr>
        <p:spPr>
          <a:xfrm>
            <a:off x="5160142" y="2852928"/>
            <a:ext cx="1871411"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Staff &amp; Guests</a:t>
            </a:r>
            <a:endParaRPr lang="en-US" sz="1500" dirty="0"/>
          </a:p>
        </p:txBody>
      </p:sp>
      <p:sp>
        <p:nvSpPr>
          <p:cNvPr id="16" name="Text 11"/>
          <p:cNvSpPr txBox="1"/>
          <p:nvPr/>
        </p:nvSpPr>
        <p:spPr>
          <a:xfrm>
            <a:off x="5160142" y="3310128"/>
            <a:ext cx="1871411"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Users · free</a:t>
            </a:r>
            <a:endParaRPr lang="en-US" sz="1250" dirty="0"/>
          </a:p>
        </p:txBody>
      </p:sp>
      <p:sp>
        <p:nvSpPr>
          <p:cNvPr id="17" name="Text 12"/>
          <p:cNvSpPr txBox="1"/>
          <p:nvPr/>
        </p:nvSpPr>
        <p:spPr>
          <a:xfrm>
            <a:off x="5251582" y="3721608"/>
            <a:ext cx="1688531"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One job, one button, Hindi voice. Guests ask from the room QR.</a:t>
            </a:r>
            <a:endParaRPr lang="en-US" sz="1150" dirty="0"/>
          </a:p>
        </p:txBody>
      </p:sp>
      <p:sp>
        <p:nvSpPr>
          <p:cNvPr id="18" name="Shape 13"/>
          <p:cNvSpPr/>
          <p:nvPr/>
        </p:nvSpPr>
        <p:spPr>
          <a:xfrm>
            <a:off x="7168713" y="1965960"/>
            <a:ext cx="0" cy="3566160"/>
          </a:xfrm>
          <a:prstGeom prst="line">
            <a:avLst/>
          </a:prstGeom>
          <a:noFill/>
          <a:ln w="9525">
            <a:solidFill>
              <a:srgbClr val="3F3F46"/>
            </a:solidFill>
            <a:prstDash val="solid"/>
          </a:ln>
        </p:spPr>
      </p:sp>
      <p:pic>
        <p:nvPicPr>
          <p:cNvPr id="19" name="Image 3" descr="C:\Users\ashut\AppData\Local\Temp\claude\c--Users-ashut-Downloads-INNOV8\a05e3449-b391-4de7-b995-d2f2810b4436\scratchpad\refdeck\media\image10.png">    </p:cNvPr>
          <p:cNvPicPr>
            <a:picLocks noChangeAspect="1"/>
          </p:cNvPicPr>
          <p:nvPr/>
        </p:nvPicPr>
        <p:blipFill>
          <a:blip r:embed="rId4"/>
          <a:stretch>
            <a:fillRect/>
          </a:stretch>
        </p:blipFill>
        <p:spPr>
          <a:xfrm>
            <a:off x="7958115" y="2057400"/>
            <a:ext cx="566928" cy="566928"/>
          </a:xfrm>
          <a:prstGeom prst="rect">
            <a:avLst/>
          </a:prstGeom>
        </p:spPr>
      </p:pic>
      <p:sp>
        <p:nvSpPr>
          <p:cNvPr id="20" name="Text 14"/>
          <p:cNvSpPr txBox="1"/>
          <p:nvPr/>
        </p:nvSpPr>
        <p:spPr>
          <a:xfrm>
            <a:off x="7305873" y="2852928"/>
            <a:ext cx="1871411"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Tourists &amp; State</a:t>
            </a:r>
            <a:endParaRPr lang="en-US" sz="1500" dirty="0"/>
          </a:p>
        </p:txBody>
      </p:sp>
      <p:sp>
        <p:nvSpPr>
          <p:cNvPr id="21" name="Text 15"/>
          <p:cNvSpPr txBox="1"/>
          <p:nvPr/>
        </p:nvSpPr>
        <p:spPr>
          <a:xfrm>
            <a:off x="7305873" y="3310128"/>
            <a:ext cx="1871411"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Users · free</a:t>
            </a:r>
            <a:endParaRPr lang="en-US" sz="1250" dirty="0"/>
          </a:p>
        </p:txBody>
      </p:sp>
      <p:sp>
        <p:nvSpPr>
          <p:cNvPr id="22" name="Text 16"/>
          <p:cNvSpPr txBox="1"/>
          <p:nvPr/>
        </p:nvSpPr>
        <p:spPr>
          <a:xfrm>
            <a:off x="7397313" y="3721608"/>
            <a:ext cx="1688531"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Travel guide: crowds, roads, verified stays, seasonal jobs.</a:t>
            </a:r>
            <a:endParaRPr lang="en-US" sz="1150" dirty="0"/>
          </a:p>
        </p:txBody>
      </p:sp>
      <p:sp>
        <p:nvSpPr>
          <p:cNvPr id="23" name="Shape 17"/>
          <p:cNvSpPr/>
          <p:nvPr/>
        </p:nvSpPr>
        <p:spPr>
          <a:xfrm>
            <a:off x="9314444" y="1965960"/>
            <a:ext cx="0" cy="3566160"/>
          </a:xfrm>
          <a:prstGeom prst="line">
            <a:avLst/>
          </a:prstGeom>
          <a:noFill/>
          <a:ln w="9525">
            <a:solidFill>
              <a:srgbClr val="3F3F46"/>
            </a:solidFill>
            <a:prstDash val="solid"/>
          </a:ln>
        </p:spPr>
      </p:sp>
      <p:pic>
        <p:nvPicPr>
          <p:cNvPr id="24" name="Image 4" descr="C:\Users\ashut\AppData\Local\Temp\claude\c--Users-ashut-Downloads-INNOV8\a05e3449-b391-4de7-b995-d2f2810b4436\scratchpad\refdeck\media\image6.png">    </p:cNvPr>
          <p:cNvPicPr>
            <a:picLocks noChangeAspect="1"/>
          </p:cNvPicPr>
          <p:nvPr/>
        </p:nvPicPr>
        <p:blipFill>
          <a:blip r:embed="rId5"/>
          <a:stretch>
            <a:fillRect/>
          </a:stretch>
        </p:blipFill>
        <p:spPr>
          <a:xfrm>
            <a:off x="10103846" y="2057400"/>
            <a:ext cx="566928" cy="566928"/>
          </a:xfrm>
          <a:prstGeom prst="rect">
            <a:avLst/>
          </a:prstGeom>
        </p:spPr>
      </p:pic>
      <p:sp>
        <p:nvSpPr>
          <p:cNvPr id="25" name="Text 18"/>
          <p:cNvSpPr txBox="1"/>
          <p:nvPr/>
        </p:nvSpPr>
        <p:spPr>
          <a:xfrm>
            <a:off x="9451604" y="2852928"/>
            <a:ext cx="1871411"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Job Seekers &amp; Agencies</a:t>
            </a:r>
            <a:endParaRPr lang="en-US" sz="1500" dirty="0"/>
          </a:p>
        </p:txBody>
      </p:sp>
      <p:sp>
        <p:nvSpPr>
          <p:cNvPr id="26" name="Text 19"/>
          <p:cNvSpPr txBox="1"/>
          <p:nvPr/>
        </p:nvSpPr>
        <p:spPr>
          <a:xfrm>
            <a:off x="9451604" y="3310128"/>
            <a:ext cx="1871411"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Users · free</a:t>
            </a:r>
            <a:endParaRPr lang="en-US" sz="1250" dirty="0"/>
          </a:p>
        </p:txBody>
      </p:sp>
      <p:sp>
        <p:nvSpPr>
          <p:cNvPr id="27" name="Text 20"/>
          <p:cNvSpPr txBox="1"/>
          <p:nvPr/>
        </p:nvSpPr>
        <p:spPr>
          <a:xfrm>
            <a:off x="9543044" y="3721608"/>
            <a:ext cx="1688531"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Seasonal work that fits; urgent requests from hotels.</a:t>
            </a:r>
            <a:endParaRPr lang="en-US" sz="115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One Closed Loop</a:t>
            </a:r>
            <a:endParaRPr lang="en-US" sz="3000" dirty="0"/>
          </a:p>
        </p:txBody>
      </p:sp>
      <p:sp>
        <p:nvSpPr>
          <p:cNvPr id="3" name="Text 1"/>
          <p:cNvSpPr txBox="1"/>
          <p:nvPr/>
        </p:nvSpPr>
        <p:spPr>
          <a:xfrm>
            <a:off x="1371600" y="1188720"/>
            <a:ext cx="9448495" cy="411480"/>
          </a:xfrm>
          <a:prstGeom prst="rect">
            <a:avLst/>
          </a:prstGeom>
          <a:noFill/>
          <a:ln/>
        </p:spPr>
        <p:txBody>
          <a:bodyPr wrap="square" lIns="0" tIns="0" rIns="0" bIns="0" rtlCol="0" anchor="ctr"/>
          <a:lstStyle/>
          <a:p>
            <a:pPr algn="ctr" indent="0" marL="0">
              <a:buNone/>
            </a:pPr>
            <a:r>
              <a:rPr lang="en-US" sz="1400" dirty="0">
                <a:solidFill>
                  <a:srgbClr val="A1A1AA"/>
                </a:solidFill>
                <a:latin typeface="Arial" pitchFamily="34" charset="0"/>
                <a:ea typeface="Arial" pitchFamily="34" charset="-122"/>
                <a:cs typeface="Arial" pitchFamily="34" charset="-120"/>
              </a:rPr>
              <a:t>One system, five simple apps: owner portal · staff app · guest QR page · travel guide · HOI console</a:t>
            </a:r>
            <a:endParaRPr lang="en-US" sz="1400" dirty="0"/>
          </a:p>
        </p:txBody>
      </p:sp>
      <p:sp>
        <p:nvSpPr>
          <p:cNvPr id="4" name="Shape 2"/>
          <p:cNvSpPr/>
          <p:nvPr/>
        </p:nvSpPr>
        <p:spPr>
          <a:xfrm>
            <a:off x="714604" y="2148840"/>
            <a:ext cx="1874520" cy="2240280"/>
          </a:xfrm>
          <a:prstGeom prst="roundRect">
            <a:avLst>
              <a:gd name="adj" fmla="val 5854"/>
            </a:avLst>
          </a:prstGeom>
          <a:solidFill>
            <a:srgbClr val="18181B"/>
          </a:solidFill>
          <a:ln w="9525">
            <a:solidFill>
              <a:srgbClr val="27272A"/>
            </a:solidFill>
            <a:prstDash val="solid"/>
          </a:ln>
        </p:spPr>
      </p:sp>
      <p:pic>
        <p:nvPicPr>
          <p:cNvPr id="5" name="Image 0" descr="C:\Users\ashut\AppData\Local\Temp\claude\c--Users-ashut-Downloads-INNOV8\a05e3449-b391-4de7-b995-d2f2810b4436\scratchpad\refdeck\media\image8.png">    </p:cNvPr>
          <p:cNvPicPr>
            <a:picLocks noChangeAspect="1"/>
          </p:cNvPicPr>
          <p:nvPr/>
        </p:nvPicPr>
        <p:blipFill>
          <a:blip r:embed="rId1"/>
          <a:stretch>
            <a:fillRect/>
          </a:stretch>
        </p:blipFill>
        <p:spPr>
          <a:xfrm>
            <a:off x="1400404" y="2377440"/>
            <a:ext cx="502920" cy="502920"/>
          </a:xfrm>
          <a:prstGeom prst="rect">
            <a:avLst/>
          </a:prstGeom>
        </p:spPr>
      </p:pic>
      <p:sp>
        <p:nvSpPr>
          <p:cNvPr id="6" name="Text 3"/>
          <p:cNvSpPr txBox="1"/>
          <p:nvPr/>
        </p:nvSpPr>
        <p:spPr>
          <a:xfrm>
            <a:off x="714604" y="3063240"/>
            <a:ext cx="18745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Forecast</a:t>
            </a:r>
            <a:endParaRPr lang="en-US" sz="1600" dirty="0"/>
          </a:p>
        </p:txBody>
      </p:sp>
      <p:sp>
        <p:nvSpPr>
          <p:cNvPr id="7" name="Text 4"/>
          <p:cNvSpPr txBox="1"/>
          <p:nvPr/>
        </p:nvSpPr>
        <p:spPr>
          <a:xfrm>
            <a:off x="851764" y="3474720"/>
            <a:ext cx="1600200" cy="7315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How full we'll be</a:t>
            </a:r>
            <a:endParaRPr lang="en-US" sz="1100" dirty="0"/>
          </a:p>
        </p:txBody>
      </p:sp>
      <p:pic>
        <p:nvPicPr>
          <p:cNvPr id="8" name="Image 1" descr="C:\Users\ashut\AppData\Local\Temp\claude\c--Users-ashut-Downloads-INNOV8\a05e3449-b391-4de7-b995-d2f2810b4436\scratchpad\refdeck\media\image7.png">    </p:cNvPr>
          <p:cNvPicPr>
            <a:picLocks noChangeAspect="1"/>
          </p:cNvPicPr>
          <p:nvPr/>
        </p:nvPicPr>
        <p:blipFill>
          <a:blip r:embed="rId2"/>
          <a:stretch>
            <a:fillRect/>
          </a:stretch>
        </p:blipFill>
        <p:spPr>
          <a:xfrm>
            <a:off x="2653132" y="3154680"/>
            <a:ext cx="219456" cy="219456"/>
          </a:xfrm>
          <a:prstGeom prst="rect">
            <a:avLst/>
          </a:prstGeom>
        </p:spPr>
      </p:pic>
      <p:sp>
        <p:nvSpPr>
          <p:cNvPr id="9" name="Shape 5"/>
          <p:cNvSpPr/>
          <p:nvPr/>
        </p:nvSpPr>
        <p:spPr>
          <a:xfrm>
            <a:off x="2936596" y="2148840"/>
            <a:ext cx="1874520" cy="2240280"/>
          </a:xfrm>
          <a:prstGeom prst="roundRect">
            <a:avLst>
              <a:gd name="adj" fmla="val 5854"/>
            </a:avLst>
          </a:prstGeom>
          <a:solidFill>
            <a:srgbClr val="18181B"/>
          </a:solidFill>
          <a:ln w="9525">
            <a:solidFill>
              <a:srgbClr val="27272A"/>
            </a:solidFill>
            <a:prstDash val="solid"/>
          </a:ln>
        </p:spPr>
      </p:sp>
      <p:pic>
        <p:nvPicPr>
          <p:cNvPr id="10" name="Image 2" descr="C:\Users\ashut\AppData\Local\Temp\claude\c--Users-ashut-Downloads-INNOV8\a05e3449-b391-4de7-b995-d2f2810b4436\scratchpad\refdeck\media\image9.png">    </p:cNvPr>
          <p:cNvPicPr>
            <a:picLocks noChangeAspect="1"/>
          </p:cNvPicPr>
          <p:nvPr/>
        </p:nvPicPr>
        <p:blipFill>
          <a:blip r:embed="rId3"/>
          <a:stretch>
            <a:fillRect/>
          </a:stretch>
        </p:blipFill>
        <p:spPr>
          <a:xfrm>
            <a:off x="3622396" y="2377440"/>
            <a:ext cx="502920" cy="502920"/>
          </a:xfrm>
          <a:prstGeom prst="rect">
            <a:avLst/>
          </a:prstGeom>
        </p:spPr>
      </p:pic>
      <p:sp>
        <p:nvSpPr>
          <p:cNvPr id="11" name="Text 6"/>
          <p:cNvSpPr txBox="1"/>
          <p:nvPr/>
        </p:nvSpPr>
        <p:spPr>
          <a:xfrm>
            <a:off x="2936596" y="3063240"/>
            <a:ext cx="18745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Plan</a:t>
            </a:r>
            <a:endParaRPr lang="en-US" sz="1600" dirty="0"/>
          </a:p>
        </p:txBody>
      </p:sp>
      <p:sp>
        <p:nvSpPr>
          <p:cNvPr id="12" name="Text 7"/>
          <p:cNvSpPr txBox="1"/>
          <p:nvPr/>
        </p:nvSpPr>
        <p:spPr>
          <a:xfrm>
            <a:off x="3073756" y="3474720"/>
            <a:ext cx="1600200" cy="7315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Fair shifts, rest rules kept</a:t>
            </a:r>
            <a:endParaRPr lang="en-US" sz="1100" dirty="0"/>
          </a:p>
        </p:txBody>
      </p:sp>
      <p:pic>
        <p:nvPicPr>
          <p:cNvPr id="13" name="Image 3" descr="C:\Users\ashut\AppData\Local\Temp\claude\c--Users-ashut-Downloads-INNOV8\a05e3449-b391-4de7-b995-d2f2810b4436\scratchpad\refdeck\media\image7.png">    </p:cNvPr>
          <p:cNvPicPr>
            <a:picLocks noChangeAspect="1"/>
          </p:cNvPicPr>
          <p:nvPr/>
        </p:nvPicPr>
        <p:blipFill>
          <a:blip r:embed="rId4"/>
          <a:stretch>
            <a:fillRect/>
          </a:stretch>
        </p:blipFill>
        <p:spPr>
          <a:xfrm>
            <a:off x="4875124" y="3154680"/>
            <a:ext cx="219456" cy="219456"/>
          </a:xfrm>
          <a:prstGeom prst="rect">
            <a:avLst/>
          </a:prstGeom>
        </p:spPr>
      </p:pic>
      <p:sp>
        <p:nvSpPr>
          <p:cNvPr id="14" name="Shape 8"/>
          <p:cNvSpPr/>
          <p:nvPr/>
        </p:nvSpPr>
        <p:spPr>
          <a:xfrm>
            <a:off x="5158588" y="2148840"/>
            <a:ext cx="1874520" cy="2240280"/>
          </a:xfrm>
          <a:prstGeom prst="roundRect">
            <a:avLst>
              <a:gd name="adj" fmla="val 5854"/>
            </a:avLst>
          </a:prstGeom>
          <a:solidFill>
            <a:srgbClr val="18181B"/>
          </a:solidFill>
          <a:ln w="9525">
            <a:solidFill>
              <a:srgbClr val="27272A"/>
            </a:solidFill>
            <a:prstDash val="solid"/>
          </a:ln>
        </p:spPr>
      </p:sp>
      <p:pic>
        <p:nvPicPr>
          <p:cNvPr id="15" name="Image 4" descr="C:\Users\ashut\AppData\Local\Temp\claude\c--Users-ashut-Downloads-INNOV8\a05e3449-b391-4de7-b995-d2f2810b4436\scratchpad\refdeck\media\image11.png">    </p:cNvPr>
          <p:cNvPicPr>
            <a:picLocks noChangeAspect="1"/>
          </p:cNvPicPr>
          <p:nvPr/>
        </p:nvPicPr>
        <p:blipFill>
          <a:blip r:embed="rId5"/>
          <a:stretch>
            <a:fillRect/>
          </a:stretch>
        </p:blipFill>
        <p:spPr>
          <a:xfrm>
            <a:off x="5844388" y="2377440"/>
            <a:ext cx="502920" cy="502920"/>
          </a:xfrm>
          <a:prstGeom prst="rect">
            <a:avLst/>
          </a:prstGeom>
        </p:spPr>
      </p:pic>
      <p:sp>
        <p:nvSpPr>
          <p:cNvPr id="16" name="Text 9"/>
          <p:cNvSpPr txBox="1"/>
          <p:nvPr/>
        </p:nvSpPr>
        <p:spPr>
          <a:xfrm>
            <a:off x="5158588" y="3063240"/>
            <a:ext cx="18745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Act</a:t>
            </a:r>
            <a:endParaRPr lang="en-US" sz="1600" dirty="0"/>
          </a:p>
        </p:txBody>
      </p:sp>
      <p:sp>
        <p:nvSpPr>
          <p:cNvPr id="17" name="Text 10"/>
          <p:cNvSpPr txBox="1"/>
          <p:nvPr/>
        </p:nvSpPr>
        <p:spPr>
          <a:xfrm>
            <a:off x="5295748" y="3474720"/>
            <a:ext cx="1600200" cy="7315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Jobs to the right phone, by voice</a:t>
            </a:r>
            <a:endParaRPr lang="en-US" sz="1100" dirty="0"/>
          </a:p>
        </p:txBody>
      </p:sp>
      <p:pic>
        <p:nvPicPr>
          <p:cNvPr id="18" name="Image 5" descr="C:\Users\ashut\AppData\Local\Temp\claude\c--Users-ashut-Downloads-INNOV8\a05e3449-b391-4de7-b995-d2f2810b4436\scratchpad\refdeck\media\image7.png">    </p:cNvPr>
          <p:cNvPicPr>
            <a:picLocks noChangeAspect="1"/>
          </p:cNvPicPr>
          <p:nvPr/>
        </p:nvPicPr>
        <p:blipFill>
          <a:blip r:embed="rId6"/>
          <a:stretch>
            <a:fillRect/>
          </a:stretch>
        </p:blipFill>
        <p:spPr>
          <a:xfrm>
            <a:off x="7097116" y="3154680"/>
            <a:ext cx="219456" cy="219456"/>
          </a:xfrm>
          <a:prstGeom prst="rect">
            <a:avLst/>
          </a:prstGeom>
        </p:spPr>
      </p:pic>
      <p:sp>
        <p:nvSpPr>
          <p:cNvPr id="19" name="Shape 11"/>
          <p:cNvSpPr/>
          <p:nvPr/>
        </p:nvSpPr>
        <p:spPr>
          <a:xfrm>
            <a:off x="7380580" y="2148840"/>
            <a:ext cx="1874520" cy="2240280"/>
          </a:xfrm>
          <a:prstGeom prst="roundRect">
            <a:avLst>
              <a:gd name="adj" fmla="val 5854"/>
            </a:avLst>
          </a:prstGeom>
          <a:solidFill>
            <a:srgbClr val="18181B"/>
          </a:solidFill>
          <a:ln w="9525">
            <a:solidFill>
              <a:srgbClr val="27272A"/>
            </a:solidFill>
            <a:prstDash val="solid"/>
          </a:ln>
        </p:spPr>
      </p:sp>
      <p:pic>
        <p:nvPicPr>
          <p:cNvPr id="20" name="Image 6" descr="C:\Users\ashut\AppData\Local\Temp\claude\c--Users-ashut-Downloads-INNOV8\a05e3449-b391-4de7-b995-d2f2810b4436\scratchpad\refdeck\media\image4.png">    </p:cNvPr>
          <p:cNvPicPr>
            <a:picLocks noChangeAspect="1"/>
          </p:cNvPicPr>
          <p:nvPr/>
        </p:nvPicPr>
        <p:blipFill>
          <a:blip r:embed="rId7"/>
          <a:stretch>
            <a:fillRect/>
          </a:stretch>
        </p:blipFill>
        <p:spPr>
          <a:xfrm>
            <a:off x="8066380" y="2377440"/>
            <a:ext cx="502920" cy="502920"/>
          </a:xfrm>
          <a:prstGeom prst="rect">
            <a:avLst/>
          </a:prstGeom>
        </p:spPr>
      </p:pic>
      <p:sp>
        <p:nvSpPr>
          <p:cNvPr id="21" name="Text 12"/>
          <p:cNvSpPr txBox="1"/>
          <p:nvPr/>
        </p:nvSpPr>
        <p:spPr>
          <a:xfrm>
            <a:off x="7380580" y="3063240"/>
            <a:ext cx="18745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Prove</a:t>
            </a:r>
            <a:endParaRPr lang="en-US" sz="1600" dirty="0"/>
          </a:p>
        </p:txBody>
      </p:sp>
      <p:sp>
        <p:nvSpPr>
          <p:cNvPr id="22" name="Text 13"/>
          <p:cNvSpPr txBox="1"/>
          <p:nvPr/>
        </p:nvSpPr>
        <p:spPr>
          <a:xfrm>
            <a:off x="7517740" y="3474720"/>
            <a:ext cx="1600200" cy="7315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Photos and times for every job</a:t>
            </a:r>
            <a:endParaRPr lang="en-US" sz="1100" dirty="0"/>
          </a:p>
        </p:txBody>
      </p:sp>
      <p:pic>
        <p:nvPicPr>
          <p:cNvPr id="23" name="Image 7" descr="C:\Users\ashut\AppData\Local\Temp\claude\c--Users-ashut-Downloads-INNOV8\a05e3449-b391-4de7-b995-d2f2810b4436\scratchpad\refdeck\media\image7.png">    </p:cNvPr>
          <p:cNvPicPr>
            <a:picLocks noChangeAspect="1"/>
          </p:cNvPicPr>
          <p:nvPr/>
        </p:nvPicPr>
        <p:blipFill>
          <a:blip r:embed="rId8"/>
          <a:stretch>
            <a:fillRect/>
          </a:stretch>
        </p:blipFill>
        <p:spPr>
          <a:xfrm>
            <a:off x="9319108" y="3154680"/>
            <a:ext cx="219456" cy="219456"/>
          </a:xfrm>
          <a:prstGeom prst="rect">
            <a:avLst/>
          </a:prstGeom>
        </p:spPr>
      </p:pic>
      <p:sp>
        <p:nvSpPr>
          <p:cNvPr id="24" name="Shape 14"/>
          <p:cNvSpPr/>
          <p:nvPr/>
        </p:nvSpPr>
        <p:spPr>
          <a:xfrm>
            <a:off x="9602572" y="2148840"/>
            <a:ext cx="1874520" cy="2240280"/>
          </a:xfrm>
          <a:prstGeom prst="roundRect">
            <a:avLst>
              <a:gd name="adj" fmla="val 5854"/>
            </a:avLst>
          </a:prstGeom>
          <a:solidFill>
            <a:srgbClr val="18181B"/>
          </a:solidFill>
          <a:ln w="9525">
            <a:solidFill>
              <a:srgbClr val="27272A"/>
            </a:solidFill>
            <a:prstDash val="solid"/>
          </a:ln>
        </p:spPr>
      </p:sp>
      <p:pic>
        <p:nvPicPr>
          <p:cNvPr id="25" name="Image 8" descr="C:\Users\ashut\AppData\Local\Temp\claude\c--Users-ashut-Downloads-INNOV8\a05e3449-b391-4de7-b995-d2f2810b4436\scratchpad\refdeck\media\image6.png">    </p:cNvPr>
          <p:cNvPicPr>
            <a:picLocks noChangeAspect="1"/>
          </p:cNvPicPr>
          <p:nvPr/>
        </p:nvPicPr>
        <p:blipFill>
          <a:blip r:embed="rId9"/>
          <a:stretch>
            <a:fillRect/>
          </a:stretch>
        </p:blipFill>
        <p:spPr>
          <a:xfrm>
            <a:off x="10288372" y="2377440"/>
            <a:ext cx="502920" cy="502920"/>
          </a:xfrm>
          <a:prstGeom prst="rect">
            <a:avLst/>
          </a:prstGeom>
        </p:spPr>
      </p:pic>
      <p:sp>
        <p:nvSpPr>
          <p:cNvPr id="26" name="Text 15"/>
          <p:cNvSpPr txBox="1"/>
          <p:nvPr/>
        </p:nvSpPr>
        <p:spPr>
          <a:xfrm>
            <a:off x="9602572" y="3063240"/>
            <a:ext cx="18745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Care</a:t>
            </a:r>
            <a:endParaRPr lang="en-US" sz="1600" dirty="0"/>
          </a:p>
        </p:txBody>
      </p:sp>
      <p:sp>
        <p:nvSpPr>
          <p:cNvPr id="27" name="Text 16"/>
          <p:cNvSpPr txBox="1"/>
          <p:nvPr/>
        </p:nvSpPr>
        <p:spPr>
          <a:xfrm>
            <a:off x="9739732" y="3474720"/>
            <a:ext cx="1600200" cy="7315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Who may leave, and what to talk about</a:t>
            </a:r>
            <a:endParaRPr lang="en-US" sz="1100" dirty="0"/>
          </a:p>
        </p:txBody>
      </p:sp>
      <p:sp>
        <p:nvSpPr>
          <p:cNvPr id="28" name="Text 17"/>
          <p:cNvSpPr txBox="1"/>
          <p:nvPr/>
        </p:nvSpPr>
        <p:spPr>
          <a:xfrm>
            <a:off x="548640" y="4800600"/>
            <a:ext cx="11094415" cy="365760"/>
          </a:xfrm>
          <a:prstGeom prst="rect">
            <a:avLst/>
          </a:prstGeom>
          <a:noFill/>
          <a:ln/>
        </p:spPr>
        <p:txBody>
          <a:bodyPr wrap="square" lIns="0" tIns="0" rIns="0" bIns="0" rtlCol="0" anchor="t"/>
          <a:lstStyle/>
          <a:p>
            <a:pPr algn="ctr" indent="0" marL="0">
              <a:buNone/>
            </a:pPr>
            <a:r>
              <a:rPr lang="en-US" sz="1300" dirty="0">
                <a:solidFill>
                  <a:srgbClr val="A1A1AA"/>
                </a:solidFill>
                <a:latin typeface="Arial" pitchFamily="34" charset="0"/>
                <a:ea typeface="Arial" pitchFamily="34" charset="-122"/>
                <a:cs typeface="Arial" pitchFamily="34" charset="-120"/>
              </a:rPr>
              <a:t>Results flow back: flagged staff get relief in the next shift plan.</a:t>
            </a:r>
            <a:endParaRPr lang="en-US" sz="130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Five Simple Apps</a:t>
            </a:r>
            <a:endParaRPr lang="en-US" sz="3000" dirty="0"/>
          </a:p>
        </p:txBody>
      </p:sp>
      <p:pic>
        <p:nvPicPr>
          <p:cNvPr id="3" name="Owner portal" descr="Owner portal">    </p:cNvPr>
          <p:cNvPicPr>
            <a:picLocks noChangeAspect="1"/>
          </p:cNvPicPr>
          <p:nvPr/>
        </p:nvPicPr>
        <p:blipFill>
          <a:blip r:embed="rId1"/>
          <a:stretch>
            <a:fillRect/>
          </a:stretch>
        </p:blipFill>
        <p:spPr>
          <a:xfrm>
            <a:off x="152248" y="1809285"/>
            <a:ext cx="3246120" cy="3056550"/>
          </a:xfrm>
          <a:prstGeom prst="rect">
            <a:avLst/>
          </a:prstGeom>
        </p:spPr>
      </p:pic>
      <p:sp>
        <p:nvSpPr>
          <p:cNvPr id="4" name="Text 1"/>
          <p:cNvSpPr txBox="1"/>
          <p:nvPr/>
        </p:nvSpPr>
        <p:spPr>
          <a:xfrm>
            <a:off x="152248" y="5532120"/>
            <a:ext cx="3246120"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Owner portal</a:t>
            </a:r>
            <a:endParaRPr lang="en-US" sz="1400" dirty="0"/>
          </a:p>
        </p:txBody>
      </p:sp>
      <p:sp>
        <p:nvSpPr>
          <p:cNvPr id="5" name="Text 2"/>
          <p:cNvSpPr txBox="1"/>
          <p:nvPr/>
        </p:nvSpPr>
        <p:spPr>
          <a:xfrm>
            <a:off x="152248" y="5852160"/>
            <a:ext cx="3246120" cy="2743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Is today OK? One look.</a:t>
            </a:r>
            <a:endParaRPr lang="en-US" sz="1100" dirty="0"/>
          </a:p>
        </p:txBody>
      </p:sp>
      <p:pic>
        <p:nvPicPr>
          <p:cNvPr id="6" name="Staff app" descr="Staff app">    </p:cNvPr>
          <p:cNvPicPr>
            <a:picLocks noChangeAspect="1"/>
          </p:cNvPicPr>
          <p:nvPr/>
        </p:nvPicPr>
        <p:blipFill>
          <a:blip r:embed="rId2"/>
          <a:stretch>
            <a:fillRect/>
          </a:stretch>
        </p:blipFill>
        <p:spPr>
          <a:xfrm>
            <a:off x="3581248" y="1761295"/>
            <a:ext cx="1600200" cy="3152531"/>
          </a:xfrm>
          <a:prstGeom prst="rect">
            <a:avLst/>
          </a:prstGeom>
        </p:spPr>
      </p:pic>
      <p:sp>
        <p:nvSpPr>
          <p:cNvPr id="7" name="Text 3"/>
          <p:cNvSpPr txBox="1"/>
          <p:nvPr/>
        </p:nvSpPr>
        <p:spPr>
          <a:xfrm>
            <a:off x="3581248" y="5532120"/>
            <a:ext cx="1600200"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Staff app</a:t>
            </a:r>
            <a:endParaRPr lang="en-US" sz="1400" dirty="0"/>
          </a:p>
        </p:txBody>
      </p:sp>
      <p:sp>
        <p:nvSpPr>
          <p:cNvPr id="8" name="Text 4"/>
          <p:cNvSpPr txBox="1"/>
          <p:nvPr/>
        </p:nvSpPr>
        <p:spPr>
          <a:xfrm>
            <a:off x="3581248" y="5852160"/>
            <a:ext cx="1600200" cy="2743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Voice in Hindi, one tap.</a:t>
            </a:r>
            <a:endParaRPr lang="en-US" sz="1100" dirty="0"/>
          </a:p>
        </p:txBody>
      </p:sp>
      <p:pic>
        <p:nvPicPr>
          <p:cNvPr id="9" name="Guest QR page" descr="Guest QR page">    </p:cNvPr>
          <p:cNvPicPr>
            <a:picLocks noChangeAspect="1"/>
          </p:cNvPicPr>
          <p:nvPr/>
        </p:nvPicPr>
        <p:blipFill>
          <a:blip r:embed="rId3"/>
          <a:stretch>
            <a:fillRect/>
          </a:stretch>
        </p:blipFill>
        <p:spPr>
          <a:xfrm>
            <a:off x="5364328" y="1761295"/>
            <a:ext cx="1600200" cy="3152531"/>
          </a:xfrm>
          <a:prstGeom prst="rect">
            <a:avLst/>
          </a:prstGeom>
        </p:spPr>
      </p:pic>
      <p:sp>
        <p:nvSpPr>
          <p:cNvPr id="10" name="Text 5"/>
          <p:cNvSpPr txBox="1"/>
          <p:nvPr/>
        </p:nvSpPr>
        <p:spPr>
          <a:xfrm>
            <a:off x="5364328" y="5532120"/>
            <a:ext cx="1600200"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Guest QR page</a:t>
            </a:r>
            <a:endParaRPr lang="en-US" sz="1400" dirty="0"/>
          </a:p>
        </p:txBody>
      </p:sp>
      <p:sp>
        <p:nvSpPr>
          <p:cNvPr id="11" name="Text 6"/>
          <p:cNvSpPr txBox="1"/>
          <p:nvPr/>
        </p:nvSpPr>
        <p:spPr>
          <a:xfrm>
            <a:off x="5364328" y="5852160"/>
            <a:ext cx="1600200" cy="2743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Ask from the room.</a:t>
            </a:r>
            <a:endParaRPr lang="en-US" sz="1100" dirty="0"/>
          </a:p>
        </p:txBody>
      </p:sp>
      <p:pic>
        <p:nvPicPr>
          <p:cNvPr id="12" name="Travel guide" descr="Travel guide">    </p:cNvPr>
          <p:cNvPicPr>
            <a:picLocks noChangeAspect="1"/>
          </p:cNvPicPr>
          <p:nvPr/>
        </p:nvPicPr>
        <p:blipFill>
          <a:blip r:embed="rId4"/>
          <a:stretch>
            <a:fillRect/>
          </a:stretch>
        </p:blipFill>
        <p:spPr>
          <a:xfrm>
            <a:off x="7147408" y="2443260"/>
            <a:ext cx="2514600" cy="1788600"/>
          </a:xfrm>
          <a:prstGeom prst="rect">
            <a:avLst/>
          </a:prstGeom>
        </p:spPr>
      </p:pic>
      <p:sp>
        <p:nvSpPr>
          <p:cNvPr id="13" name="Text 7"/>
          <p:cNvSpPr txBox="1"/>
          <p:nvPr/>
        </p:nvSpPr>
        <p:spPr>
          <a:xfrm>
            <a:off x="7147408" y="5532120"/>
            <a:ext cx="2514600"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Travel guide</a:t>
            </a:r>
            <a:endParaRPr lang="en-US" sz="1400" dirty="0"/>
          </a:p>
        </p:txBody>
      </p:sp>
      <p:sp>
        <p:nvSpPr>
          <p:cNvPr id="14" name="Text 8"/>
          <p:cNvSpPr txBox="1"/>
          <p:nvPr/>
        </p:nvSpPr>
        <p:spPr>
          <a:xfrm>
            <a:off x="7147408" y="5852160"/>
            <a:ext cx="2514600" cy="2743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Crowds, stays, jobs.</a:t>
            </a:r>
            <a:endParaRPr lang="en-US" sz="1100" dirty="0"/>
          </a:p>
        </p:txBody>
      </p:sp>
      <p:pic>
        <p:nvPicPr>
          <p:cNvPr id="15" name="Officials" descr="Officials">    </p:cNvPr>
          <p:cNvPicPr>
            <a:picLocks noChangeAspect="1"/>
          </p:cNvPicPr>
          <p:nvPr/>
        </p:nvPicPr>
        <p:blipFill>
          <a:blip r:embed="rId5"/>
          <a:stretch>
            <a:fillRect/>
          </a:stretch>
        </p:blipFill>
        <p:spPr>
          <a:xfrm>
            <a:off x="9844888" y="2629080"/>
            <a:ext cx="2194560" cy="1416960"/>
          </a:xfrm>
          <a:prstGeom prst="rect">
            <a:avLst/>
          </a:prstGeom>
        </p:spPr>
      </p:pic>
      <p:sp>
        <p:nvSpPr>
          <p:cNvPr id="16" name="Text 9"/>
          <p:cNvSpPr txBox="1"/>
          <p:nvPr/>
        </p:nvSpPr>
        <p:spPr>
          <a:xfrm>
            <a:off x="9844888" y="5532120"/>
            <a:ext cx="2194560"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Officials</a:t>
            </a:r>
            <a:endParaRPr lang="en-US" sz="1400" dirty="0"/>
          </a:p>
        </p:txBody>
      </p:sp>
      <p:sp>
        <p:nvSpPr>
          <p:cNvPr id="17" name="Text 10"/>
          <p:cNvSpPr txBox="1"/>
          <p:nvPr/>
        </p:nvSpPr>
        <p:spPr>
          <a:xfrm>
            <a:off x="9844888" y="5852160"/>
            <a:ext cx="2194560" cy="2743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Approvals and crowd data.</a:t>
            </a:r>
            <a:endParaRPr lang="en-US" sz="110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Product Demo</a:t>
            </a:r>
            <a:endParaRPr lang="en-US" sz="3000" dirty="0"/>
          </a:p>
        </p:txBody>
      </p:sp>
      <p:pic>
        <p:nvPicPr>
          <p:cNvPr id="3" name="Demo film cover" descr="Demo film cover">    </p:cNvPr>
          <p:cNvPicPr>
            <a:picLocks noChangeAspect="1"/>
          </p:cNvPicPr>
          <p:nvPr/>
        </p:nvPicPr>
        <p:blipFill>
          <a:blip r:embed="rId1"/>
          <a:stretch>
            <a:fillRect/>
          </a:stretch>
        </p:blipFill>
        <p:spPr>
          <a:xfrm>
            <a:off x="1889608" y="1234440"/>
            <a:ext cx="8412480" cy="4732020"/>
          </a:xfrm>
          <a:prstGeom prst="rect">
            <a:avLst/>
          </a:prstGeom>
        </p:spPr>
      </p:pic>
      <p:sp>
        <p:nvSpPr>
          <p:cNvPr id="4" name="Text 1"/>
          <p:cNvSpPr txBox="1"/>
          <p:nvPr/>
        </p:nvSpPr>
        <p:spPr>
          <a:xfrm>
            <a:off x="1889608" y="6103620"/>
            <a:ext cx="8412480" cy="274320"/>
          </a:xfrm>
          <a:prstGeom prst="rect">
            <a:avLst/>
          </a:prstGeom>
          <a:noFill/>
          <a:ln/>
        </p:spPr>
        <p:txBody>
          <a:bodyPr wrap="square" lIns="0" tIns="0" rIns="0" bIns="0" rtlCol="0" anchor="t"/>
          <a:lstStyle/>
          <a:p>
            <a:pPr algn="ctr" indent="0" marL="0">
              <a:buNone/>
            </a:pPr>
            <a:r>
              <a:rPr lang="en-US" sz="1100" dirty="0">
                <a:solidFill>
                  <a:srgbClr val="A1A1AA"/>
                </a:solidFill>
                <a:latin typeface="Arial" pitchFamily="34" charset="0"/>
                <a:ea typeface="Arial" pitchFamily="34" charset="-122"/>
                <a:cs typeface="Arial" pitchFamily="34" charset="-120"/>
              </a:rPr>
              <a:t>One Saturday at a hotel, run by HOI  ·  2 minutes  ·  recorded on the live apps</a:t>
            </a:r>
            <a:endParaRPr lang="en-US" sz="110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One Dataset for the Tourism Ecosystem</a:t>
            </a:r>
            <a:endParaRPr lang="en-US" sz="3000" dirty="0"/>
          </a:p>
        </p:txBody>
      </p:sp>
      <p:sp>
        <p:nvSpPr>
          <p:cNvPr id="3" name="Text 1"/>
          <p:cNvSpPr txBox="1"/>
          <p:nvPr/>
        </p:nvSpPr>
        <p:spPr>
          <a:xfrm>
            <a:off x="1371600" y="1188720"/>
            <a:ext cx="9448495" cy="411480"/>
          </a:xfrm>
          <a:prstGeom prst="rect">
            <a:avLst/>
          </a:prstGeom>
          <a:noFill/>
          <a:ln/>
        </p:spPr>
        <p:txBody>
          <a:bodyPr wrap="square" lIns="0" tIns="0" rIns="0" bIns="0" rtlCol="0" anchor="ctr"/>
          <a:lstStyle/>
          <a:p>
            <a:pPr algn="ctr" indent="0" marL="0">
              <a:buNone/>
            </a:pPr>
            <a:r>
              <a:rPr lang="en-US" sz="1400" dirty="0">
                <a:solidFill>
                  <a:srgbClr val="A1A1AA"/>
                </a:solidFill>
                <a:latin typeface="Arial" pitchFamily="34" charset="0"/>
                <a:ea typeface="Arial" pitchFamily="34" charset="-122"/>
                <a:cs typeface="Arial" pitchFamily="34" charset="-120"/>
              </a:rPr>
              <a:t>The travel guide connects to the state's tourism portal: every stay feeds one anonymised picture of tourism.</a:t>
            </a:r>
            <a:endParaRPr lang="en-US" sz="1400" dirty="0"/>
          </a:p>
        </p:txBody>
      </p:sp>
      <p:pic>
        <p:nvPicPr>
          <p:cNvPr id="4" name="Image 0" descr="C:\Users\ashut\AppData\Local\Temp\claude\c--Users-ashut-Downloads-INNOV8\a05e3449-b391-4de7-b995-d2f2810b4436\scratchpad\refdeck\media\image5.png">    </p:cNvPr>
          <p:cNvPicPr>
            <a:picLocks noChangeAspect="1"/>
          </p:cNvPicPr>
          <p:nvPr/>
        </p:nvPicPr>
        <p:blipFill>
          <a:blip r:embed="rId1"/>
          <a:stretch>
            <a:fillRect/>
          </a:stretch>
        </p:blipFill>
        <p:spPr>
          <a:xfrm>
            <a:off x="1798282" y="2103120"/>
            <a:ext cx="548640" cy="548640"/>
          </a:xfrm>
          <a:prstGeom prst="rect">
            <a:avLst/>
          </a:prstGeom>
        </p:spPr>
      </p:pic>
      <p:sp>
        <p:nvSpPr>
          <p:cNvPr id="5" name="Text 2"/>
          <p:cNvSpPr txBox="1"/>
          <p:nvPr/>
        </p:nvSpPr>
        <p:spPr>
          <a:xfrm>
            <a:off x="868680" y="2880360"/>
            <a:ext cx="2407844"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Crowd</a:t>
            </a:r>
            <a:endParaRPr lang="en-US" sz="1700" dirty="0"/>
          </a:p>
        </p:txBody>
      </p:sp>
      <p:sp>
        <p:nvSpPr>
          <p:cNvPr id="6" name="Text 3"/>
          <p:cNvSpPr txBox="1"/>
          <p:nvPr/>
        </p:nvSpPr>
        <p:spPr>
          <a:xfrm>
            <a:off x="868680" y="3337560"/>
            <a:ext cx="2407844"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Live</a:t>
            </a:r>
            <a:endParaRPr lang="en-US" sz="1250" dirty="0"/>
          </a:p>
        </p:txBody>
      </p:sp>
      <p:sp>
        <p:nvSpPr>
          <p:cNvPr id="7" name="Text 4"/>
          <p:cNvSpPr txBox="1"/>
          <p:nvPr/>
        </p:nvSpPr>
        <p:spPr>
          <a:xfrm>
            <a:off x="960120" y="374904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Crowd forecast per destination, from hotel occupancy and seasons. Road alerts.</a:t>
            </a:r>
            <a:endParaRPr lang="en-US" sz="1150" dirty="0"/>
          </a:p>
        </p:txBody>
      </p:sp>
      <p:sp>
        <p:nvSpPr>
          <p:cNvPr id="8" name="Shape 5"/>
          <p:cNvSpPr/>
          <p:nvPr/>
        </p:nvSpPr>
        <p:spPr>
          <a:xfrm>
            <a:off x="3413684" y="2011680"/>
            <a:ext cx="0" cy="2926080"/>
          </a:xfrm>
          <a:prstGeom prst="line">
            <a:avLst/>
          </a:prstGeom>
          <a:noFill/>
          <a:ln w="9525">
            <a:solidFill>
              <a:srgbClr val="3F3F46"/>
            </a:solidFill>
            <a:prstDash val="solid"/>
          </a:ln>
        </p:spPr>
      </p:sp>
      <p:pic>
        <p:nvPicPr>
          <p:cNvPr id="9" name="Image 1" descr="C:\Users\ashut\AppData\Local\Temp\claude\c--Users-ashut-Downloads-INNOV8\a05e3449-b391-4de7-b995-d2f2810b4436\scratchpad\refdeck\media\image3.png">    </p:cNvPr>
          <p:cNvPicPr>
            <a:picLocks noChangeAspect="1"/>
          </p:cNvPicPr>
          <p:nvPr/>
        </p:nvPicPr>
        <p:blipFill>
          <a:blip r:embed="rId2"/>
          <a:stretch>
            <a:fillRect/>
          </a:stretch>
        </p:blipFill>
        <p:spPr>
          <a:xfrm>
            <a:off x="4480446" y="2103120"/>
            <a:ext cx="548640" cy="548640"/>
          </a:xfrm>
          <a:prstGeom prst="rect">
            <a:avLst/>
          </a:prstGeom>
        </p:spPr>
      </p:pic>
      <p:sp>
        <p:nvSpPr>
          <p:cNvPr id="10" name="Text 6"/>
          <p:cNvSpPr txBox="1"/>
          <p:nvPr/>
        </p:nvSpPr>
        <p:spPr>
          <a:xfrm>
            <a:off x="3550844" y="2880360"/>
            <a:ext cx="2407844"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Capacity</a:t>
            </a:r>
            <a:endParaRPr lang="en-US" sz="1700" dirty="0"/>
          </a:p>
        </p:txBody>
      </p:sp>
      <p:sp>
        <p:nvSpPr>
          <p:cNvPr id="11" name="Text 7"/>
          <p:cNvSpPr txBox="1"/>
          <p:nvPr/>
        </p:nvSpPr>
        <p:spPr>
          <a:xfrm>
            <a:off x="3550844" y="3337560"/>
            <a:ext cx="2407844"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Live</a:t>
            </a:r>
            <a:endParaRPr lang="en-US" sz="1250" dirty="0"/>
          </a:p>
        </p:txBody>
      </p:sp>
      <p:sp>
        <p:nvSpPr>
          <p:cNvPr id="12" name="Text 8"/>
          <p:cNvSpPr txBox="1"/>
          <p:nvPr/>
        </p:nvSpPr>
        <p:spPr>
          <a:xfrm>
            <a:off x="3642284" y="374904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Daily rooms available and occupied from hotels that opt in. Registrations and approvals.</a:t>
            </a:r>
            <a:endParaRPr lang="en-US" sz="1150" dirty="0"/>
          </a:p>
        </p:txBody>
      </p:sp>
      <p:sp>
        <p:nvSpPr>
          <p:cNvPr id="13" name="Shape 9"/>
          <p:cNvSpPr/>
          <p:nvPr/>
        </p:nvSpPr>
        <p:spPr>
          <a:xfrm>
            <a:off x="6095848" y="2011680"/>
            <a:ext cx="0" cy="2926080"/>
          </a:xfrm>
          <a:prstGeom prst="line">
            <a:avLst/>
          </a:prstGeom>
          <a:noFill/>
          <a:ln w="9525">
            <a:solidFill>
              <a:srgbClr val="3F3F46"/>
            </a:solidFill>
            <a:prstDash val="solid"/>
          </a:ln>
        </p:spPr>
      </p:sp>
      <p:pic>
        <p:nvPicPr>
          <p:cNvPr id="14" name="Image 2" descr="C:\Users\ashut\AppData\Local\Temp\claude\c--Users-ashut-Downloads-INNOV8\a05e3449-b391-4de7-b995-d2f2810b4436\scratchpad\refdeck\media\image4.png">    </p:cNvPr>
          <p:cNvPicPr>
            <a:picLocks noChangeAspect="1"/>
          </p:cNvPicPr>
          <p:nvPr/>
        </p:nvPicPr>
        <p:blipFill>
          <a:blip r:embed="rId3"/>
          <a:stretch>
            <a:fillRect/>
          </a:stretch>
        </p:blipFill>
        <p:spPr>
          <a:xfrm>
            <a:off x="7162610" y="2103120"/>
            <a:ext cx="548640" cy="548640"/>
          </a:xfrm>
          <a:prstGeom prst="rect">
            <a:avLst/>
          </a:prstGeom>
        </p:spPr>
      </p:pic>
      <p:sp>
        <p:nvSpPr>
          <p:cNvPr id="15" name="Text 10"/>
          <p:cNvSpPr txBox="1"/>
          <p:nvPr/>
        </p:nvSpPr>
        <p:spPr>
          <a:xfrm>
            <a:off x="6233008" y="2880360"/>
            <a:ext cx="2407844"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Service</a:t>
            </a:r>
            <a:endParaRPr lang="en-US" sz="1700" dirty="0"/>
          </a:p>
        </p:txBody>
      </p:sp>
      <p:sp>
        <p:nvSpPr>
          <p:cNvPr id="16" name="Text 11"/>
          <p:cNvSpPr txBox="1"/>
          <p:nvPr/>
        </p:nvSpPr>
        <p:spPr>
          <a:xfrm>
            <a:off x="6233008" y="3337560"/>
            <a:ext cx="2407844"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Live</a:t>
            </a:r>
            <a:endParaRPr lang="en-US" sz="1250" dirty="0"/>
          </a:p>
        </p:txBody>
      </p:sp>
      <p:sp>
        <p:nvSpPr>
          <p:cNvPr id="17" name="Text 12"/>
          <p:cNvSpPr txBox="1"/>
          <p:nvPr/>
        </p:nvSpPr>
        <p:spPr>
          <a:xfrm>
            <a:off x="6324448" y="374904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Complaints and response times. Seasonal jobs and staffing demand per district.</a:t>
            </a:r>
            <a:endParaRPr lang="en-US" sz="1150" dirty="0"/>
          </a:p>
        </p:txBody>
      </p:sp>
      <p:sp>
        <p:nvSpPr>
          <p:cNvPr id="18" name="Shape 13"/>
          <p:cNvSpPr/>
          <p:nvPr/>
        </p:nvSpPr>
        <p:spPr>
          <a:xfrm>
            <a:off x="8778011" y="2011680"/>
            <a:ext cx="0" cy="2926080"/>
          </a:xfrm>
          <a:prstGeom prst="line">
            <a:avLst/>
          </a:prstGeom>
          <a:noFill/>
          <a:ln w="9525">
            <a:solidFill>
              <a:srgbClr val="3F3F46"/>
            </a:solidFill>
            <a:prstDash val="solid"/>
          </a:ln>
        </p:spPr>
      </p:sp>
      <p:pic>
        <p:nvPicPr>
          <p:cNvPr id="19" name="Image 3" descr="C:\Users\ashut\AppData\Local\Temp\claude\c--Users-ashut-Downloads-INNOV8\a05e3449-b391-4de7-b995-d2f2810b4436\scratchpad\refdeck\media\image8.png">    </p:cNvPr>
          <p:cNvPicPr>
            <a:picLocks noChangeAspect="1"/>
          </p:cNvPicPr>
          <p:nvPr/>
        </p:nvPicPr>
        <p:blipFill>
          <a:blip r:embed="rId4"/>
          <a:stretch>
            <a:fillRect/>
          </a:stretch>
        </p:blipFill>
        <p:spPr>
          <a:xfrm>
            <a:off x="9844773" y="2103120"/>
            <a:ext cx="548640" cy="548640"/>
          </a:xfrm>
          <a:prstGeom prst="rect">
            <a:avLst/>
          </a:prstGeom>
        </p:spPr>
      </p:pic>
      <p:sp>
        <p:nvSpPr>
          <p:cNvPr id="20" name="Text 14"/>
          <p:cNvSpPr txBox="1"/>
          <p:nvPr/>
        </p:nvSpPr>
        <p:spPr>
          <a:xfrm>
            <a:off x="8915171" y="2880360"/>
            <a:ext cx="2407844"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Money flow</a:t>
            </a:r>
            <a:endParaRPr lang="en-US" sz="1700" dirty="0"/>
          </a:p>
        </p:txBody>
      </p:sp>
      <p:sp>
        <p:nvSpPr>
          <p:cNvPr id="21" name="Text 15"/>
          <p:cNvSpPr txBox="1"/>
          <p:nvPr/>
        </p:nvSpPr>
        <p:spPr>
          <a:xfrm>
            <a:off x="8915171" y="3337560"/>
            <a:ext cx="2407844" cy="320040"/>
          </a:xfrm>
          <a:prstGeom prst="rect">
            <a:avLst/>
          </a:prstGeom>
          <a:noFill/>
          <a:ln/>
        </p:spPr>
        <p:txBody>
          <a:bodyPr wrap="square" lIns="0" tIns="0" rIns="0" bIns="0" rtlCol="0" anchor="t"/>
          <a:lstStyle/>
          <a:p>
            <a:pPr algn="ctr" indent="0" marL="0">
              <a:buNone/>
            </a:pPr>
            <a:r>
              <a:rPr lang="en-US" sz="1250" b="1" dirty="0">
                <a:solidFill>
                  <a:srgbClr val="E4E4E7"/>
                </a:solidFill>
                <a:latin typeface="Arial" pitchFamily="34" charset="0"/>
                <a:ea typeface="Arial" pitchFamily="34" charset="-122"/>
                <a:cs typeface="Arial" pitchFamily="34" charset="-120"/>
              </a:rPr>
              <a:t>Next</a:t>
            </a:r>
            <a:endParaRPr lang="en-US" sz="1250" dirty="0"/>
          </a:p>
        </p:txBody>
      </p:sp>
      <p:sp>
        <p:nvSpPr>
          <p:cNvPr id="22" name="Text 16"/>
          <p:cNvSpPr txBox="1"/>
          <p:nvPr/>
        </p:nvSpPr>
        <p:spPr>
          <a:xfrm>
            <a:off x="9006611" y="374904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Tourism revenue by district from hotels that opt in. Open anonymised data for planners.</a:t>
            </a:r>
            <a:endParaRPr lang="en-US" sz="1150" dirty="0"/>
          </a:p>
        </p:txBody>
      </p:sp>
      <p:sp>
        <p:nvSpPr>
          <p:cNvPr id="23" name="Text 17"/>
          <p:cNvSpPr txBox="1"/>
          <p:nvPr/>
        </p:nvSpPr>
        <p:spPr>
          <a:xfrm>
            <a:off x="548640" y="5349240"/>
            <a:ext cx="11094415" cy="320040"/>
          </a:xfrm>
          <a:prstGeom prst="rect">
            <a:avLst/>
          </a:prstGeom>
          <a:noFill/>
          <a:ln/>
        </p:spPr>
        <p:txBody>
          <a:bodyPr wrap="square" lIns="0" tIns="0" rIns="0" bIns="0" rtlCol="0" anchor="t"/>
          <a:lstStyle/>
          <a:p>
            <a:pPr algn="ctr" indent="0" marL="0">
              <a:buNone/>
            </a:pPr>
            <a:r>
              <a:rPr lang="en-US" sz="1100" dirty="0">
                <a:solidFill>
                  <a:srgbClr val="71717A"/>
                </a:solidFill>
                <a:latin typeface="Arial" pitchFamily="34" charset="0"/>
                <a:ea typeface="Arial" pitchFamily="34" charset="-122"/>
                <a:cs typeface="Arial" pitchFamily="34" charset="-120"/>
              </a:rPr>
              <a:t>Anonymised  ·  businesses opt in  ·  small groups hidden so no single business shows  ·  joining the official state portal is a proposal to discuss</a:t>
            </a:r>
            <a:endParaRPr lang="en-US" sz="110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Predict · Act · Measure</a:t>
            </a:r>
            <a:endParaRPr lang="en-US" sz="3000" dirty="0"/>
          </a:p>
        </p:txBody>
      </p:sp>
      <p:sp>
        <p:nvSpPr>
          <p:cNvPr id="3" name="Text 1"/>
          <p:cNvSpPr txBox="1"/>
          <p:nvPr/>
        </p:nvSpPr>
        <p:spPr>
          <a:xfrm>
            <a:off x="868680" y="1737360"/>
            <a:ext cx="2407844" cy="822960"/>
          </a:xfrm>
          <a:prstGeom prst="rect">
            <a:avLst/>
          </a:prstGeom>
          <a:noFill/>
          <a:ln/>
        </p:spPr>
        <p:txBody>
          <a:bodyPr wrap="square" lIns="0" tIns="0" rIns="0" bIns="0" rtlCol="0" anchor="ctr"/>
          <a:lstStyle/>
          <a:p>
            <a:pPr algn="ctr" indent="0" marL="0">
              <a:buNone/>
            </a:pPr>
            <a:r>
              <a:rPr lang="en-US" sz="4400" b="1" dirty="0">
                <a:solidFill>
                  <a:srgbClr val="22C55E"/>
                </a:solidFill>
                <a:latin typeface="Arial" pitchFamily="34" charset="0"/>
                <a:ea typeface="Arial" pitchFamily="34" charset="-122"/>
                <a:cs typeface="Arial" pitchFamily="34" charset="-120"/>
              </a:rPr>
              <a:t>−83%</a:t>
            </a:r>
            <a:endParaRPr lang="en-US" sz="4400" dirty="0"/>
          </a:p>
        </p:txBody>
      </p:sp>
      <p:sp>
        <p:nvSpPr>
          <p:cNvPr id="4" name="Text 2"/>
          <p:cNvSpPr txBox="1"/>
          <p:nvPr/>
        </p:nvSpPr>
        <p:spPr>
          <a:xfrm>
            <a:off x="868680" y="260604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Forecast error</a:t>
            </a:r>
            <a:endParaRPr lang="en-US" sz="1600" dirty="0"/>
          </a:p>
        </p:txBody>
      </p:sp>
      <p:sp>
        <p:nvSpPr>
          <p:cNvPr id="5" name="Text 3"/>
          <p:cNvSpPr txBox="1"/>
          <p:nvPr/>
        </p:nvSpPr>
        <p:spPr>
          <a:xfrm>
            <a:off x="960120" y="310896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1 day ahead: off by 1.9 rooms vs 10.9 for the usual rule (real hotel data)</a:t>
            </a:r>
            <a:endParaRPr lang="en-US" sz="1150" dirty="0"/>
          </a:p>
        </p:txBody>
      </p:sp>
      <p:sp>
        <p:nvSpPr>
          <p:cNvPr id="6" name="Shape 4"/>
          <p:cNvSpPr/>
          <p:nvPr/>
        </p:nvSpPr>
        <p:spPr>
          <a:xfrm>
            <a:off x="3413684" y="1645920"/>
            <a:ext cx="0" cy="3291840"/>
          </a:xfrm>
          <a:prstGeom prst="line">
            <a:avLst/>
          </a:prstGeom>
          <a:noFill/>
          <a:ln w="9525">
            <a:solidFill>
              <a:srgbClr val="3F3F46"/>
            </a:solidFill>
            <a:prstDash val="solid"/>
          </a:ln>
        </p:spPr>
      </p:sp>
      <p:sp>
        <p:nvSpPr>
          <p:cNvPr id="7" name="Text 5"/>
          <p:cNvSpPr txBox="1"/>
          <p:nvPr/>
        </p:nvSpPr>
        <p:spPr>
          <a:xfrm>
            <a:off x="3550844" y="173736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0.66</a:t>
            </a:r>
            <a:endParaRPr lang="en-US" sz="4400" dirty="0"/>
          </a:p>
        </p:txBody>
      </p:sp>
      <p:sp>
        <p:nvSpPr>
          <p:cNvPr id="8" name="Text 6"/>
          <p:cNvSpPr txBox="1"/>
          <p:nvPr/>
        </p:nvSpPr>
        <p:spPr>
          <a:xfrm>
            <a:off x="3550844" y="260604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Who may leave</a:t>
            </a:r>
            <a:endParaRPr lang="en-US" sz="1600" dirty="0"/>
          </a:p>
        </p:txBody>
      </p:sp>
      <p:sp>
        <p:nvSpPr>
          <p:cNvPr id="9" name="Text 7"/>
          <p:cNvSpPr txBox="1"/>
          <p:nvPr/>
        </p:nvSpPr>
        <p:spPr>
          <a:xfrm>
            <a:off x="3642284" y="310896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Ranks a leaver above a stayer 66% of the time vs 55% for a checklist (1,129 real records)</a:t>
            </a:r>
            <a:endParaRPr lang="en-US" sz="1150" dirty="0"/>
          </a:p>
        </p:txBody>
      </p:sp>
      <p:sp>
        <p:nvSpPr>
          <p:cNvPr id="10" name="Shape 8"/>
          <p:cNvSpPr/>
          <p:nvPr/>
        </p:nvSpPr>
        <p:spPr>
          <a:xfrm>
            <a:off x="6095848" y="1645920"/>
            <a:ext cx="0" cy="3291840"/>
          </a:xfrm>
          <a:prstGeom prst="line">
            <a:avLst/>
          </a:prstGeom>
          <a:noFill/>
          <a:ln w="9525">
            <a:solidFill>
              <a:srgbClr val="3F3F46"/>
            </a:solidFill>
            <a:prstDash val="solid"/>
          </a:ln>
        </p:spPr>
      </p:sp>
      <p:sp>
        <p:nvSpPr>
          <p:cNvPr id="11" name="Text 9"/>
          <p:cNvSpPr txBox="1"/>
          <p:nvPr/>
        </p:nvSpPr>
        <p:spPr>
          <a:xfrm>
            <a:off x="6233008" y="173736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12" name="Text 10"/>
          <p:cNvSpPr txBox="1"/>
          <p:nvPr/>
        </p:nvSpPr>
        <p:spPr>
          <a:xfrm>
            <a:off x="6233008" y="260604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Matches found live</a:t>
            </a:r>
            <a:endParaRPr lang="en-US" sz="1600" dirty="0"/>
          </a:p>
        </p:txBody>
      </p:sp>
      <p:sp>
        <p:nvSpPr>
          <p:cNvPr id="13" name="Text 11"/>
          <p:cNvSpPr txBox="1"/>
          <p:nvPr/>
        </p:nvSpPr>
        <p:spPr>
          <a:xfrm>
            <a:off x="6324448" y="310896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Job seekers matched on the state jobs board for the demo hotel's housekeeper, no names shown</a:t>
            </a:r>
            <a:endParaRPr lang="en-US" sz="1150" dirty="0"/>
          </a:p>
        </p:txBody>
      </p:sp>
      <p:sp>
        <p:nvSpPr>
          <p:cNvPr id="14" name="Shape 12"/>
          <p:cNvSpPr/>
          <p:nvPr/>
        </p:nvSpPr>
        <p:spPr>
          <a:xfrm>
            <a:off x="8778011" y="1645920"/>
            <a:ext cx="0" cy="3291840"/>
          </a:xfrm>
          <a:prstGeom prst="line">
            <a:avLst/>
          </a:prstGeom>
          <a:noFill/>
          <a:ln w="9525">
            <a:solidFill>
              <a:srgbClr val="3F3F46"/>
            </a:solidFill>
            <a:prstDash val="solid"/>
          </a:ln>
        </p:spPr>
      </p:sp>
      <p:sp>
        <p:nvSpPr>
          <p:cNvPr id="15" name="Text 13"/>
          <p:cNvSpPr txBox="1"/>
          <p:nvPr/>
        </p:nvSpPr>
        <p:spPr>
          <a:xfrm>
            <a:off x="8915171" y="173736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4.4 s</a:t>
            </a:r>
            <a:endParaRPr lang="en-US" sz="4400" dirty="0"/>
          </a:p>
        </p:txBody>
      </p:sp>
      <p:sp>
        <p:nvSpPr>
          <p:cNvPr id="16" name="Text 14"/>
          <p:cNvSpPr txBox="1"/>
          <p:nvPr/>
        </p:nvSpPr>
        <p:spPr>
          <a:xfrm>
            <a:off x="8915171" y="260604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Job to phone</a:t>
            </a:r>
            <a:endParaRPr lang="en-US" sz="1600" dirty="0"/>
          </a:p>
        </p:txBody>
      </p:sp>
      <p:sp>
        <p:nvSpPr>
          <p:cNvPr id="17" name="Text 15"/>
          <p:cNvSpPr txBox="1"/>
          <p:nvPr/>
        </p:nvSpPr>
        <p:spPr>
          <a:xfrm>
            <a:off x="9006611" y="310896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A new job reached the on-shift staff member's phone in a live test</a:t>
            </a:r>
            <a:endParaRPr lang="en-US" sz="1150" dirty="0"/>
          </a:p>
        </p:txBody>
      </p:sp>
      <p:sp>
        <p:nvSpPr>
          <p:cNvPr id="18" name="Text 16"/>
          <p:cNvSpPr txBox="1"/>
          <p:nvPr/>
        </p:nvSpPr>
        <p:spPr>
          <a:xfrm>
            <a:off x="548640" y="5349240"/>
            <a:ext cx="11094415" cy="320040"/>
          </a:xfrm>
          <a:prstGeom prst="rect">
            <a:avLst/>
          </a:prstGeom>
          <a:noFill/>
          <a:ln/>
        </p:spPr>
        <p:txBody>
          <a:bodyPr wrap="square" lIns="0" tIns="0" rIns="0" bIns="0" rtlCol="0" anchor="t"/>
          <a:lstStyle/>
          <a:p>
            <a:pPr algn="ctr" indent="0" marL="0">
              <a:buNone/>
            </a:pPr>
            <a:r>
              <a:rPr lang="en-US" sz="1200" dirty="0">
                <a:solidFill>
                  <a:srgbClr val="A1A1AA"/>
                </a:solidFill>
                <a:latin typeface="Arial" pitchFamily="34" charset="0"/>
                <a:ea typeface="Arial" pitchFamily="34" charset="-122"/>
                <a:cs typeface="Arial" pitchFamily="34" charset="-120"/>
              </a:rPr>
              <a:t>In a pilot we measure: hours short per week  ·  overtime  ·  check-ins done  ·  minutes from request to done</a:t>
            </a:r>
            <a:endParaRPr lang="en-US" sz="1200" dirty="0"/>
          </a:p>
        </p:txBody>
      </p:sp>
      <p:sp>
        <p:nvSpPr>
          <p:cNvPr id="19" name="Text 17"/>
          <p:cNvSpPr txBox="1"/>
          <p:nvPr/>
        </p:nvSpPr>
        <p:spPr>
          <a:xfrm>
            <a:off x="548640" y="6263640"/>
            <a:ext cx="10545775" cy="274320"/>
          </a:xfrm>
          <a:prstGeom prst="rect">
            <a:avLst/>
          </a:prstGeom>
          <a:noFill/>
          <a:ln/>
        </p:spPr>
        <p:txBody>
          <a:bodyPr wrap="square" lIns="0" tIns="0" rIns="0" bIns="0" rtlCol="0" anchor="t"/>
          <a:lstStyle/>
          <a:p>
            <a:pPr algn="ctr" indent="0" marL="0">
              <a:buNone/>
            </a:pPr>
            <a:r>
              <a:rPr lang="en-US" sz="850" dirty="0">
                <a:solidFill>
                  <a:srgbClr val="71717A"/>
                </a:solidFill>
                <a:latin typeface="Arial" pitchFamily="34" charset="0"/>
                <a:ea typeface="Arial" pitchFamily="34" charset="-122"/>
                <a:cs typeface="Arial" pitchFamily="34" charset="-120"/>
              </a:rPr>
              <a:t>Sources: </a:t>
            </a:r>
            <a:pPr algn="ctr" indent="0" marL="0">
              <a:buNone/>
            </a:pPr>
            <a:r>
              <a:rPr lang="en-US" sz="850" u="sng" dirty="0">
                <a:solidFill>
                  <a:srgbClr val="818CF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Hotel Booking Demand dataset (Antonio, Almeida, Nunes 2019, CC BY 4.0)</a:t>
            </a:r>
            <a:endParaRPr lang="en-US" sz="85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Competitor Analysis</a:t>
            </a:r>
            <a:endParaRPr lang="en-US" sz="3000" dirty="0"/>
          </a:p>
        </p:txBody>
      </p:sp>
      <p:sp>
        <p:nvSpPr>
          <p:cNvPr id="3" name="Text 1"/>
          <p:cNvSpPr txBox="1"/>
          <p:nvPr/>
        </p:nvSpPr>
        <p:spPr>
          <a:xfrm>
            <a:off x="1371600" y="1188720"/>
            <a:ext cx="9448495" cy="411480"/>
          </a:xfrm>
          <a:prstGeom prst="rect">
            <a:avLst/>
          </a:prstGeom>
          <a:noFill/>
          <a:ln/>
        </p:spPr>
        <p:txBody>
          <a:bodyPr wrap="square" lIns="0" tIns="0" rIns="0" bIns="0" rtlCol="0" anchor="ctr"/>
          <a:lstStyle/>
          <a:p>
            <a:pPr algn="ctr" indent="0" marL="0">
              <a:buNone/>
            </a:pPr>
            <a:r>
              <a:rPr lang="en-US" sz="1400" dirty="0">
                <a:solidFill>
                  <a:srgbClr val="A1A1AA"/>
                </a:solidFill>
                <a:latin typeface="Arial" pitchFamily="34" charset="0"/>
                <a:ea typeface="Arial" pitchFamily="34" charset="-122"/>
                <a:cs typeface="Arial" pitchFamily="34" charset="-120"/>
              </a:rPr>
              <a:t>Booking tools sell the room. HOI runs the stay.</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828800" y="1965960"/>
          <a:ext cx="8531352" cy="914400"/>
        </p:xfrm>
        <a:graphic>
          <a:graphicData uri="http://schemas.openxmlformats.org/drawingml/2006/table">
            <a:tbl>
              <a:tblPr/>
              <a:tblGrid>
                <a:gridCol w="4416552"/>
                <a:gridCol w="1371600"/>
                <a:gridCol w="1371600"/>
                <a:gridCol w="1371600"/>
              </a:tblGrid>
              <a:tr h="457200">
                <a:tc>
                  <a:txBody>
                    <a:bodyPr/>
                    <a:lstStyle/>
                    <a:p>
                      <a:pPr indent="0" marL="0">
                        <a:buNone/>
                      </a:pPr>
                      <a:r>
                        <a:rPr lang="en-US" sz="1200" dirty="0">
                          <a:solidFill>
                            <a:srgbClr val="FFFFFF"/>
                          </a:solidFill>
                          <a:latin typeface="Arial" pitchFamily="34" charset="0"/>
                          <a:ea typeface="Arial" pitchFamily="34" charset="-122"/>
                          <a:cs typeface="Arial" pitchFamily="34" charset="-120"/>
                        </a:rPr>
                        <a:t> </a:t>
                      </a:r>
                      <a:endParaRPr lang="en-US" sz="12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200" b="1" dirty="0">
                          <a:solidFill>
                            <a:srgbClr val="A1A1AA"/>
                          </a:solidFill>
                          <a:latin typeface="Arial" pitchFamily="34" charset="0"/>
                          <a:ea typeface="Arial" pitchFamily="34" charset="-122"/>
                          <a:cs typeface="Arial" pitchFamily="34" charset="-120"/>
                        </a:rPr>
                        <a:t>Flexkeeping</a:t>
                      </a:r>
                      <a:endParaRPr lang="en-US" sz="12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200" b="1" dirty="0">
                          <a:solidFill>
                            <a:srgbClr val="A1A1AA"/>
                          </a:solidFill>
                          <a:latin typeface="Arial" pitchFamily="34" charset="0"/>
                          <a:ea typeface="Arial" pitchFamily="34" charset="-122"/>
                          <a:cs typeface="Arial" pitchFamily="34" charset="-120"/>
                        </a:rPr>
                        <a:t>Deputy</a:t>
                      </a:r>
                      <a:endParaRPr lang="en-US" sz="12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HOI</a:t>
                      </a:r>
                      <a:endParaRPr lang="en-US" sz="13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solidFill>
                      <a:srgbClr val="18181B"/>
                    </a:solidFill>
                  </a:tcPr>
                </a:tc>
              </a:tr>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Staff task management</a:t>
                      </a:r>
                      <a:endParaRPr lang="en-US" sz="13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8B8CF8"/>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solidFill>
                      <a:srgbClr val="18181B"/>
                    </a:solidFill>
                  </a:tcPr>
                </a:tc>
              </a:tr>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Demand-based staff scheduling</a:t>
                      </a:r>
                      <a:endParaRPr lang="en-US" sz="13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8B8CF8"/>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solidFill>
                      <a:srgbClr val="18181B"/>
                    </a:solidFill>
                  </a:tcPr>
                </a:tc>
              </a:tr>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Voice tasks with auto-translation</a:t>
                      </a:r>
                      <a:endParaRPr lang="en-US" sz="13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71717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8B8CF8"/>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solidFill>
                      <a:srgbClr val="18181B"/>
                    </a:solidFill>
                  </a:tcPr>
                </a:tc>
              </a:tr>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Attrition risk with reasons and fixes</a:t>
                      </a:r>
                      <a:endParaRPr lang="en-US" sz="13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71717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71717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8B8CF8"/>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solidFill>
                      <a:srgbClr val="18181B"/>
                    </a:solidFill>
                  </a:tcPr>
                </a:tc>
              </a:tr>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Char Dham season and road-closure aware forecasting</a:t>
                      </a:r>
                      <a:endParaRPr lang="en-US" sz="13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71717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71717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tcPr>
                </a:tc>
                <a:tc>
                  <a:txBody>
                    <a:bodyPr/>
                    <a:lstStyle/>
                    <a:p>
                      <a:pPr algn="ctr" indent="0" marL="0">
                        <a:buNone/>
                      </a:pPr>
                      <a:r>
                        <a:rPr lang="en-US" sz="1500" dirty="0">
                          <a:solidFill>
                            <a:srgbClr val="8B8CF8"/>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73152" marR="73152" marT="73152" marB="73152" anchor="ctr">
                    <a:lnL w="6350" cap="flat" cmpd="sng" algn="ctr">
                      <a:solidFill>
                        <a:srgbClr val="27272A"/>
                      </a:solidFill>
                      <a:prstDash val="solid"/>
                      <a:round/>
                      <a:headEnd type="none" w="med" len="med"/>
                      <a:tailEnd type="none" w="med" len="med"/>
                    </a:lnL>
                    <a:lnR w="6350" cap="flat" cmpd="sng" algn="ctr">
                      <a:solidFill>
                        <a:srgbClr val="27272A"/>
                      </a:solidFill>
                      <a:prstDash val="solid"/>
                      <a:round/>
                      <a:headEnd type="none" w="med" len="med"/>
                      <a:tailEnd type="none" w="med" len="med"/>
                    </a:lnR>
                    <a:lnT w="6350" cap="flat" cmpd="sng" algn="ctr">
                      <a:solidFill>
                        <a:srgbClr val="27272A"/>
                      </a:solidFill>
                      <a:prstDash val="solid"/>
                      <a:round/>
                      <a:headEnd type="none" w="med" len="med"/>
                      <a:tailEnd type="none" w="med" len="med"/>
                    </a:lnT>
                    <a:lnB w="6350" cap="flat" cmpd="sng" algn="ctr">
                      <a:solidFill>
                        <a:srgbClr val="27272A"/>
                      </a:solidFill>
                      <a:prstDash val="solid"/>
                      <a:round/>
                      <a:headEnd type="none" w="med" len="med"/>
                      <a:tailEnd type="none" w="med" len="med"/>
                    </a:lnB>
                    <a:solidFill>
                      <a:srgbClr val="18181B"/>
                    </a:solidFill>
                  </a:tcPr>
                </a:tc>
              </a:tr>
            </a:tbl>
          </a:graphicData>
        </a:graphic>
      </p:graphicFrame>
      <p:sp>
        <p:nvSpPr>
          <p:cNvPr id="5" name="Text 2"/>
          <p:cNvSpPr txBox="1"/>
          <p:nvPr/>
        </p:nvSpPr>
        <p:spPr>
          <a:xfrm>
            <a:off x="1828800" y="4937760"/>
            <a:ext cx="8531352" cy="274320"/>
          </a:xfrm>
          <a:prstGeom prst="rect">
            <a:avLst/>
          </a:prstGeom>
          <a:noFill/>
          <a:ln/>
        </p:spPr>
        <p:txBody>
          <a:bodyPr wrap="square" lIns="0" tIns="0" rIns="0" bIns="0" rtlCol="0" anchor="t"/>
          <a:lstStyle/>
          <a:p>
            <a:pPr indent="0" marL="0">
              <a:buNone/>
            </a:pPr>
            <a:r>
              <a:rPr lang="en-US" sz="1000" dirty="0">
                <a:solidFill>
                  <a:srgbClr val="71717A"/>
                </a:solidFill>
                <a:latin typeface="Arial" pitchFamily="34" charset="0"/>
                <a:ea typeface="Arial" pitchFamily="34" charset="-122"/>
                <a:cs typeface="Arial" pitchFamily="34" charset="-120"/>
              </a:rPr>
              <a:t>— not listed on the product's public pages (checked October 2026)</a:t>
            </a:r>
            <a:endParaRPr lang="en-US" sz="1000" dirty="0"/>
          </a:p>
        </p:txBody>
      </p:sp>
      <p:sp>
        <p:nvSpPr>
          <p:cNvPr id="6" name="Text 3"/>
          <p:cNvSpPr txBox="1"/>
          <p:nvPr/>
        </p:nvSpPr>
        <p:spPr>
          <a:xfrm>
            <a:off x="548640" y="5349240"/>
            <a:ext cx="11094415" cy="320040"/>
          </a:xfrm>
          <a:prstGeom prst="rect">
            <a:avLst/>
          </a:prstGeom>
          <a:noFill/>
          <a:ln/>
        </p:spPr>
        <p:txBody>
          <a:bodyPr wrap="square" lIns="0" tIns="0" rIns="0" bIns="0" rtlCol="0" anchor="t"/>
          <a:lstStyle/>
          <a:p>
            <a:pPr algn="ctr" indent="0" marL="0">
              <a:buNone/>
            </a:pPr>
            <a:r>
              <a:rPr lang="en-US" sz="1200" dirty="0">
                <a:solidFill>
                  <a:srgbClr val="A1A1AA"/>
                </a:solidFill>
                <a:latin typeface="Arial" pitchFamily="34" charset="0"/>
                <a:ea typeface="Arial" pitchFamily="34" charset="-122"/>
                <a:cs typeface="Arial" pitchFamily="34" charset="-120"/>
              </a:rPr>
              <a:t>Also in HOI: link to a state travel &amp; jobs network  ·  Hindi voice for frontline staff  ·  no booking commission</a:t>
            </a:r>
            <a:endParaRPr lang="en-US" sz="1200" dirty="0"/>
          </a:p>
        </p:txBody>
      </p:sp>
      <p:sp>
        <p:nvSpPr>
          <p:cNvPr id="7" name="Text 4"/>
          <p:cNvSpPr txBox="1"/>
          <p:nvPr/>
        </p:nvSpPr>
        <p:spPr>
          <a:xfrm>
            <a:off x="548640" y="6263640"/>
            <a:ext cx="10545775" cy="274320"/>
          </a:xfrm>
          <a:prstGeom prst="rect">
            <a:avLst/>
          </a:prstGeom>
          <a:noFill/>
          <a:ln/>
        </p:spPr>
        <p:txBody>
          <a:bodyPr wrap="square" lIns="0" tIns="0" rIns="0" bIns="0" rtlCol="0" anchor="t"/>
          <a:lstStyle/>
          <a:p>
            <a:pPr algn="ctr" indent="0" marL="0">
              <a:buNone/>
            </a:pPr>
            <a:r>
              <a:rPr lang="en-US" sz="850" dirty="0">
                <a:solidFill>
                  <a:srgbClr val="71717A"/>
                </a:solidFill>
                <a:latin typeface="Arial" pitchFamily="34" charset="0"/>
                <a:ea typeface="Arial" pitchFamily="34" charset="-122"/>
                <a:cs typeface="Arial" pitchFamily="34" charset="-120"/>
              </a:rPr>
              <a:t>Sources: </a:t>
            </a:r>
            <a:pPr algn="ctr" indent="0" marL="0">
              <a:buNone/>
            </a:pPr>
            <a:r>
              <a:rPr lang="en-US" sz="850" u="sng" dirty="0">
                <a:solidFill>
                  <a:srgbClr val="818CF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Flexkeeping: Collaboration Suite &amp; Flexie AI</a:t>
            </a:r>
            <a:pPr algn="ctr" indent="0" marL="0">
              <a:buNone/>
            </a:pPr>
            <a:r>
              <a:rPr lang="en-US" sz="850" dirty="0">
                <a:solidFill>
                  <a:srgbClr val="71717A"/>
                </a:solidFill>
                <a:latin typeface="Arial" pitchFamily="34" charset="0"/>
                <a:ea typeface="Arial" pitchFamily="34" charset="-122"/>
                <a:cs typeface="Arial" pitchFamily="34" charset="-120"/>
              </a:rPr>
              <a:t>  ·  </a:t>
            </a:r>
            <a:pPr algn="ctr" indent="0" marL="0">
              <a:buNone/>
            </a:pPr>
            <a:r>
              <a:rPr lang="en-US" sz="850" u="sng" dirty="0">
                <a:solidFill>
                  <a:srgbClr val="818CF8"/>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Deputy: Hospitality workforce platform</a:t>
            </a:r>
            <a:endParaRPr lang="en-US" sz="85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502920"/>
            <a:ext cx="11094415"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Long-Term Business</a:t>
            </a:r>
            <a:endParaRPr lang="en-US" sz="3000" dirty="0"/>
          </a:p>
        </p:txBody>
      </p:sp>
      <p:sp>
        <p:nvSpPr>
          <p:cNvPr id="3" name="Text 1"/>
          <p:cNvSpPr txBox="1"/>
          <p:nvPr/>
        </p:nvSpPr>
        <p:spPr>
          <a:xfrm>
            <a:off x="1371600" y="1188720"/>
            <a:ext cx="9448495" cy="411480"/>
          </a:xfrm>
          <a:prstGeom prst="rect">
            <a:avLst/>
          </a:prstGeom>
          <a:noFill/>
          <a:ln/>
        </p:spPr>
        <p:txBody>
          <a:bodyPr wrap="square" lIns="0" tIns="0" rIns="0" bIns="0" rtlCol="0" anchor="ctr"/>
          <a:lstStyle/>
          <a:p>
            <a:pPr algn="ctr" indent="0" marL="0">
              <a:buNone/>
            </a:pPr>
            <a:r>
              <a:rPr lang="en-US" sz="1400" dirty="0">
                <a:solidFill>
                  <a:srgbClr val="A1A1AA"/>
                </a:solidFill>
                <a:latin typeface="Arial" pitchFamily="34" charset="0"/>
                <a:ea typeface="Arial" pitchFamily="34" charset="-122"/>
                <a:cs typeface="Arial" pitchFamily="34" charset="-120"/>
              </a:rPr>
              <a:t>Free to start, paid to grow, a platform for the state. No booking commission, ever.</a:t>
            </a:r>
            <a:endParaRPr lang="en-US" sz="1400" dirty="0"/>
          </a:p>
        </p:txBody>
      </p:sp>
      <p:sp>
        <p:nvSpPr>
          <p:cNvPr id="4" name="Text 2"/>
          <p:cNvSpPr txBox="1"/>
          <p:nvPr/>
        </p:nvSpPr>
        <p:spPr>
          <a:xfrm>
            <a:off x="868680" y="2057400"/>
            <a:ext cx="2407844" cy="822960"/>
          </a:xfrm>
          <a:prstGeom prst="rect">
            <a:avLst/>
          </a:prstGeom>
          <a:noFill/>
          <a:ln/>
        </p:spPr>
        <p:txBody>
          <a:bodyPr wrap="square" lIns="0" tIns="0" rIns="0" bIns="0" rtlCol="0" anchor="ctr"/>
          <a:lstStyle/>
          <a:p>
            <a:pPr algn="ctr" indent="0" marL="0">
              <a:buNone/>
            </a:pPr>
            <a:r>
              <a:rPr lang="en-US" sz="4400" b="1" dirty="0">
                <a:solidFill>
                  <a:srgbClr val="22C55E"/>
                </a:solidFill>
                <a:latin typeface="Arial" pitchFamily="34" charset="0"/>
                <a:ea typeface="Arial" pitchFamily="34" charset="-122"/>
                <a:cs typeface="Arial" pitchFamily="34" charset="-120"/>
              </a:rPr>
              <a:t>Free</a:t>
            </a:r>
            <a:endParaRPr lang="en-US" sz="4400" dirty="0"/>
          </a:p>
        </p:txBody>
      </p:sp>
      <p:sp>
        <p:nvSpPr>
          <p:cNvPr id="5" name="Text 3"/>
          <p:cNvSpPr txBox="1"/>
          <p:nvPr/>
        </p:nvSpPr>
        <p:spPr>
          <a:xfrm>
            <a:off x="868680" y="292608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Homestays</a:t>
            </a:r>
            <a:endParaRPr lang="en-US" sz="1600" dirty="0"/>
          </a:p>
        </p:txBody>
      </p:sp>
      <p:sp>
        <p:nvSpPr>
          <p:cNvPr id="6" name="Text 4"/>
          <p:cNvSpPr txBox="1"/>
          <p:nvPr/>
        </p:nvSpPr>
        <p:spPr>
          <a:xfrm>
            <a:off x="960120" y="342900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Adoption first; data starts to flow</a:t>
            </a:r>
            <a:endParaRPr lang="en-US" sz="1150" dirty="0"/>
          </a:p>
        </p:txBody>
      </p:sp>
      <p:sp>
        <p:nvSpPr>
          <p:cNvPr id="7" name="Shape 5"/>
          <p:cNvSpPr/>
          <p:nvPr/>
        </p:nvSpPr>
        <p:spPr>
          <a:xfrm>
            <a:off x="3413684" y="1965960"/>
            <a:ext cx="0" cy="2651760"/>
          </a:xfrm>
          <a:prstGeom prst="line">
            <a:avLst/>
          </a:prstGeom>
          <a:noFill/>
          <a:ln w="9525">
            <a:solidFill>
              <a:srgbClr val="3F3F46"/>
            </a:solidFill>
            <a:prstDash val="solid"/>
          </a:ln>
        </p:spPr>
      </p:sp>
      <p:sp>
        <p:nvSpPr>
          <p:cNvPr id="8" name="Text 6"/>
          <p:cNvSpPr txBox="1"/>
          <p:nvPr/>
        </p:nvSpPr>
        <p:spPr>
          <a:xfrm>
            <a:off x="3550844" y="205740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₹999+</a:t>
            </a:r>
            <a:endParaRPr lang="en-US" sz="4400" dirty="0"/>
          </a:p>
        </p:txBody>
      </p:sp>
      <p:sp>
        <p:nvSpPr>
          <p:cNvPr id="9" name="Text 7"/>
          <p:cNvSpPr txBox="1"/>
          <p:nvPr/>
        </p:nvSpPr>
        <p:spPr>
          <a:xfrm>
            <a:off x="3550844" y="292608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Small hotels</a:t>
            </a:r>
            <a:endParaRPr lang="en-US" sz="1600" dirty="0"/>
          </a:p>
        </p:txBody>
      </p:sp>
      <p:sp>
        <p:nvSpPr>
          <p:cNvPr id="10" name="Text 8"/>
          <p:cNvSpPr txBox="1"/>
          <p:nvPr/>
        </p:nvSpPr>
        <p:spPr>
          <a:xfrm>
            <a:off x="3642284" y="342900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₹999–1,999 a month, near the cost of a small booking system</a:t>
            </a:r>
            <a:endParaRPr lang="en-US" sz="1150" dirty="0"/>
          </a:p>
        </p:txBody>
      </p:sp>
      <p:sp>
        <p:nvSpPr>
          <p:cNvPr id="11" name="Shape 9"/>
          <p:cNvSpPr/>
          <p:nvPr/>
        </p:nvSpPr>
        <p:spPr>
          <a:xfrm>
            <a:off x="6095848" y="1965960"/>
            <a:ext cx="0" cy="2651760"/>
          </a:xfrm>
          <a:prstGeom prst="line">
            <a:avLst/>
          </a:prstGeom>
          <a:noFill/>
          <a:ln w="9525">
            <a:solidFill>
              <a:srgbClr val="3F3F46"/>
            </a:solidFill>
            <a:prstDash val="solid"/>
          </a:ln>
        </p:spPr>
      </p:sp>
      <p:sp>
        <p:nvSpPr>
          <p:cNvPr id="12" name="Text 10"/>
          <p:cNvSpPr txBox="1"/>
          <p:nvPr/>
        </p:nvSpPr>
        <p:spPr>
          <a:xfrm>
            <a:off x="6233008" y="205740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Shared</a:t>
            </a:r>
            <a:endParaRPr lang="en-US" sz="4400" dirty="0"/>
          </a:p>
        </p:txBody>
      </p:sp>
      <p:sp>
        <p:nvSpPr>
          <p:cNvPr id="13" name="Text 11"/>
          <p:cNvSpPr txBox="1"/>
          <p:nvPr/>
        </p:nvSpPr>
        <p:spPr>
          <a:xfrm>
            <a:off x="6233008" y="292608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Groups &amp; clusters</a:t>
            </a:r>
            <a:endParaRPr lang="en-US" sz="1600" dirty="0"/>
          </a:p>
        </p:txBody>
      </p:sp>
      <p:sp>
        <p:nvSpPr>
          <p:cNvPr id="14" name="Text 12"/>
          <p:cNvSpPr txBox="1"/>
          <p:nvPr/>
        </p:nvSpPr>
        <p:spPr>
          <a:xfrm>
            <a:off x="6324448" y="342900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8–10 homestays sharing staff and experiences</a:t>
            </a:r>
            <a:endParaRPr lang="en-US" sz="1150" dirty="0"/>
          </a:p>
        </p:txBody>
      </p:sp>
      <p:sp>
        <p:nvSpPr>
          <p:cNvPr id="15" name="Shape 13"/>
          <p:cNvSpPr/>
          <p:nvPr/>
        </p:nvSpPr>
        <p:spPr>
          <a:xfrm>
            <a:off x="8778011" y="1965960"/>
            <a:ext cx="0" cy="2651760"/>
          </a:xfrm>
          <a:prstGeom prst="line">
            <a:avLst/>
          </a:prstGeom>
          <a:noFill/>
          <a:ln w="9525">
            <a:solidFill>
              <a:srgbClr val="3F3F46"/>
            </a:solidFill>
            <a:prstDash val="solid"/>
          </a:ln>
        </p:spPr>
      </p:sp>
      <p:sp>
        <p:nvSpPr>
          <p:cNvPr id="16" name="Text 14"/>
          <p:cNvSpPr txBox="1"/>
          <p:nvPr/>
        </p:nvSpPr>
        <p:spPr>
          <a:xfrm>
            <a:off x="8915171" y="2057400"/>
            <a:ext cx="2407844"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Contract</a:t>
            </a:r>
            <a:endParaRPr lang="en-US" sz="4400" dirty="0"/>
          </a:p>
        </p:txBody>
      </p:sp>
      <p:sp>
        <p:nvSpPr>
          <p:cNvPr id="17" name="Text 15"/>
          <p:cNvSpPr txBox="1"/>
          <p:nvPr/>
        </p:nvSpPr>
        <p:spPr>
          <a:xfrm>
            <a:off x="8915171" y="2926080"/>
            <a:ext cx="2407844"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State tourism dept.</a:t>
            </a:r>
            <a:endParaRPr lang="en-US" sz="1600" dirty="0"/>
          </a:p>
        </p:txBody>
      </p:sp>
      <p:sp>
        <p:nvSpPr>
          <p:cNvPr id="18" name="Text 16"/>
          <p:cNvSpPr txBox="1"/>
          <p:nvPr/>
        </p:nvSpPr>
        <p:spPr>
          <a:xfrm>
            <a:off x="9006611" y="3429000"/>
            <a:ext cx="2224964" cy="1097280"/>
          </a:xfrm>
          <a:prstGeom prst="rect">
            <a:avLst/>
          </a:prstGeom>
          <a:noFill/>
          <a:ln/>
        </p:spPr>
        <p:txBody>
          <a:bodyPr wrap="square" lIns="0" tIns="0" rIns="0" bIns="0" rtlCol="0" anchor="t"/>
          <a:lstStyle/>
          <a:p>
            <a:pPr algn="ctr" indent="0" marL="0">
              <a:buNone/>
            </a:pPr>
            <a:r>
              <a:rPr lang="en-US" sz="1150" dirty="0">
                <a:solidFill>
                  <a:srgbClr val="A1A1AA"/>
                </a:solidFill>
                <a:latin typeface="Arial" pitchFamily="34" charset="0"/>
                <a:ea typeface="Arial" pitchFamily="34" charset="-122"/>
                <a:cs typeface="Arial" pitchFamily="34" charset="-120"/>
              </a:rPr>
              <a:t>Travel guide, hiring board, crowd and money-flow data</a:t>
            </a:r>
            <a:endParaRPr lang="en-US" sz="1150" dirty="0"/>
          </a:p>
        </p:txBody>
      </p:sp>
      <p:sp>
        <p:nvSpPr>
          <p:cNvPr id="19" name="Text 17"/>
          <p:cNvSpPr txBox="1"/>
          <p:nvPr/>
        </p:nvSpPr>
        <p:spPr>
          <a:xfrm>
            <a:off x="548640" y="4983480"/>
            <a:ext cx="11094415"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Arial" pitchFamily="34" charset="0"/>
                <a:ea typeface="Arial" pitchFamily="34" charset="-122"/>
                <a:cs typeface="Arial" pitchFamily="34" charset="-120"/>
              </a:rPr>
              <a:t>Mussoorie &amp; Rishikesh  →  Char Dham routes  →  other hill states</a:t>
            </a:r>
            <a:endParaRPr lang="en-US" sz="1500" dirty="0"/>
          </a:p>
        </p:txBody>
      </p:sp>
      <p:sp>
        <p:nvSpPr>
          <p:cNvPr id="20" name="Text 18"/>
          <p:cNvSpPr txBox="1"/>
          <p:nvPr/>
        </p:nvSpPr>
        <p:spPr>
          <a:xfrm>
            <a:off x="548640" y="5440680"/>
            <a:ext cx="11094415" cy="320040"/>
          </a:xfrm>
          <a:prstGeom prst="rect">
            <a:avLst/>
          </a:prstGeom>
          <a:noFill/>
          <a:ln/>
        </p:spPr>
        <p:txBody>
          <a:bodyPr wrap="square" lIns="0" tIns="0" rIns="0" bIns="0" rtlCol="0" anchor="t"/>
          <a:lstStyle/>
          <a:p>
            <a:pPr algn="ctr" indent="0" marL="0">
              <a:buNone/>
            </a:pPr>
            <a:r>
              <a:rPr lang="en-US" sz="1150" dirty="0">
                <a:solidFill>
                  <a:srgbClr val="71717A"/>
                </a:solidFill>
                <a:latin typeface="Arial" pitchFamily="34" charset="0"/>
                <a:ea typeface="Arial" pitchFamily="34" charset="-122"/>
                <a:cs typeface="Arial" pitchFamily="34" charset="-120"/>
              </a:rPr>
              <a:t>Prices are a proposal: validated with 8–10 owner interviews and a free 2-week pilot</a:t>
            </a:r>
            <a:endParaRPr lang="en-US" sz="115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1717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HOI logo">    </p:cNvPr>
          <p:cNvPicPr>
            <a:picLocks noChangeAspect="1"/>
          </p:cNvPicPr>
          <p:nvPr/>
        </p:nvPicPr>
        <p:blipFill>
          <a:blip r:embed="rId1"/>
          <a:stretch>
            <a:fillRect/>
          </a:stretch>
        </p:blipFill>
        <p:spPr>
          <a:xfrm>
            <a:off x="5592928" y="685800"/>
            <a:ext cx="1005840" cy="1005840"/>
          </a:xfrm>
          <a:prstGeom prst="rect">
            <a:avLst/>
          </a:prstGeom>
        </p:spPr>
      </p:pic>
      <p:sp>
        <p:nvSpPr>
          <p:cNvPr id="3" name="Text 0"/>
          <p:cNvSpPr txBox="1"/>
          <p:nvPr/>
        </p:nvSpPr>
        <p:spPr>
          <a:xfrm>
            <a:off x="548640" y="1828800"/>
            <a:ext cx="11094415"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4" name="Text 1"/>
          <p:cNvSpPr txBox="1"/>
          <p:nvPr/>
        </p:nvSpPr>
        <p:spPr>
          <a:xfrm>
            <a:off x="548640" y="2560320"/>
            <a:ext cx="11094415" cy="365760"/>
          </a:xfrm>
          <a:prstGeom prst="rect">
            <a:avLst/>
          </a:prstGeom>
          <a:noFill/>
          <a:ln/>
        </p:spPr>
        <p:txBody>
          <a:bodyPr wrap="square" lIns="0" tIns="0" rIns="0" bIns="0" rtlCol="0" anchor="t"/>
          <a:lstStyle/>
          <a:p>
            <a:pPr algn="ctr" indent="0" marL="0">
              <a:buNone/>
            </a:pPr>
            <a:r>
              <a:rPr lang="en-US" sz="1600" dirty="0">
                <a:solidFill>
                  <a:srgbClr val="A1A1AA"/>
                </a:solidFill>
                <a:latin typeface="Arial" pitchFamily="34" charset="0"/>
                <a:ea typeface="Arial" pitchFamily="34" charset="-122"/>
                <a:cs typeface="Arial" pitchFamily="34" charset="-120"/>
              </a:rPr>
              <a:t>Smarter hotels. Happier teams.</a:t>
            </a:r>
            <a:endParaRPr lang="en-US" sz="1600" dirty="0"/>
          </a:p>
        </p:txBody>
      </p:sp>
      <p:sp>
        <p:nvSpPr>
          <p:cNvPr id="5" name="Text 2"/>
          <p:cNvSpPr txBox="1"/>
          <p:nvPr/>
        </p:nvSpPr>
        <p:spPr>
          <a:xfrm>
            <a:off x="731520" y="3474720"/>
            <a:ext cx="2682164" cy="320040"/>
          </a:xfrm>
          <a:prstGeom prst="rect">
            <a:avLst/>
          </a:prstGeom>
          <a:noFill/>
          <a:ln/>
        </p:spPr>
        <p:txBody>
          <a:bodyPr wrap="square" lIns="0" tIns="0" rIns="0" bIns="0" rtlCol="0" anchor="t"/>
          <a:lstStyle/>
          <a:p>
            <a:pPr algn="ctr" indent="0" marL="0">
              <a:buNone/>
            </a:pPr>
            <a:r>
              <a:rPr lang="en-US" sz="1400" dirty="0">
                <a:solidFill>
                  <a:srgbClr val="22C55E"/>
                </a:solidFill>
                <a:latin typeface="Arial" pitchFamily="34" charset="0"/>
                <a:ea typeface="Arial" pitchFamily="34" charset="-122"/>
                <a:cs typeface="Arial" pitchFamily="34" charset="-120"/>
              </a:rPr>
              <a:t>● </a:t>
            </a:r>
            <a:pPr algn="ctr" indent="0" marL="0">
              <a:buNone/>
            </a:pPr>
            <a:r>
              <a:rPr lang="en-US" sz="1400" b="1" dirty="0">
                <a:solidFill>
                  <a:srgbClr val="FFFFFF"/>
                </a:solidFill>
                <a:latin typeface="Arial" pitchFamily="34" charset="0"/>
                <a:ea typeface="Arial" pitchFamily="34" charset="-122"/>
                <a:cs typeface="Arial" pitchFamily="34" charset="-120"/>
              </a:rPr>
              <a:t>Hotel portal</a:t>
            </a:r>
            <a:endParaRPr lang="en-US" sz="1400" dirty="0"/>
          </a:p>
        </p:txBody>
      </p:sp>
      <p:sp>
        <p:nvSpPr>
          <p:cNvPr id="6" name="Text 3"/>
          <p:cNvSpPr txBox="1"/>
          <p:nvPr/>
        </p:nvSpPr>
        <p:spPr>
          <a:xfrm>
            <a:off x="731520" y="3840480"/>
            <a:ext cx="2682164" cy="274320"/>
          </a:xfrm>
          <a:prstGeom prst="rect">
            <a:avLst/>
          </a:prstGeom>
          <a:noFill/>
          <a:ln/>
        </p:spPr>
        <p:txBody>
          <a:bodyPr wrap="square" lIns="0" tIns="0" rIns="0" bIns="0" rtlCol="0" anchor="t"/>
          <a:lstStyle/>
          <a:p>
            <a:pPr algn="ctr" indent="0" marL="0">
              <a:buNone/>
            </a:pPr>
            <a:r>
              <a:rPr lang="en-US" sz="1050" dirty="0">
                <a:solidFill>
                  <a:srgbClr val="A1A1AA"/>
                </a:solidFill>
                <a:latin typeface="Arial" pitchFamily="34" charset="0"/>
                <a:ea typeface="Arial" pitchFamily="34" charset="-122"/>
                <a:cs typeface="Arial" pitchFamily="34" charset="-120"/>
              </a:rPr>
              <a:t>hoi-dashboard.onrender.com</a:t>
            </a:r>
            <a:endParaRPr lang="en-US" sz="1050" dirty="0"/>
          </a:p>
        </p:txBody>
      </p:sp>
      <p:sp>
        <p:nvSpPr>
          <p:cNvPr id="7" name="Shape 4"/>
          <p:cNvSpPr/>
          <p:nvPr/>
        </p:nvSpPr>
        <p:spPr>
          <a:xfrm>
            <a:off x="3413684" y="3429000"/>
            <a:ext cx="0" cy="914400"/>
          </a:xfrm>
          <a:prstGeom prst="line">
            <a:avLst/>
          </a:prstGeom>
          <a:noFill/>
          <a:ln w="9525">
            <a:solidFill>
              <a:srgbClr val="3F3F46"/>
            </a:solidFill>
            <a:prstDash val="solid"/>
          </a:ln>
        </p:spPr>
      </p:sp>
      <p:sp>
        <p:nvSpPr>
          <p:cNvPr id="8" name="Text 5"/>
          <p:cNvSpPr txBox="1"/>
          <p:nvPr/>
        </p:nvSpPr>
        <p:spPr>
          <a:xfrm>
            <a:off x="3413684" y="3474720"/>
            <a:ext cx="2682164" cy="320040"/>
          </a:xfrm>
          <a:prstGeom prst="rect">
            <a:avLst/>
          </a:prstGeom>
          <a:noFill/>
          <a:ln/>
        </p:spPr>
        <p:txBody>
          <a:bodyPr wrap="square" lIns="0" tIns="0" rIns="0" bIns="0" rtlCol="0" anchor="t"/>
          <a:lstStyle/>
          <a:p>
            <a:pPr algn="ctr" indent="0" marL="0">
              <a:buNone/>
            </a:pPr>
            <a:r>
              <a:rPr lang="en-US" sz="1400" dirty="0">
                <a:solidFill>
                  <a:srgbClr val="22C55E"/>
                </a:solidFill>
                <a:latin typeface="Arial" pitchFamily="34" charset="0"/>
                <a:ea typeface="Arial" pitchFamily="34" charset="-122"/>
                <a:cs typeface="Arial" pitchFamily="34" charset="-120"/>
              </a:rPr>
              <a:t>● </a:t>
            </a:r>
            <a:pPr algn="ctr" indent="0" marL="0">
              <a:buNone/>
            </a:pPr>
            <a:r>
              <a:rPr lang="en-US" sz="1400" b="1" dirty="0">
                <a:solidFill>
                  <a:srgbClr val="FFFFFF"/>
                </a:solidFill>
                <a:latin typeface="Arial" pitchFamily="34" charset="0"/>
                <a:ea typeface="Arial" pitchFamily="34" charset="-122"/>
                <a:cs typeface="Arial" pitchFamily="34" charset="-120"/>
              </a:rPr>
              <a:t>Staff app</a:t>
            </a:r>
            <a:endParaRPr lang="en-US" sz="1400" dirty="0"/>
          </a:p>
        </p:txBody>
      </p:sp>
      <p:sp>
        <p:nvSpPr>
          <p:cNvPr id="9" name="Text 6"/>
          <p:cNvSpPr txBox="1"/>
          <p:nvPr/>
        </p:nvSpPr>
        <p:spPr>
          <a:xfrm>
            <a:off x="3413684" y="3840480"/>
            <a:ext cx="2682164" cy="274320"/>
          </a:xfrm>
          <a:prstGeom prst="rect">
            <a:avLst/>
          </a:prstGeom>
          <a:noFill/>
          <a:ln/>
        </p:spPr>
        <p:txBody>
          <a:bodyPr wrap="square" lIns="0" tIns="0" rIns="0" bIns="0" rtlCol="0" anchor="t"/>
          <a:lstStyle/>
          <a:p>
            <a:pPr algn="ctr" indent="0" marL="0">
              <a:buNone/>
            </a:pPr>
            <a:r>
              <a:rPr lang="en-US" sz="1050" dirty="0">
                <a:solidFill>
                  <a:srgbClr val="A1A1AA"/>
                </a:solidFill>
                <a:latin typeface="Arial" pitchFamily="34" charset="0"/>
                <a:ea typeface="Arial" pitchFamily="34" charset="-122"/>
                <a:cs typeface="Arial" pitchFamily="34" charset="-120"/>
              </a:rPr>
              <a:t>hoi-platform-api.onrender.com/worker</a:t>
            </a:r>
            <a:endParaRPr lang="en-US" sz="1050" dirty="0"/>
          </a:p>
        </p:txBody>
      </p:sp>
      <p:sp>
        <p:nvSpPr>
          <p:cNvPr id="10" name="Shape 7"/>
          <p:cNvSpPr/>
          <p:nvPr/>
        </p:nvSpPr>
        <p:spPr>
          <a:xfrm>
            <a:off x="6095848" y="3429000"/>
            <a:ext cx="0" cy="914400"/>
          </a:xfrm>
          <a:prstGeom prst="line">
            <a:avLst/>
          </a:prstGeom>
          <a:noFill/>
          <a:ln w="9525">
            <a:solidFill>
              <a:srgbClr val="3F3F46"/>
            </a:solidFill>
            <a:prstDash val="solid"/>
          </a:ln>
        </p:spPr>
      </p:sp>
      <p:sp>
        <p:nvSpPr>
          <p:cNvPr id="11" name="Text 8"/>
          <p:cNvSpPr txBox="1"/>
          <p:nvPr/>
        </p:nvSpPr>
        <p:spPr>
          <a:xfrm>
            <a:off x="6095848" y="3474720"/>
            <a:ext cx="2682164" cy="320040"/>
          </a:xfrm>
          <a:prstGeom prst="rect">
            <a:avLst/>
          </a:prstGeom>
          <a:noFill/>
          <a:ln/>
        </p:spPr>
        <p:txBody>
          <a:bodyPr wrap="square" lIns="0" tIns="0" rIns="0" bIns="0" rtlCol="0" anchor="t"/>
          <a:lstStyle/>
          <a:p>
            <a:pPr algn="ctr" indent="0" marL="0">
              <a:buNone/>
            </a:pPr>
            <a:r>
              <a:rPr lang="en-US" sz="1400" dirty="0">
                <a:solidFill>
                  <a:srgbClr val="22C55E"/>
                </a:solidFill>
                <a:latin typeface="Arial" pitchFamily="34" charset="0"/>
                <a:ea typeface="Arial" pitchFamily="34" charset="-122"/>
                <a:cs typeface="Arial" pitchFamily="34" charset="-120"/>
              </a:rPr>
              <a:t>● </a:t>
            </a:r>
            <a:pPr algn="ctr" indent="0" marL="0">
              <a:buNone/>
            </a:pPr>
            <a:r>
              <a:rPr lang="en-US" sz="1400" b="1" dirty="0">
                <a:solidFill>
                  <a:srgbClr val="FFFFFF"/>
                </a:solidFill>
                <a:latin typeface="Arial" pitchFamily="34" charset="0"/>
                <a:ea typeface="Arial" pitchFamily="34" charset="-122"/>
                <a:cs typeface="Arial" pitchFamily="34" charset="-120"/>
              </a:rPr>
              <a:t>Travel guide</a:t>
            </a:r>
            <a:endParaRPr lang="en-US" sz="1400" dirty="0"/>
          </a:p>
        </p:txBody>
      </p:sp>
      <p:sp>
        <p:nvSpPr>
          <p:cNvPr id="12" name="Text 9"/>
          <p:cNvSpPr txBox="1"/>
          <p:nvPr/>
        </p:nvSpPr>
        <p:spPr>
          <a:xfrm>
            <a:off x="6095848" y="3840480"/>
            <a:ext cx="2682164" cy="274320"/>
          </a:xfrm>
          <a:prstGeom prst="rect">
            <a:avLst/>
          </a:prstGeom>
          <a:noFill/>
          <a:ln/>
        </p:spPr>
        <p:txBody>
          <a:bodyPr wrap="square" lIns="0" tIns="0" rIns="0" bIns="0" rtlCol="0" anchor="t"/>
          <a:lstStyle/>
          <a:p>
            <a:pPr algn="ctr" indent="0" marL="0">
              <a:buNone/>
            </a:pPr>
            <a:r>
              <a:rPr lang="en-US" sz="1050" dirty="0">
                <a:solidFill>
                  <a:srgbClr val="A1A1AA"/>
                </a:solidFill>
                <a:latin typeface="Arial" pitchFamily="34" charset="0"/>
                <a:ea typeface="Arial" pitchFamily="34" charset="-122"/>
                <a:cs typeface="Arial" pitchFamily="34" charset="-120"/>
              </a:rPr>
              <a:t>hoi-portal.vercel.app</a:t>
            </a:r>
            <a:endParaRPr lang="en-US" sz="1050" dirty="0"/>
          </a:p>
        </p:txBody>
      </p:sp>
      <p:sp>
        <p:nvSpPr>
          <p:cNvPr id="13" name="Shape 10"/>
          <p:cNvSpPr/>
          <p:nvPr/>
        </p:nvSpPr>
        <p:spPr>
          <a:xfrm>
            <a:off x="8778011" y="3429000"/>
            <a:ext cx="0" cy="914400"/>
          </a:xfrm>
          <a:prstGeom prst="line">
            <a:avLst/>
          </a:prstGeom>
          <a:noFill/>
          <a:ln w="9525">
            <a:solidFill>
              <a:srgbClr val="3F3F46"/>
            </a:solidFill>
            <a:prstDash val="solid"/>
          </a:ln>
        </p:spPr>
      </p:sp>
      <p:sp>
        <p:nvSpPr>
          <p:cNvPr id="14" name="Text 11"/>
          <p:cNvSpPr txBox="1"/>
          <p:nvPr/>
        </p:nvSpPr>
        <p:spPr>
          <a:xfrm>
            <a:off x="8778011" y="3474720"/>
            <a:ext cx="2682164" cy="320040"/>
          </a:xfrm>
          <a:prstGeom prst="rect">
            <a:avLst/>
          </a:prstGeom>
          <a:noFill/>
          <a:ln/>
        </p:spPr>
        <p:txBody>
          <a:bodyPr wrap="square" lIns="0" tIns="0" rIns="0" bIns="0" rtlCol="0" anchor="t"/>
          <a:lstStyle/>
          <a:p>
            <a:pPr algn="ctr" indent="0" marL="0">
              <a:buNone/>
            </a:pPr>
            <a:r>
              <a:rPr lang="en-US" sz="1400" dirty="0">
                <a:solidFill>
                  <a:srgbClr val="22C55E"/>
                </a:solidFill>
                <a:latin typeface="Arial" pitchFamily="34" charset="0"/>
                <a:ea typeface="Arial" pitchFamily="34" charset="-122"/>
                <a:cs typeface="Arial" pitchFamily="34" charset="-120"/>
              </a:rPr>
              <a:t>● </a:t>
            </a:r>
            <a:pPr algn="ctr" indent="0" marL="0">
              <a:buNone/>
            </a:pPr>
            <a:r>
              <a:rPr lang="en-US" sz="1400" b="1" dirty="0">
                <a:solidFill>
                  <a:srgbClr val="FFFFFF"/>
                </a:solidFill>
                <a:latin typeface="Arial" pitchFamily="34" charset="0"/>
                <a:ea typeface="Arial" pitchFamily="34" charset="-122"/>
                <a:cs typeface="Arial" pitchFamily="34" charset="-120"/>
              </a:rPr>
              <a:t>HOI console</a:t>
            </a:r>
            <a:endParaRPr lang="en-US" sz="1400" dirty="0"/>
          </a:p>
        </p:txBody>
      </p:sp>
      <p:sp>
        <p:nvSpPr>
          <p:cNvPr id="15" name="Text 12"/>
          <p:cNvSpPr txBox="1"/>
          <p:nvPr/>
        </p:nvSpPr>
        <p:spPr>
          <a:xfrm>
            <a:off x="8778011" y="3840480"/>
            <a:ext cx="2682164" cy="274320"/>
          </a:xfrm>
          <a:prstGeom prst="rect">
            <a:avLst/>
          </a:prstGeom>
          <a:noFill/>
          <a:ln/>
        </p:spPr>
        <p:txBody>
          <a:bodyPr wrap="square" lIns="0" tIns="0" rIns="0" bIns="0" rtlCol="0" anchor="t"/>
          <a:lstStyle/>
          <a:p>
            <a:pPr algn="ctr" indent="0" marL="0">
              <a:buNone/>
            </a:pPr>
            <a:r>
              <a:rPr lang="en-US" sz="1050" dirty="0">
                <a:solidFill>
                  <a:srgbClr val="A1A1AA"/>
                </a:solidFill>
                <a:latin typeface="Arial" pitchFamily="34" charset="0"/>
                <a:ea typeface="Arial" pitchFamily="34" charset="-122"/>
                <a:cs typeface="Arial" pitchFamily="34" charset="-120"/>
              </a:rPr>
              <a:t>hoi-platform-admin.onrender.com</a:t>
            </a:r>
            <a:endParaRPr lang="en-US" sz="1050" dirty="0"/>
          </a:p>
        </p:txBody>
      </p:sp>
      <p:sp>
        <p:nvSpPr>
          <p:cNvPr id="16" name="Text 13"/>
          <p:cNvSpPr txBox="1"/>
          <p:nvPr/>
        </p:nvSpPr>
        <p:spPr>
          <a:xfrm>
            <a:off x="731520" y="4892040"/>
            <a:ext cx="10728655" cy="41148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Our ask:  </a:t>
            </a:r>
            <a:pPr algn="ctr" indent="0" marL="0">
              <a:buNone/>
            </a:pPr>
            <a:r>
              <a:rPr lang="en-US" sz="1400" dirty="0">
                <a:solidFill>
                  <a:srgbClr val="E4E4E7"/>
                </a:solidFill>
                <a:latin typeface="Arial" pitchFamily="34" charset="0"/>
                <a:ea typeface="Arial" pitchFamily="34" charset="-122"/>
                <a:cs typeface="Arial" pitchFamily="34" charset="-120"/>
              </a:rPr>
              <a:t>3 hotels or homestays for a free 2-week pilot  ·  a conversation with the state tourism department on the data layer</a:t>
            </a:r>
            <a:endParaRPr lang="en-US" sz="1400" dirty="0"/>
          </a:p>
        </p:txBody>
      </p:sp>
      <p:sp>
        <p:nvSpPr>
          <p:cNvPr id="17" name="Text 14"/>
          <p:cNvSpPr txBox="1"/>
          <p:nvPr/>
        </p:nvSpPr>
        <p:spPr>
          <a:xfrm>
            <a:off x="548640" y="6035040"/>
            <a:ext cx="11094415" cy="274320"/>
          </a:xfrm>
          <a:prstGeom prst="rect">
            <a:avLst/>
          </a:prstGeom>
          <a:noFill/>
          <a:ln/>
        </p:spPr>
        <p:txBody>
          <a:bodyPr wrap="square" lIns="0" tIns="0" rIns="0" bIns="0" rtlCol="0" anchor="t"/>
          <a:lstStyle/>
          <a:p>
            <a:pPr algn="ctr" indent="0" marL="0">
              <a:buNone/>
            </a:pPr>
            <a:r>
              <a:rPr lang="en-US" sz="1000" dirty="0">
                <a:solidFill>
                  <a:srgbClr val="71717A"/>
                </a:solidFill>
                <a:latin typeface="Arial" pitchFamily="34" charset="0"/>
                <a:ea typeface="Arial" pitchFamily="34" charset="-122"/>
                <a:cs typeface="Arial" pitchFamily="34" charset="-120"/>
              </a:rPr>
              <a:t>600+ automated tests  ·  demo hotel registered on the travel guide  ·  all demo data labelled</a:t>
            </a:r>
            <a:endParaRPr lang="en-US" sz="1000" dirty="0"/>
          </a:p>
        </p:txBody>
      </p:sp>
    </p:spTree>
  </p:cSld>
  <p:clrMapOvr>
    <a:masterClrMapping/>
  </p:clrMapOvr>
</p:sld>
</file>

<file path=ppt/theme/theme1.xml><?xml version="1.0" encoding="utf-8"?>
<a:theme xmlns:a="http://schemas.openxmlformats.org/drawingml/2006/main" name="HOI Black">
  <a:themeElements>
    <a:clrScheme name="HOI Black">
      <a:dk1>
        <a:srgbClr val="000000"/>
      </a:dk1>
      <a:lt1>
        <a:srgbClr val="FFFFFF"/>
      </a:lt1>
      <a:dk2>
        <a:srgbClr val="27272A"/>
      </a:dk2>
      <a:lt2>
        <a:srgbClr val="F4F4F5"/>
      </a:lt2>
      <a:accent1>
        <a:srgbClr val="6366F1"/>
      </a:accent1>
      <a:accent2>
        <a:srgbClr val="8B8CF8"/>
      </a:accent2>
      <a:accent3>
        <a:srgbClr val="22C55E"/>
      </a:accent3>
      <a:accent4>
        <a:srgbClr val="F59E0B"/>
      </a:accent4>
      <a:accent5>
        <a:srgbClr val="EF4444"/>
      </a:accent5>
      <a:accent6>
        <a:srgbClr val="A1A1AA"/>
      </a:accent6>
      <a:hlink>
        <a:srgbClr val="8B8CF8"/>
      </a:hlink>
      <a:folHlink>
        <a:srgbClr val="A78BFA"/>
      </a:folHlink>
    </a:clrScheme>
    <a:fontScheme name="HOI Bla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Team Innov8</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HOI: Hospitality Operations Intelligence</dc:title>
  <dc:subject>PptxGenJS Presentation</dc:subject>
  <dc:creator>Team Innov8</dc:creator>
  <cp:lastModifiedBy>Team Innov8</cp:lastModifiedBy>
  <cp:revision>1</cp:revision>
  <dcterms:created xsi:type="dcterms:W3CDTF">2026-10-14T00:49:49Z</dcterms:created>
  <dcterms:modified xsi:type="dcterms:W3CDTF">2026-10-14T00:49:49Z</dcterms:modified>
</cp:coreProperties>
</file>