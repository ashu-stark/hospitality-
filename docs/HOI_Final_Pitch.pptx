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69c093-6861-d12e-0ae8-349e34fce22b}">
          <p14:sldIdLst>
            <p14:sldId id="256"/>
          </p14:sldIdLst>
        </p14:section>
        <p14:section name="Problem" id="{45bdf58e-be1c-53fc-ac8e-65258246a3f7}">
          <p14:sldIdLst>
            <p14:sldId id="257"/>
            <p14:sldId id="258"/>
          </p14:sldIdLst>
        </p14:section>
        <p14:section name="People" id="{45f515bd-6093-f800-1f78-37e93deef20f}">
          <p14:sldIdLst>
            <p14:sldId id="259"/>
          </p14:sldIdLst>
        </p14:section>
        <p14:section name="Solution" id="{e95e802a-bfd9-2e50-9235-9fbfe709a52d}">
          <p14:sldIdLst>
            <p14:sldId id="260"/>
            <p14:sldId id="261"/>
          </p14:sldIdLst>
        </p14:section>
        <p14:section name="Ecosystem" id="{807a3f5c-7890-468e-a5fb-c3d7034c72e2}">
          <p14:sldIdLst>
            <p14:sldId id="262"/>
          </p14:sldIdLst>
        </p14:section>
        <p14:section name="Outcomes" id="{84b115b8-b030-b96b-a043-93d35bb197e7}">
          <p14:sldIdLst>
            <p14:sldId id="263"/>
            <p14:sldId id="264"/>
          </p14:sldIdLst>
        </p14:section>
        <p14:section name="Strategy" id="{e11e9654-66bb-73a7-c8c6-d8049930494b}">
          <p14:sldIdLst>
            <p14:sldId id="265"/>
          </p14:sldIdLst>
        </p14:section>
        <p14:section name="Close" id="{b6e5b589-b532-880d-007c-525617d96e1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peak season in Mussoorie. Every room is full, two housekeepers didn't come, and the owner is planning shifts on WhatsApp. Nobody saw this Saturday coming. This is HOI, Hospitality Operations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Hotels can't see the rush coming. India's hospitality sector was projected to be short of 1.1 million workers in 2025; hotel workers quit about 1.8 times as often as others; and two thirds of Char Dham pilgrims arrive by June. So peaks are short-staffed, good people leave, and guests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tourism here comes in waves, and staff are planned by memory and WhatsApp. What: HOI predicts the rush, plans fair shifts, routes every job to the right phone and helps keep good people. For whom: small hotels and homestays in Uttarakhand, and everyone who works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is the hotel or homestay owner; they can buy it for themselves. The users are staff, guests, tourists, officials and job seekers. They can't buy it, so it's free for them, works on any phone, and speaks Hindi. We built for the housekeeper with a basic Android phone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system with five simple apps on one loop. HOI predicts how full the hotel will be, plans fair shifts, sends each job to the right phone by tap or Hindi voice, proves the work with photos and times, and flags who may need a conversation. The owner, staff, guests, tourists and the state each get their own simple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 THE FILM: click the cover image, delete it, then Insert &gt; Video &gt; This Device &gt; videos/HOI_demo_2min.mp4; place it at the same position and size (9.6 x 5.4 in), Playback &gt; Start: When Clicked.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stay feeds one anonymised picture of tourism that the state can use. Live today: crowd forecasts per destination, hotel capacity and occupancy, and complaints with response times, plus registrations, seasonal jobs and road alerts. Next: tourism money flow by district from hotels that opt in. Connecting to the official government portal is a proposal we'd like to discuss with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day ahead our forecast was off by 1.9 rooms against 10.9 for the usual rule: 83 percent less error, on real public hotel data. The turnover model ranks a leaver above a stayer 66 percent of the time against 55 for a checklist, so it's a prompt to talk, never a verdict. And in a live test a new job reached the on-shift staff member's phone in 4.4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software like eZee or OYO helps hotels sell the room; HOI helps them run the stay, so we sit next to them, not against them. Our edge: every hotel's own data makes its forecasts better each week; it's built for the frontline with Hindi voice; it connects hotels, workers and the state on one network; and it's trusted by design, with no personal data and no booking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homestays and small hotels in Mussoorie and Rishikesh, grow along the Char Dham routes and into homestay clusters, then other hill states, with the state as a data partner. It's free for every worker and guest, owners subscribe, and the data gets better with every stay. We'll validate this with owner interviews and a free two-week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saw is running today. We're asking for three hotels or homestays for a free two-week pilot, and a conversation with the state tourism department about the data layer.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CK">
    <p:bg>
      <p:bgPr>
        <a:solidFill>
          <a:srgbClr val="00000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vs.com/article/9274-hvs-monday-musings-indian-hospitality-sector-skill-shortage-to-hinder-recovery-and-growth" TargetMode="External"/><Relationship Id="rId2" Type="http://schemas.openxmlformats.org/officeDocument/2006/relationships/hyperlink" Target="https://www.bls.gov/news.release/jolts.t04.htm" TargetMode="External"/><Relationship Id="rId3" Type="http://schemas.openxmlformats.org/officeDocument/2006/relationships/hyperlink" Target="https://www.theweek.in/news/india/2025/06/24/char-dham-yatra-breaks-records-with-unprecedented-number-of-pilgrims.html" TargetMode="External"/><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i.org/10.1016/j.dib.2018.11.126"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I logo">    </p:cNvPr>
          <p:cNvPicPr>
            <a:picLocks noChangeAspect="1"/>
          </p:cNvPicPr>
          <p:nvPr/>
        </p:nvPicPr>
        <p:blipFill>
          <a:blip r:embed="rId1"/>
          <a:stretch>
            <a:fillRect/>
          </a:stretch>
        </p:blipFill>
        <p:spPr>
          <a:xfrm>
            <a:off x="5501488" y="1554480"/>
            <a:ext cx="1188720" cy="1188720"/>
          </a:xfrm>
          <a:prstGeom prst="rect">
            <a:avLst/>
          </a:prstGeom>
        </p:spPr>
      </p:pic>
      <p:sp>
        <p:nvSpPr>
          <p:cNvPr id="3" name="Text 0"/>
          <p:cNvSpPr txBox="1"/>
          <p:nvPr/>
        </p:nvSpPr>
        <p:spPr>
          <a:xfrm>
            <a:off x="731520" y="3063240"/>
            <a:ext cx="10728655"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Hospitality Operations Intelligence</a:t>
            </a:r>
            <a:endParaRPr lang="en-US" sz="4000" dirty="0"/>
          </a:p>
        </p:txBody>
      </p:sp>
      <p:sp>
        <p:nvSpPr>
          <p:cNvPr id="4" name="Text 1"/>
          <p:cNvSpPr txBox="1"/>
          <p:nvPr/>
        </p:nvSpPr>
        <p:spPr>
          <a:xfrm>
            <a:off x="731520" y="3977640"/>
            <a:ext cx="10728655" cy="685800"/>
          </a:xfrm>
          <a:prstGeom prst="rect">
            <a:avLst/>
          </a:prstGeom>
          <a:noFill/>
          <a:ln/>
        </p:spPr>
        <p:txBody>
          <a:bodyPr wrap="square" lIns="0" tIns="0" rIns="0" bIns="0" rtlCol="0" anchor="ctr"/>
          <a:lstStyle/>
          <a:p>
            <a:pPr algn="ctr" indent="0" marL="0">
              <a:buNone/>
            </a:pPr>
            <a:r>
              <a:rPr lang="en-US" sz="1800" dirty="0">
                <a:solidFill>
                  <a:srgbClr val="A1A1AA"/>
                </a:solidFill>
                <a:latin typeface="Arial" pitchFamily="34" charset="0"/>
                <a:ea typeface="Arial" pitchFamily="34" charset="-122"/>
                <a:cs typeface="Arial" pitchFamily="34" charset="-120"/>
              </a:rPr>
              <a:t>Smarter hotels. Happier teams.</a:t>
            </a:r>
            <a:endParaRPr lang="en-US" sz="1800" dirty="0"/>
          </a:p>
        </p:txBody>
      </p:sp>
      <p:sp>
        <p:nvSpPr>
          <p:cNvPr id="5" name="Text 2"/>
          <p:cNvSpPr txBox="1"/>
          <p:nvPr/>
        </p:nvSpPr>
        <p:spPr>
          <a:xfrm>
            <a:off x="731520" y="5943600"/>
            <a:ext cx="10728655" cy="525780"/>
          </a:xfrm>
          <a:prstGeom prst="rect">
            <a:avLst/>
          </a:prstGeom>
          <a:noFill/>
          <a:ln/>
        </p:spPr>
        <p:txBody>
          <a:bodyPr wrap="square" lIns="0" tIns="0" rIns="0" bIns="0" rtlCol="0" anchor="ctr"/>
          <a:lstStyle/>
          <a:p>
            <a:pPr algn="ctr" indent="0" marL="0">
              <a:buNone/>
            </a:pPr>
            <a:r>
              <a:rPr lang="en-US" sz="1100" dirty="0">
                <a:solidFill>
                  <a:srgbClr val="6B6B76"/>
                </a:solidFill>
                <a:latin typeface="Arial" pitchFamily="34" charset="0"/>
                <a:ea typeface="Arial" pitchFamily="34" charset="-122"/>
                <a:cs typeface="Arial" pitchFamily="34" charset="-120"/>
              </a:rPr>
              <a:t>AI–Tourism Hackathon 2026  ·  Team Innov8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731520" y="1143000"/>
            <a:ext cx="10728655"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Hotels can't see the rush coming.</a:t>
            </a:r>
            <a:endParaRPr lang="en-US" sz="4000" dirty="0"/>
          </a:p>
        </p:txBody>
      </p:sp>
      <p:sp>
        <p:nvSpPr>
          <p:cNvPr id="4" name="Text 2"/>
          <p:cNvSpPr txBox="1"/>
          <p:nvPr/>
        </p:nvSpPr>
        <p:spPr>
          <a:xfrm>
            <a:off x="731520" y="2057400"/>
            <a:ext cx="10728655" cy="662940"/>
          </a:xfrm>
          <a:prstGeom prst="rect">
            <a:avLst/>
          </a:prstGeom>
          <a:noFill/>
          <a:ln/>
        </p:spPr>
        <p:txBody>
          <a:bodyPr wrap="square" lIns="0" tIns="0" rIns="0" bIns="0" rtlCol="0" anchor="ctr"/>
          <a:lstStyle/>
          <a:p>
            <a:pPr algn="ctr" indent="0" marL="0">
              <a:buNone/>
            </a:pPr>
            <a:r>
              <a:rPr lang="en-US" sz="1700" dirty="0">
                <a:solidFill>
                  <a:srgbClr val="A1A1AA"/>
                </a:solidFill>
                <a:latin typeface="Arial" pitchFamily="34" charset="0"/>
                <a:ea typeface="Arial" pitchFamily="34" charset="-122"/>
                <a:cs typeface="Arial" pitchFamily="34" charset="-120"/>
              </a:rPr>
              <a:t>So peaks are short-staffed, good people burn out and leave, and guests wait.</a:t>
            </a:r>
            <a:endParaRPr lang="en-US" sz="1700" dirty="0"/>
          </a:p>
        </p:txBody>
      </p:sp>
      <p:sp>
        <p:nvSpPr>
          <p:cNvPr id="5" name="Text 3"/>
          <p:cNvSpPr txBox="1"/>
          <p:nvPr/>
        </p:nvSpPr>
        <p:spPr>
          <a:xfrm>
            <a:off x="1371600" y="3291840"/>
            <a:ext cx="3149498"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1.1 M</a:t>
            </a:r>
            <a:endParaRPr lang="en-US" sz="5400" dirty="0"/>
          </a:p>
        </p:txBody>
      </p:sp>
      <p:sp>
        <p:nvSpPr>
          <p:cNvPr id="6" name="Text 4"/>
          <p:cNvSpPr txBox="1"/>
          <p:nvPr/>
        </p:nvSpPr>
        <p:spPr>
          <a:xfrm>
            <a:off x="1691640" y="4297680"/>
            <a:ext cx="2509418"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workers short in Indian hospitality, 2025</a:t>
            </a:r>
            <a:endParaRPr lang="en-US" sz="1400" dirty="0"/>
          </a:p>
        </p:txBody>
      </p:sp>
      <p:sp>
        <p:nvSpPr>
          <p:cNvPr id="7" name="Shape 5"/>
          <p:cNvSpPr/>
          <p:nvPr/>
        </p:nvSpPr>
        <p:spPr>
          <a:xfrm>
            <a:off x="4521098" y="3154680"/>
            <a:ext cx="0" cy="2103120"/>
          </a:xfrm>
          <a:prstGeom prst="line">
            <a:avLst/>
          </a:prstGeom>
          <a:noFill/>
          <a:ln w="9525">
            <a:solidFill>
              <a:srgbClr val="2E2E35"/>
            </a:solidFill>
            <a:prstDash val="solid"/>
          </a:ln>
        </p:spPr>
      </p:sp>
      <p:sp>
        <p:nvSpPr>
          <p:cNvPr id="8" name="Text 6"/>
          <p:cNvSpPr txBox="1"/>
          <p:nvPr/>
        </p:nvSpPr>
        <p:spPr>
          <a:xfrm>
            <a:off x="4521098" y="3291840"/>
            <a:ext cx="3149498"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1.8×</a:t>
            </a:r>
            <a:endParaRPr lang="en-US" sz="5400" dirty="0"/>
          </a:p>
        </p:txBody>
      </p:sp>
      <p:sp>
        <p:nvSpPr>
          <p:cNvPr id="9" name="Text 7"/>
          <p:cNvSpPr txBox="1"/>
          <p:nvPr/>
        </p:nvSpPr>
        <p:spPr>
          <a:xfrm>
            <a:off x="4841138" y="4297680"/>
            <a:ext cx="2509418"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higher quit rate in hotels and food service</a:t>
            </a:r>
            <a:endParaRPr lang="en-US" sz="1400" dirty="0"/>
          </a:p>
        </p:txBody>
      </p:sp>
      <p:sp>
        <p:nvSpPr>
          <p:cNvPr id="10" name="Shape 8"/>
          <p:cNvSpPr/>
          <p:nvPr/>
        </p:nvSpPr>
        <p:spPr>
          <a:xfrm>
            <a:off x="7670597" y="3154680"/>
            <a:ext cx="0" cy="2103120"/>
          </a:xfrm>
          <a:prstGeom prst="line">
            <a:avLst/>
          </a:prstGeom>
          <a:noFill/>
          <a:ln w="9525">
            <a:solidFill>
              <a:srgbClr val="2E2E35"/>
            </a:solidFill>
            <a:prstDash val="solid"/>
          </a:ln>
        </p:spPr>
      </p:sp>
      <p:sp>
        <p:nvSpPr>
          <p:cNvPr id="11" name="Text 9"/>
          <p:cNvSpPr txBox="1"/>
          <p:nvPr/>
        </p:nvSpPr>
        <p:spPr>
          <a:xfrm>
            <a:off x="7670597" y="3291840"/>
            <a:ext cx="3149498"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65%</a:t>
            </a:r>
            <a:endParaRPr lang="en-US" sz="5400" dirty="0"/>
          </a:p>
        </p:txBody>
      </p:sp>
      <p:sp>
        <p:nvSpPr>
          <p:cNvPr id="12" name="Text 10"/>
          <p:cNvSpPr txBox="1"/>
          <p:nvPr/>
        </p:nvSpPr>
        <p:spPr>
          <a:xfrm>
            <a:off x="7990637" y="4297680"/>
            <a:ext cx="2509418"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of Char Dham pilgrims arrived by June</a:t>
            </a:r>
            <a:endParaRPr lang="en-US" sz="1400" dirty="0"/>
          </a:p>
        </p:txBody>
      </p:sp>
      <p:sp>
        <p:nvSpPr>
          <p:cNvPr id="13" name="Text 11"/>
          <p:cNvSpPr txBox="1"/>
          <p:nvPr/>
        </p:nvSpPr>
        <p:spPr>
          <a:xfrm>
            <a:off x="731520" y="6309360"/>
            <a:ext cx="10180015" cy="256032"/>
          </a:xfrm>
          <a:prstGeom prst="rect">
            <a:avLst/>
          </a:prstGeom>
          <a:noFill/>
          <a:ln/>
        </p:spPr>
        <p:txBody>
          <a:bodyPr wrap="square" lIns="0" tIns="0" rIns="0" bIns="0" rtlCol="0" anchor="t"/>
          <a:lstStyle/>
          <a:p>
            <a:pPr algn="ctr" indent="0" marL="0">
              <a:buNone/>
            </a:pPr>
            <a:r>
              <a:rPr lang="en-US" sz="800" dirty="0">
                <a:solidFill>
                  <a:srgbClr val="6B6B76"/>
                </a:solidFill>
                <a:latin typeface="Arial" pitchFamily="34" charset="0"/>
                <a:ea typeface="Arial" pitchFamily="34" charset="-122"/>
                <a:cs typeface="Arial" pitchFamily="34" charset="-120"/>
              </a:rPr>
              <a:t>Sources  </a:t>
            </a:r>
            <a:pPr algn="ctr" indent="0" marL="0">
              <a:buNone/>
            </a:pPr>
            <a:r>
              <a:rPr lang="en-US" sz="800" u="sng" dirty="0">
                <a:solidFill>
                  <a:srgbClr val="6E70C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HVS (Ministry of Tourism study)</a:t>
            </a:r>
            <a:pPr algn="ctr" indent="0" marL="0">
              <a:buNone/>
            </a:pPr>
            <a:r>
              <a:rPr lang="en-US" sz="800" dirty="0">
                <a:solidFill>
                  <a:srgbClr val="6B6B76"/>
                </a:solidFill>
                <a:latin typeface="Arial" pitchFamily="34" charset="0"/>
                <a:ea typeface="Arial" pitchFamily="34" charset="-122"/>
                <a:cs typeface="Arial" pitchFamily="34" charset="-120"/>
              </a:rPr>
              <a:t>   ·   </a:t>
            </a:r>
            <a:pPr algn="ctr" indent="0" marL="0">
              <a:buNone/>
            </a:pPr>
            <a:r>
              <a:rPr lang="en-US" sz="800" u="sng" dirty="0">
                <a:solidFill>
                  <a:srgbClr val="6E70C8"/>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BLS JOLTS Table 4</a:t>
            </a:r>
            <a:pPr algn="ctr" indent="0" marL="0">
              <a:buNone/>
            </a:pPr>
            <a:r>
              <a:rPr lang="en-US" sz="800" dirty="0">
                <a:solidFill>
                  <a:srgbClr val="6B6B76"/>
                </a:solidFill>
                <a:latin typeface="Arial" pitchFamily="34" charset="0"/>
                <a:ea typeface="Arial" pitchFamily="34" charset="-122"/>
                <a:cs typeface="Arial" pitchFamily="34" charset="-120"/>
              </a:rPr>
              <a:t>   ·   </a:t>
            </a:r>
            <a:pPr algn="ctr" indent="0" marL="0">
              <a:buNone/>
            </a:pPr>
            <a:r>
              <a:rPr lang="en-US" sz="800" u="sng" dirty="0">
                <a:solidFill>
                  <a:srgbClr val="6E70C8"/>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Week, 24 Jun 2025</a:t>
            </a:r>
            <a:endParaRPr lang="en-US" sz="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WHY · WHAT · FOR WHOM</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Help small hotels run the day.</a:t>
            </a:r>
            <a:endParaRPr lang="en-US" sz="3400" dirty="0"/>
          </a:p>
        </p:txBody>
      </p:sp>
      <p:sp>
        <p:nvSpPr>
          <p:cNvPr id="4" name="Text 2"/>
          <p:cNvSpPr txBox="1"/>
          <p:nvPr/>
        </p:nvSpPr>
        <p:spPr>
          <a:xfrm>
            <a:off x="914400" y="2606040"/>
            <a:ext cx="34542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Why</a:t>
            </a:r>
            <a:endParaRPr lang="en-US" sz="2600" dirty="0"/>
          </a:p>
        </p:txBody>
      </p:sp>
      <p:sp>
        <p:nvSpPr>
          <p:cNvPr id="5" name="Text 3"/>
          <p:cNvSpPr txBox="1"/>
          <p:nvPr/>
        </p:nvSpPr>
        <p:spPr>
          <a:xfrm>
            <a:off x="1325880" y="3337560"/>
            <a:ext cx="2631338" cy="146304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Tourism comes in waves. Staff are planned by memory and WhatsApp.</a:t>
            </a:r>
            <a:endParaRPr lang="en-US" sz="1700" dirty="0"/>
          </a:p>
        </p:txBody>
      </p:sp>
      <p:sp>
        <p:nvSpPr>
          <p:cNvPr id="6" name="Shape 4"/>
          <p:cNvSpPr/>
          <p:nvPr/>
        </p:nvSpPr>
        <p:spPr>
          <a:xfrm>
            <a:off x="4368698" y="2468880"/>
            <a:ext cx="0" cy="2560320"/>
          </a:xfrm>
          <a:prstGeom prst="line">
            <a:avLst/>
          </a:prstGeom>
          <a:noFill/>
          <a:ln w="9525">
            <a:solidFill>
              <a:srgbClr val="2E2E35"/>
            </a:solidFill>
            <a:prstDash val="solid"/>
          </a:ln>
        </p:spPr>
      </p:sp>
      <p:sp>
        <p:nvSpPr>
          <p:cNvPr id="7" name="Text 5"/>
          <p:cNvSpPr txBox="1"/>
          <p:nvPr/>
        </p:nvSpPr>
        <p:spPr>
          <a:xfrm>
            <a:off x="4368698" y="2606040"/>
            <a:ext cx="34542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What</a:t>
            </a:r>
            <a:endParaRPr lang="en-US" sz="2600" dirty="0"/>
          </a:p>
        </p:txBody>
      </p:sp>
      <p:sp>
        <p:nvSpPr>
          <p:cNvPr id="8" name="Text 6"/>
          <p:cNvSpPr txBox="1"/>
          <p:nvPr/>
        </p:nvSpPr>
        <p:spPr>
          <a:xfrm>
            <a:off x="4780178" y="3337560"/>
            <a:ext cx="2631338" cy="146304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Predict the rush, plan fair shifts, route every job, keep good people.</a:t>
            </a:r>
            <a:endParaRPr lang="en-US" sz="1700" dirty="0"/>
          </a:p>
        </p:txBody>
      </p:sp>
      <p:sp>
        <p:nvSpPr>
          <p:cNvPr id="9" name="Shape 7"/>
          <p:cNvSpPr/>
          <p:nvPr/>
        </p:nvSpPr>
        <p:spPr>
          <a:xfrm>
            <a:off x="7822997" y="2468880"/>
            <a:ext cx="0" cy="2560320"/>
          </a:xfrm>
          <a:prstGeom prst="line">
            <a:avLst/>
          </a:prstGeom>
          <a:noFill/>
          <a:ln w="9525">
            <a:solidFill>
              <a:srgbClr val="2E2E35"/>
            </a:solidFill>
            <a:prstDash val="solid"/>
          </a:ln>
        </p:spPr>
      </p:sp>
      <p:sp>
        <p:nvSpPr>
          <p:cNvPr id="10" name="Text 8"/>
          <p:cNvSpPr txBox="1"/>
          <p:nvPr/>
        </p:nvSpPr>
        <p:spPr>
          <a:xfrm>
            <a:off x="7822997" y="2606040"/>
            <a:ext cx="3454298"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For whom</a:t>
            </a:r>
            <a:endParaRPr lang="en-US" sz="2600" dirty="0"/>
          </a:p>
        </p:txBody>
      </p:sp>
      <p:sp>
        <p:nvSpPr>
          <p:cNvPr id="11" name="Text 9"/>
          <p:cNvSpPr txBox="1"/>
          <p:nvPr/>
        </p:nvSpPr>
        <p:spPr>
          <a:xfrm>
            <a:off x="8234477" y="3337560"/>
            <a:ext cx="2631338" cy="146304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Small hotels and homestays in Uttarakhand, and everyone who works there.</a:t>
            </a:r>
            <a:endParaRPr lang="en-US" sz="17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CUSTOMER VS USER</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The owner pays. Everyone else uses it free.</a:t>
            </a:r>
            <a:endParaRPr lang="en-US" sz="3400" dirty="0"/>
          </a:p>
        </p:txBody>
      </p:sp>
      <p:sp>
        <p:nvSpPr>
          <p:cNvPr id="4" name="Shape 2"/>
          <p:cNvSpPr/>
          <p:nvPr/>
        </p:nvSpPr>
        <p:spPr>
          <a:xfrm>
            <a:off x="6095848" y="2331720"/>
            <a:ext cx="0" cy="2926080"/>
          </a:xfrm>
          <a:prstGeom prst="line">
            <a:avLst/>
          </a:prstGeom>
          <a:noFill/>
          <a:ln w="9525">
            <a:solidFill>
              <a:srgbClr val="2E2E35"/>
            </a:solidFill>
            <a:prstDash val="solid"/>
          </a:ln>
        </p:spPr>
      </p:sp>
      <p:pic>
        <p:nvPicPr>
          <p:cNvPr id="5" name="Image 0" descr="C:\Users\ashut\AppData\Local\Temp\claude\c--Users-ashut-Downloads-INNOV8\a05e3449-b391-4de7-b995-d2f2810b4436\scratchpad\refdeck\media\image3.png">    </p:cNvPr>
          <p:cNvPicPr>
            <a:picLocks noChangeAspect="1"/>
          </p:cNvPicPr>
          <p:nvPr/>
        </p:nvPicPr>
        <p:blipFill>
          <a:blip r:embed="rId1"/>
          <a:stretch>
            <a:fillRect/>
          </a:stretch>
        </p:blipFill>
        <p:spPr>
          <a:xfrm>
            <a:off x="3185084" y="2377440"/>
            <a:ext cx="640080" cy="640080"/>
          </a:xfrm>
          <a:prstGeom prst="rect">
            <a:avLst/>
          </a:prstGeom>
        </p:spPr>
      </p:pic>
      <p:sp>
        <p:nvSpPr>
          <p:cNvPr id="6" name="Text 3"/>
          <p:cNvSpPr txBox="1"/>
          <p:nvPr/>
        </p:nvSpPr>
        <p:spPr>
          <a:xfrm>
            <a:off x="914400" y="3200400"/>
            <a:ext cx="5181448" cy="548640"/>
          </a:xfrm>
          <a:prstGeom prst="rect">
            <a:avLst/>
          </a:prstGeom>
          <a:noFill/>
          <a:ln/>
        </p:spPr>
        <p:txBody>
          <a:bodyPr wrap="square" lIns="0" tIns="0" rIns="0" bIns="0" rtlCol="0" anchor="t"/>
          <a:lstStyle/>
          <a:p>
            <a:pPr algn="ctr" indent="0" marL="0">
              <a:buNone/>
            </a:pPr>
            <a:r>
              <a:rPr lang="en-US" sz="2600" b="1" dirty="0">
                <a:solidFill>
                  <a:srgbClr val="FFFFFF"/>
                </a:solidFill>
                <a:latin typeface="Arial" pitchFamily="34" charset="0"/>
                <a:ea typeface="Arial" pitchFamily="34" charset="-122"/>
                <a:cs typeface="Arial" pitchFamily="34" charset="-120"/>
              </a:rPr>
              <a:t>Customer</a:t>
            </a:r>
            <a:endParaRPr lang="en-US" sz="2600" dirty="0"/>
          </a:p>
        </p:txBody>
      </p:sp>
      <p:sp>
        <p:nvSpPr>
          <p:cNvPr id="7" name="Text 4"/>
          <p:cNvSpPr txBox="1"/>
          <p:nvPr/>
        </p:nvSpPr>
        <p:spPr>
          <a:xfrm>
            <a:off x="914400" y="3794760"/>
            <a:ext cx="5181448" cy="411480"/>
          </a:xfrm>
          <a:prstGeom prst="rect">
            <a:avLst/>
          </a:prstGeom>
          <a:noFill/>
          <a:ln/>
        </p:spPr>
        <p:txBody>
          <a:bodyPr wrap="square" lIns="0" tIns="0" rIns="0" bIns="0" rtlCol="0" anchor="t"/>
          <a:lstStyle/>
          <a:p>
            <a:pPr algn="ctr" indent="0" marL="0">
              <a:buNone/>
            </a:pPr>
            <a:r>
              <a:rPr lang="en-US" sz="1800" dirty="0">
                <a:solidFill>
                  <a:srgbClr val="A1A1AA"/>
                </a:solidFill>
                <a:latin typeface="Arial" pitchFamily="34" charset="0"/>
                <a:ea typeface="Arial" pitchFamily="34" charset="-122"/>
                <a:cs typeface="Arial" pitchFamily="34" charset="-120"/>
              </a:rPr>
              <a:t>Hotel and homestay owners</a:t>
            </a:r>
            <a:endParaRPr lang="en-US" sz="1800" dirty="0"/>
          </a:p>
        </p:txBody>
      </p:sp>
      <p:sp>
        <p:nvSpPr>
          <p:cNvPr id="8" name="Text 5"/>
          <p:cNvSpPr txBox="1"/>
          <p:nvPr/>
        </p:nvSpPr>
        <p:spPr>
          <a:xfrm>
            <a:off x="914400" y="4480560"/>
            <a:ext cx="5181448" cy="365760"/>
          </a:xfrm>
          <a:prstGeom prst="rect">
            <a:avLst/>
          </a:prstGeom>
          <a:noFill/>
          <a:ln/>
        </p:spPr>
        <p:txBody>
          <a:bodyPr wrap="square" lIns="0" tIns="0" rIns="0" bIns="0" rtlCol="0" anchor="t"/>
          <a:lstStyle/>
          <a:p>
            <a:pPr algn="ctr" indent="0" marL="0">
              <a:buNone/>
            </a:pPr>
            <a:r>
              <a:rPr lang="en-US" sz="1500" b="1" dirty="0">
                <a:solidFill>
                  <a:srgbClr val="8B8CF8"/>
                </a:solidFill>
                <a:latin typeface="Arial" pitchFamily="34" charset="0"/>
                <a:ea typeface="Arial" pitchFamily="34" charset="-122"/>
                <a:cs typeface="Arial" pitchFamily="34" charset="-120"/>
              </a:rPr>
              <a:t>Can they buy it for themselves?  Yes.</a:t>
            </a:r>
            <a:endParaRPr lang="en-US" sz="1500" dirty="0"/>
          </a:p>
        </p:txBody>
      </p:sp>
      <p:pic>
        <p:nvPicPr>
          <p:cNvPr id="9" name="Image 1" descr="C:\Users\ashut\AppData\Local\Temp\claude\c--Users-ashut-Downloads-INNOV8\a05e3449-b391-4de7-b995-d2f2810b4436\scratchpad\refdeck\media\image5.png">    </p:cNvPr>
          <p:cNvPicPr>
            <a:picLocks noChangeAspect="1"/>
          </p:cNvPicPr>
          <p:nvPr/>
        </p:nvPicPr>
        <p:blipFill>
          <a:blip r:embed="rId2"/>
          <a:stretch>
            <a:fillRect/>
          </a:stretch>
        </p:blipFill>
        <p:spPr>
          <a:xfrm>
            <a:off x="8366531" y="2377440"/>
            <a:ext cx="640080" cy="640080"/>
          </a:xfrm>
          <a:prstGeom prst="rect">
            <a:avLst/>
          </a:prstGeom>
        </p:spPr>
      </p:pic>
      <p:sp>
        <p:nvSpPr>
          <p:cNvPr id="10" name="Text 6"/>
          <p:cNvSpPr txBox="1"/>
          <p:nvPr/>
        </p:nvSpPr>
        <p:spPr>
          <a:xfrm>
            <a:off x="6095848" y="3200400"/>
            <a:ext cx="5181448" cy="548640"/>
          </a:xfrm>
          <a:prstGeom prst="rect">
            <a:avLst/>
          </a:prstGeom>
          <a:noFill/>
          <a:ln/>
        </p:spPr>
        <p:txBody>
          <a:bodyPr wrap="square" lIns="0" tIns="0" rIns="0" bIns="0" rtlCol="0" anchor="t"/>
          <a:lstStyle/>
          <a:p>
            <a:pPr algn="ctr" indent="0" marL="0">
              <a:buNone/>
            </a:pPr>
            <a:r>
              <a:rPr lang="en-US" sz="2600" b="1" dirty="0">
                <a:solidFill>
                  <a:srgbClr val="FFFFFF"/>
                </a:solidFill>
                <a:latin typeface="Arial" pitchFamily="34" charset="0"/>
                <a:ea typeface="Arial" pitchFamily="34" charset="-122"/>
                <a:cs typeface="Arial" pitchFamily="34" charset="-120"/>
              </a:rPr>
              <a:t>Users</a:t>
            </a:r>
            <a:endParaRPr lang="en-US" sz="2600" dirty="0"/>
          </a:p>
        </p:txBody>
      </p:sp>
      <p:sp>
        <p:nvSpPr>
          <p:cNvPr id="11" name="Text 7"/>
          <p:cNvSpPr txBox="1"/>
          <p:nvPr/>
        </p:nvSpPr>
        <p:spPr>
          <a:xfrm>
            <a:off x="6095848" y="3794760"/>
            <a:ext cx="5181448" cy="411480"/>
          </a:xfrm>
          <a:prstGeom prst="rect">
            <a:avLst/>
          </a:prstGeom>
          <a:noFill/>
          <a:ln/>
        </p:spPr>
        <p:txBody>
          <a:bodyPr wrap="square" lIns="0" tIns="0" rIns="0" bIns="0" rtlCol="0" anchor="t"/>
          <a:lstStyle/>
          <a:p>
            <a:pPr algn="ctr" indent="0" marL="0">
              <a:buNone/>
            </a:pPr>
            <a:r>
              <a:rPr lang="en-US" sz="1800" dirty="0">
                <a:solidFill>
                  <a:srgbClr val="A1A1AA"/>
                </a:solidFill>
                <a:latin typeface="Arial" pitchFamily="34" charset="0"/>
                <a:ea typeface="Arial" pitchFamily="34" charset="-122"/>
                <a:cs typeface="Arial" pitchFamily="34" charset="-120"/>
              </a:rPr>
              <a:t>Staff · guests · tourists · officials · job seekers</a:t>
            </a:r>
            <a:endParaRPr lang="en-US" sz="1800" dirty="0"/>
          </a:p>
        </p:txBody>
      </p:sp>
      <p:sp>
        <p:nvSpPr>
          <p:cNvPr id="12" name="Text 8"/>
          <p:cNvSpPr txBox="1"/>
          <p:nvPr/>
        </p:nvSpPr>
        <p:spPr>
          <a:xfrm>
            <a:off x="6095848" y="4480560"/>
            <a:ext cx="5181448" cy="365760"/>
          </a:xfrm>
          <a:prstGeom prst="rect">
            <a:avLst/>
          </a:prstGeom>
          <a:noFill/>
          <a:ln/>
        </p:spPr>
        <p:txBody>
          <a:bodyPr wrap="square" lIns="0" tIns="0" rIns="0" bIns="0" rtlCol="0" anchor="t"/>
          <a:lstStyle/>
          <a:p>
            <a:pPr algn="ctr" indent="0" marL="0">
              <a:buNone/>
            </a:pPr>
            <a:r>
              <a:rPr lang="en-US" sz="1500" b="1" dirty="0">
                <a:solidFill>
                  <a:srgbClr val="8B8CF8"/>
                </a:solidFill>
                <a:latin typeface="Arial" pitchFamily="34" charset="0"/>
                <a:ea typeface="Arial" pitchFamily="34" charset="-122"/>
                <a:cs typeface="Arial" pitchFamily="34" charset="-120"/>
              </a:rPr>
              <a:t>Free, any phone, in Hindi.</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486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THE SOLUTION</a:t>
            </a:r>
            <a:endParaRPr lang="en-US" sz="1100" dirty="0"/>
          </a:p>
        </p:txBody>
      </p:sp>
      <p:sp>
        <p:nvSpPr>
          <p:cNvPr id="3" name="Text 1"/>
          <p:cNvSpPr txBox="1"/>
          <p:nvPr/>
        </p:nvSpPr>
        <p:spPr>
          <a:xfrm>
            <a:off x="731520" y="868680"/>
            <a:ext cx="10728655"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One system. Five simple apps.</a:t>
            </a:r>
            <a:endParaRPr lang="en-US" sz="3200" dirty="0"/>
          </a:p>
        </p:txBody>
      </p:sp>
      <p:pic>
        <p:nvPicPr>
          <p:cNvPr id="4" name="Owner" descr="Owner">    </p:cNvPr>
          <p:cNvPicPr>
            <a:picLocks noChangeAspect="1"/>
          </p:cNvPicPr>
          <p:nvPr/>
        </p:nvPicPr>
        <p:blipFill>
          <a:blip r:embed="rId1"/>
          <a:stretch>
            <a:fillRect/>
          </a:stretch>
        </p:blipFill>
        <p:spPr>
          <a:xfrm>
            <a:off x="335128" y="2011020"/>
            <a:ext cx="3108960" cy="2927400"/>
          </a:xfrm>
          <a:prstGeom prst="rect">
            <a:avLst/>
          </a:prstGeom>
        </p:spPr>
      </p:pic>
      <p:sp>
        <p:nvSpPr>
          <p:cNvPr id="5" name="Text 2"/>
          <p:cNvSpPr txBox="1"/>
          <p:nvPr/>
        </p:nvSpPr>
        <p:spPr>
          <a:xfrm>
            <a:off x="335128" y="5349240"/>
            <a:ext cx="31089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Owner</a:t>
            </a:r>
            <a:endParaRPr lang="en-US" sz="1400" dirty="0"/>
          </a:p>
        </p:txBody>
      </p:sp>
      <p:pic>
        <p:nvPicPr>
          <p:cNvPr id="6" name="Staff" descr="Staff">    </p:cNvPr>
          <p:cNvPicPr>
            <a:picLocks noChangeAspect="1"/>
          </p:cNvPicPr>
          <p:nvPr/>
        </p:nvPicPr>
        <p:blipFill>
          <a:blip r:embed="rId2"/>
          <a:stretch>
            <a:fillRect/>
          </a:stretch>
        </p:blipFill>
        <p:spPr>
          <a:xfrm>
            <a:off x="3672688" y="2033563"/>
            <a:ext cx="1463040" cy="2882314"/>
          </a:xfrm>
          <a:prstGeom prst="rect">
            <a:avLst/>
          </a:prstGeom>
        </p:spPr>
      </p:pic>
      <p:sp>
        <p:nvSpPr>
          <p:cNvPr id="7" name="Text 3"/>
          <p:cNvSpPr txBox="1"/>
          <p:nvPr/>
        </p:nvSpPr>
        <p:spPr>
          <a:xfrm>
            <a:off x="3672688" y="5349240"/>
            <a:ext cx="146304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Staff</a:t>
            </a:r>
            <a:endParaRPr lang="en-US" sz="1400" dirty="0"/>
          </a:p>
        </p:txBody>
      </p:sp>
      <p:pic>
        <p:nvPicPr>
          <p:cNvPr id="8" name="Guest" descr="Guest">    </p:cNvPr>
          <p:cNvPicPr>
            <a:picLocks noChangeAspect="1"/>
          </p:cNvPicPr>
          <p:nvPr/>
        </p:nvPicPr>
        <p:blipFill>
          <a:blip r:embed="rId3"/>
          <a:stretch>
            <a:fillRect/>
          </a:stretch>
        </p:blipFill>
        <p:spPr>
          <a:xfrm>
            <a:off x="5364328" y="2033563"/>
            <a:ext cx="1463040" cy="2882314"/>
          </a:xfrm>
          <a:prstGeom prst="rect">
            <a:avLst/>
          </a:prstGeom>
        </p:spPr>
      </p:pic>
      <p:sp>
        <p:nvSpPr>
          <p:cNvPr id="9" name="Text 4"/>
          <p:cNvSpPr txBox="1"/>
          <p:nvPr/>
        </p:nvSpPr>
        <p:spPr>
          <a:xfrm>
            <a:off x="5364328" y="5349240"/>
            <a:ext cx="146304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Guest</a:t>
            </a:r>
            <a:endParaRPr lang="en-US" sz="1400" dirty="0"/>
          </a:p>
        </p:txBody>
      </p:sp>
      <p:pic>
        <p:nvPicPr>
          <p:cNvPr id="10" name="Travel guide" descr="Travel guide">    </p:cNvPr>
          <p:cNvPicPr>
            <a:picLocks noChangeAspect="1"/>
          </p:cNvPicPr>
          <p:nvPr/>
        </p:nvPicPr>
        <p:blipFill>
          <a:blip r:embed="rId4"/>
          <a:stretch>
            <a:fillRect/>
          </a:stretch>
        </p:blipFill>
        <p:spPr>
          <a:xfrm>
            <a:off x="7055968" y="2596680"/>
            <a:ext cx="2468880" cy="1756080"/>
          </a:xfrm>
          <a:prstGeom prst="rect">
            <a:avLst/>
          </a:prstGeom>
        </p:spPr>
      </p:pic>
      <p:sp>
        <p:nvSpPr>
          <p:cNvPr id="11" name="Text 5"/>
          <p:cNvSpPr txBox="1"/>
          <p:nvPr/>
        </p:nvSpPr>
        <p:spPr>
          <a:xfrm>
            <a:off x="7055968" y="5349240"/>
            <a:ext cx="24688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Travel guide</a:t>
            </a:r>
            <a:endParaRPr lang="en-US" sz="1400" dirty="0"/>
          </a:p>
        </p:txBody>
      </p:sp>
      <p:pic>
        <p:nvPicPr>
          <p:cNvPr id="12" name="State" descr="State">    </p:cNvPr>
          <p:cNvPicPr>
            <a:picLocks noChangeAspect="1"/>
          </p:cNvPicPr>
          <p:nvPr/>
        </p:nvPicPr>
        <p:blipFill>
          <a:blip r:embed="rId5"/>
          <a:stretch>
            <a:fillRect/>
          </a:stretch>
        </p:blipFill>
        <p:spPr>
          <a:xfrm>
            <a:off x="9753448" y="2795760"/>
            <a:ext cx="2103120" cy="1357920"/>
          </a:xfrm>
          <a:prstGeom prst="rect">
            <a:avLst/>
          </a:prstGeom>
        </p:spPr>
      </p:pic>
      <p:sp>
        <p:nvSpPr>
          <p:cNvPr id="13" name="Text 6"/>
          <p:cNvSpPr txBox="1"/>
          <p:nvPr/>
        </p:nvSpPr>
        <p:spPr>
          <a:xfrm>
            <a:off x="9753448" y="5349240"/>
            <a:ext cx="210312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14" name="Text 7"/>
          <p:cNvSpPr txBox="1"/>
          <p:nvPr/>
        </p:nvSpPr>
        <p:spPr>
          <a:xfrm>
            <a:off x="731520" y="5852160"/>
            <a:ext cx="10728655" cy="617220"/>
          </a:xfrm>
          <a:prstGeom prst="rect">
            <a:avLst/>
          </a:prstGeom>
          <a:noFill/>
          <a:ln/>
        </p:spPr>
        <p:txBody>
          <a:bodyPr wrap="square" lIns="0" tIns="0" rIns="0" bIns="0" rtlCol="0" anchor="ctr"/>
          <a:lstStyle/>
          <a:p>
            <a:pPr algn="ctr" indent="0" marL="0">
              <a:buNone/>
            </a:pPr>
            <a:r>
              <a:rPr lang="en-US" sz="1500" b="1" dirty="0">
                <a:solidFill>
                  <a:srgbClr val="8B8CF8"/>
                </a:solidFill>
                <a:latin typeface="Arial" pitchFamily="34" charset="0"/>
                <a:ea typeface="Arial" pitchFamily="34" charset="-122"/>
                <a:cs typeface="Arial" pitchFamily="34" charset="-120"/>
              </a:rPr>
              <a:t>Predict  →  Plan  →  Act  →  Prove  →  Care</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486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DEMO · 2 MINUTES</a:t>
            </a:r>
            <a:endParaRPr lang="en-US" sz="1100" dirty="0"/>
          </a:p>
        </p:txBody>
      </p:sp>
      <p:pic>
        <p:nvPicPr>
          <p:cNvPr id="3" name="Demo film cover" descr="Demo film cover">    </p:cNvPr>
          <p:cNvPicPr>
            <a:picLocks noChangeAspect="1"/>
          </p:cNvPicPr>
          <p:nvPr/>
        </p:nvPicPr>
        <p:blipFill>
          <a:blip r:embed="rId1"/>
          <a:stretch>
            <a:fillRect/>
          </a:stretch>
        </p:blipFill>
        <p:spPr>
          <a:xfrm>
            <a:off x="1706728" y="1051560"/>
            <a:ext cx="8778240" cy="4937760"/>
          </a:xfrm>
          <a:prstGeom prst="rect">
            <a:avLst/>
          </a:prstGeom>
        </p:spPr>
      </p:pic>
      <p:sp>
        <p:nvSpPr>
          <p:cNvPr id="4" name="Text 1"/>
          <p:cNvSpPr txBox="1"/>
          <p:nvPr/>
        </p:nvSpPr>
        <p:spPr>
          <a:xfrm>
            <a:off x="731520" y="6172200"/>
            <a:ext cx="10728655" cy="548640"/>
          </a:xfrm>
          <a:prstGeom prst="rect">
            <a:avLst/>
          </a:prstGeom>
          <a:noFill/>
          <a:ln/>
        </p:spPr>
        <p:txBody>
          <a:bodyPr wrap="square" lIns="0" tIns="0" rIns="0" bIns="0" rtlCol="0" anchor="ctr"/>
          <a:lstStyle/>
          <a:p>
            <a:pPr algn="ctr" indent="0" marL="0">
              <a:buNone/>
            </a:pPr>
            <a:r>
              <a:rPr lang="en-US" sz="1200" dirty="0">
                <a:solidFill>
                  <a:srgbClr val="6B6B76"/>
                </a:solidFill>
                <a:latin typeface="Arial" pitchFamily="34" charset="0"/>
                <a:ea typeface="Arial" pitchFamily="34" charset="-122"/>
                <a:cs typeface="Arial" pitchFamily="34" charset="-120"/>
              </a:rPr>
              <a:t>Recorded on the live apps</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FOR THE STATE</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One dataset for Uttarakhand tourism.</a:t>
            </a:r>
            <a:endParaRPr lang="en-US" sz="3400" dirty="0"/>
          </a:p>
        </p:txBody>
      </p:sp>
      <p:sp>
        <p:nvSpPr>
          <p:cNvPr id="4" name="Text 2"/>
          <p:cNvSpPr txBox="1"/>
          <p:nvPr/>
        </p:nvSpPr>
        <p:spPr>
          <a:xfrm>
            <a:off x="731520" y="1874520"/>
            <a:ext cx="10728655" cy="640080"/>
          </a:xfrm>
          <a:prstGeom prst="rect">
            <a:avLst/>
          </a:prstGeom>
          <a:noFill/>
          <a:ln/>
        </p:spPr>
        <p:txBody>
          <a:bodyPr wrap="square" lIns="0" tIns="0" rIns="0" bIns="0" rtlCol="0" anchor="ctr"/>
          <a:lstStyle/>
          <a:p>
            <a:pPr algn="ctr" indent="0" marL="0">
              <a:buNone/>
            </a:pPr>
            <a:r>
              <a:rPr lang="en-US" sz="1600" dirty="0">
                <a:solidFill>
                  <a:srgbClr val="A1A1AA"/>
                </a:solidFill>
                <a:latin typeface="Arial" pitchFamily="34" charset="0"/>
                <a:ea typeface="Arial" pitchFamily="34" charset="-122"/>
                <a:cs typeface="Arial" pitchFamily="34" charset="-120"/>
              </a:rPr>
              <a:t>The travel guide plugs into the government portal, so the state can see and act early.</a:t>
            </a:r>
            <a:endParaRPr lang="en-US" sz="1600" dirty="0"/>
          </a:p>
        </p:txBody>
      </p:sp>
      <p:pic>
        <p:nvPicPr>
          <p:cNvPr id="5" name="Image 0" descr="C:\Users\ashut\AppData\Local\Temp\claude\c--Users-ashut-Downloads-INNOV8\a05e3449-b391-4de7-b995-d2f2810b4436\scratchpad\refdeck\media\image5.png">    </p:cNvPr>
          <p:cNvPicPr>
            <a:picLocks noChangeAspect="1"/>
          </p:cNvPicPr>
          <p:nvPr/>
        </p:nvPicPr>
        <p:blipFill>
          <a:blip r:embed="rId1"/>
          <a:stretch>
            <a:fillRect/>
          </a:stretch>
        </p:blipFill>
        <p:spPr>
          <a:xfrm>
            <a:off x="1926298" y="2926080"/>
            <a:ext cx="566928" cy="566928"/>
          </a:xfrm>
          <a:prstGeom prst="rect">
            <a:avLst/>
          </a:prstGeom>
        </p:spPr>
      </p:pic>
      <p:sp>
        <p:nvSpPr>
          <p:cNvPr id="6" name="Text 3"/>
          <p:cNvSpPr txBox="1"/>
          <p:nvPr/>
        </p:nvSpPr>
        <p:spPr>
          <a:xfrm>
            <a:off x="914400" y="3703320"/>
            <a:ext cx="2590724"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Crowds</a:t>
            </a:r>
            <a:endParaRPr lang="en-US" sz="2200" dirty="0"/>
          </a:p>
        </p:txBody>
      </p:sp>
      <p:sp>
        <p:nvSpPr>
          <p:cNvPr id="7" name="Text 4"/>
          <p:cNvSpPr txBox="1"/>
          <p:nvPr/>
        </p:nvSpPr>
        <p:spPr>
          <a:xfrm>
            <a:off x="914400" y="4206240"/>
            <a:ext cx="2590724" cy="320040"/>
          </a:xfrm>
          <a:prstGeom prst="rect">
            <a:avLst/>
          </a:prstGeom>
          <a:noFill/>
          <a:ln/>
        </p:spPr>
        <p:txBody>
          <a:bodyPr wrap="square" lIns="0" tIns="0" rIns="0" bIns="0" rtlCol="0" anchor="t"/>
          <a:lstStyle/>
          <a:p>
            <a:pPr algn="ctr" indent="0" marL="0">
              <a:buNone/>
            </a:pPr>
            <a:r>
              <a:rPr lang="en-US" sz="1300" b="1" dirty="0">
                <a:solidFill>
                  <a:srgbClr val="22C55E"/>
                </a:solidFill>
                <a:latin typeface="Arial" pitchFamily="34" charset="0"/>
                <a:ea typeface="Arial" pitchFamily="34" charset="-122"/>
                <a:cs typeface="Arial" pitchFamily="34" charset="-120"/>
              </a:rPr>
              <a:t>Live</a:t>
            </a:r>
            <a:endParaRPr lang="en-US" sz="1300" dirty="0"/>
          </a:p>
        </p:txBody>
      </p:sp>
      <p:sp>
        <p:nvSpPr>
          <p:cNvPr id="8" name="Shape 5"/>
          <p:cNvSpPr/>
          <p:nvPr/>
        </p:nvSpPr>
        <p:spPr>
          <a:xfrm>
            <a:off x="3505124" y="2834640"/>
            <a:ext cx="0" cy="2194560"/>
          </a:xfrm>
          <a:prstGeom prst="line">
            <a:avLst/>
          </a:prstGeom>
          <a:noFill/>
          <a:ln w="9525">
            <a:solidFill>
              <a:srgbClr val="2E2E35"/>
            </a:solidFill>
            <a:prstDash val="solid"/>
          </a:ln>
        </p:spPr>
      </p:sp>
      <p:pic>
        <p:nvPicPr>
          <p:cNvPr id="9" name="Image 1" descr="C:\Users\ashut\AppData\Local\Temp\claude\c--Users-ashut-Downloads-INNOV8\a05e3449-b391-4de7-b995-d2f2810b4436\scratchpad\refdeck\media\image3.png">    </p:cNvPr>
          <p:cNvPicPr>
            <a:picLocks noChangeAspect="1"/>
          </p:cNvPicPr>
          <p:nvPr/>
        </p:nvPicPr>
        <p:blipFill>
          <a:blip r:embed="rId2"/>
          <a:stretch>
            <a:fillRect/>
          </a:stretch>
        </p:blipFill>
        <p:spPr>
          <a:xfrm>
            <a:off x="4517022" y="2926080"/>
            <a:ext cx="566928" cy="566928"/>
          </a:xfrm>
          <a:prstGeom prst="rect">
            <a:avLst/>
          </a:prstGeom>
        </p:spPr>
      </p:pic>
      <p:sp>
        <p:nvSpPr>
          <p:cNvPr id="10" name="Text 6"/>
          <p:cNvSpPr txBox="1"/>
          <p:nvPr/>
        </p:nvSpPr>
        <p:spPr>
          <a:xfrm>
            <a:off x="3505124" y="3703320"/>
            <a:ext cx="2590724"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Capacity</a:t>
            </a:r>
            <a:endParaRPr lang="en-US" sz="2200" dirty="0"/>
          </a:p>
        </p:txBody>
      </p:sp>
      <p:sp>
        <p:nvSpPr>
          <p:cNvPr id="11" name="Text 7"/>
          <p:cNvSpPr txBox="1"/>
          <p:nvPr/>
        </p:nvSpPr>
        <p:spPr>
          <a:xfrm>
            <a:off x="3505124" y="4206240"/>
            <a:ext cx="2590724" cy="320040"/>
          </a:xfrm>
          <a:prstGeom prst="rect">
            <a:avLst/>
          </a:prstGeom>
          <a:noFill/>
          <a:ln/>
        </p:spPr>
        <p:txBody>
          <a:bodyPr wrap="square" lIns="0" tIns="0" rIns="0" bIns="0" rtlCol="0" anchor="t"/>
          <a:lstStyle/>
          <a:p>
            <a:pPr algn="ctr" indent="0" marL="0">
              <a:buNone/>
            </a:pPr>
            <a:r>
              <a:rPr lang="en-US" sz="1300" b="1" dirty="0">
                <a:solidFill>
                  <a:srgbClr val="22C55E"/>
                </a:solidFill>
                <a:latin typeface="Arial" pitchFamily="34" charset="0"/>
                <a:ea typeface="Arial" pitchFamily="34" charset="-122"/>
                <a:cs typeface="Arial" pitchFamily="34" charset="-120"/>
              </a:rPr>
              <a:t>Live</a:t>
            </a:r>
            <a:endParaRPr lang="en-US" sz="1300" dirty="0"/>
          </a:p>
        </p:txBody>
      </p:sp>
      <p:sp>
        <p:nvSpPr>
          <p:cNvPr id="12" name="Shape 8"/>
          <p:cNvSpPr/>
          <p:nvPr/>
        </p:nvSpPr>
        <p:spPr>
          <a:xfrm>
            <a:off x="6095848" y="2834640"/>
            <a:ext cx="0" cy="2194560"/>
          </a:xfrm>
          <a:prstGeom prst="line">
            <a:avLst/>
          </a:prstGeom>
          <a:noFill/>
          <a:ln w="9525">
            <a:solidFill>
              <a:srgbClr val="2E2E35"/>
            </a:solidFill>
            <a:prstDash val="solid"/>
          </a:ln>
        </p:spPr>
      </p:sp>
      <p:pic>
        <p:nvPicPr>
          <p:cNvPr id="13" name="Image 2" descr="C:\Users\ashut\AppData\Local\Temp\claude\c--Users-ashut-Downloads-INNOV8\a05e3449-b391-4de7-b995-d2f2810b4436\scratchpad\refdeck\media\image4.png">    </p:cNvPr>
          <p:cNvPicPr>
            <a:picLocks noChangeAspect="1"/>
          </p:cNvPicPr>
          <p:nvPr/>
        </p:nvPicPr>
        <p:blipFill>
          <a:blip r:embed="rId3"/>
          <a:stretch>
            <a:fillRect/>
          </a:stretch>
        </p:blipFill>
        <p:spPr>
          <a:xfrm>
            <a:off x="7107746" y="2926080"/>
            <a:ext cx="566928" cy="566928"/>
          </a:xfrm>
          <a:prstGeom prst="rect">
            <a:avLst/>
          </a:prstGeom>
        </p:spPr>
      </p:pic>
      <p:sp>
        <p:nvSpPr>
          <p:cNvPr id="14" name="Text 9"/>
          <p:cNvSpPr txBox="1"/>
          <p:nvPr/>
        </p:nvSpPr>
        <p:spPr>
          <a:xfrm>
            <a:off x="6095848" y="3703320"/>
            <a:ext cx="2590724"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Complaints</a:t>
            </a:r>
            <a:endParaRPr lang="en-US" sz="2200" dirty="0"/>
          </a:p>
        </p:txBody>
      </p:sp>
      <p:sp>
        <p:nvSpPr>
          <p:cNvPr id="15" name="Text 10"/>
          <p:cNvSpPr txBox="1"/>
          <p:nvPr/>
        </p:nvSpPr>
        <p:spPr>
          <a:xfrm>
            <a:off x="6095848" y="4206240"/>
            <a:ext cx="2590724" cy="320040"/>
          </a:xfrm>
          <a:prstGeom prst="rect">
            <a:avLst/>
          </a:prstGeom>
          <a:noFill/>
          <a:ln/>
        </p:spPr>
        <p:txBody>
          <a:bodyPr wrap="square" lIns="0" tIns="0" rIns="0" bIns="0" rtlCol="0" anchor="t"/>
          <a:lstStyle/>
          <a:p>
            <a:pPr algn="ctr" indent="0" marL="0">
              <a:buNone/>
            </a:pPr>
            <a:r>
              <a:rPr lang="en-US" sz="1300" b="1" dirty="0">
                <a:solidFill>
                  <a:srgbClr val="22C55E"/>
                </a:solidFill>
                <a:latin typeface="Arial" pitchFamily="34" charset="0"/>
                <a:ea typeface="Arial" pitchFamily="34" charset="-122"/>
                <a:cs typeface="Arial" pitchFamily="34" charset="-120"/>
              </a:rPr>
              <a:t>Live</a:t>
            </a:r>
            <a:endParaRPr lang="en-US" sz="1300" dirty="0"/>
          </a:p>
        </p:txBody>
      </p:sp>
      <p:sp>
        <p:nvSpPr>
          <p:cNvPr id="16" name="Shape 11"/>
          <p:cNvSpPr/>
          <p:nvPr/>
        </p:nvSpPr>
        <p:spPr>
          <a:xfrm>
            <a:off x="8686571" y="2834640"/>
            <a:ext cx="0" cy="2194560"/>
          </a:xfrm>
          <a:prstGeom prst="line">
            <a:avLst/>
          </a:prstGeom>
          <a:noFill/>
          <a:ln w="9525">
            <a:solidFill>
              <a:srgbClr val="2E2E35"/>
            </a:solidFill>
            <a:prstDash val="solid"/>
          </a:ln>
        </p:spPr>
      </p:sp>
      <p:pic>
        <p:nvPicPr>
          <p:cNvPr id="17" name="Image 3" descr="C:\Users\ashut\AppData\Local\Temp\claude\c--Users-ashut-Downloads-INNOV8\a05e3449-b391-4de7-b995-d2f2810b4436\scratchpad\refdeck\media\image8.png">    </p:cNvPr>
          <p:cNvPicPr>
            <a:picLocks noChangeAspect="1"/>
          </p:cNvPicPr>
          <p:nvPr/>
        </p:nvPicPr>
        <p:blipFill>
          <a:blip r:embed="rId4"/>
          <a:stretch>
            <a:fillRect/>
          </a:stretch>
        </p:blipFill>
        <p:spPr>
          <a:xfrm>
            <a:off x="9698469" y="2926080"/>
            <a:ext cx="566928" cy="566928"/>
          </a:xfrm>
          <a:prstGeom prst="rect">
            <a:avLst/>
          </a:prstGeom>
        </p:spPr>
      </p:pic>
      <p:sp>
        <p:nvSpPr>
          <p:cNvPr id="18" name="Text 12"/>
          <p:cNvSpPr txBox="1"/>
          <p:nvPr/>
        </p:nvSpPr>
        <p:spPr>
          <a:xfrm>
            <a:off x="8686571" y="3703320"/>
            <a:ext cx="2590724"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Money flow</a:t>
            </a:r>
            <a:endParaRPr lang="en-US" sz="2200" dirty="0"/>
          </a:p>
        </p:txBody>
      </p:sp>
      <p:sp>
        <p:nvSpPr>
          <p:cNvPr id="19" name="Text 13"/>
          <p:cNvSpPr txBox="1"/>
          <p:nvPr/>
        </p:nvSpPr>
        <p:spPr>
          <a:xfrm>
            <a:off x="8686571" y="4206240"/>
            <a:ext cx="2590724" cy="320040"/>
          </a:xfrm>
          <a:prstGeom prst="rect">
            <a:avLst/>
          </a:prstGeom>
          <a:noFill/>
          <a:ln/>
        </p:spPr>
        <p:txBody>
          <a:bodyPr wrap="square" lIns="0" tIns="0" rIns="0" bIns="0" rtlCol="0" anchor="t"/>
          <a:lstStyle/>
          <a:p>
            <a:pPr algn="ctr" indent="0" marL="0">
              <a:buNone/>
            </a:pPr>
            <a:r>
              <a:rPr lang="en-US" sz="1300" b="1" dirty="0">
                <a:solidFill>
                  <a:srgbClr val="8B8CF8"/>
                </a:solidFill>
                <a:latin typeface="Arial" pitchFamily="34" charset="0"/>
                <a:ea typeface="Arial" pitchFamily="34" charset="-122"/>
                <a:cs typeface="Arial" pitchFamily="34" charset="-120"/>
              </a:rPr>
              <a:t>Next</a:t>
            </a:r>
            <a:endParaRPr lang="en-US" sz="1300" dirty="0"/>
          </a:p>
        </p:txBody>
      </p:sp>
      <p:sp>
        <p:nvSpPr>
          <p:cNvPr id="20" name="Text 14"/>
          <p:cNvSpPr txBox="1"/>
          <p:nvPr/>
        </p:nvSpPr>
        <p:spPr>
          <a:xfrm>
            <a:off x="731520" y="5486400"/>
            <a:ext cx="10728655" cy="548640"/>
          </a:xfrm>
          <a:prstGeom prst="rect">
            <a:avLst/>
          </a:prstGeom>
          <a:noFill/>
          <a:ln/>
        </p:spPr>
        <p:txBody>
          <a:bodyPr wrap="square" lIns="0" tIns="0" rIns="0" bIns="0" rtlCol="0" anchor="ctr"/>
          <a:lstStyle/>
          <a:p>
            <a:pPr algn="ctr" indent="0" marL="0">
              <a:buNone/>
            </a:pPr>
            <a:r>
              <a:rPr lang="en-US" sz="1200" dirty="0">
                <a:solidFill>
                  <a:srgbClr val="6B6B76"/>
                </a:solidFill>
                <a:latin typeface="Arial" pitchFamily="34" charset="0"/>
                <a:ea typeface="Arial" pitchFamily="34" charset="-122"/>
                <a:cs typeface="Arial" pitchFamily="34" charset="-120"/>
              </a:rPr>
              <a:t>Anonymised  ·  businesses opt in  ·  small groups hidden</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OUTCOMES</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Predictions that turn into action.</a:t>
            </a:r>
            <a:endParaRPr lang="en-US" sz="3400" dirty="0"/>
          </a:p>
        </p:txBody>
      </p:sp>
      <p:sp>
        <p:nvSpPr>
          <p:cNvPr id="4" name="Text 2"/>
          <p:cNvSpPr txBox="1"/>
          <p:nvPr/>
        </p:nvSpPr>
        <p:spPr>
          <a:xfrm>
            <a:off x="1371600" y="2606040"/>
            <a:ext cx="3149498" cy="1005840"/>
          </a:xfrm>
          <a:prstGeom prst="rect">
            <a:avLst/>
          </a:prstGeom>
          <a:noFill/>
          <a:ln/>
        </p:spPr>
        <p:txBody>
          <a:bodyPr wrap="square" lIns="0" tIns="0" rIns="0" bIns="0" rtlCol="0" anchor="ctr"/>
          <a:lstStyle/>
          <a:p>
            <a:pPr algn="ctr" indent="0" marL="0">
              <a:buNone/>
            </a:pPr>
            <a:r>
              <a:rPr lang="en-US" sz="6000" b="1" dirty="0">
                <a:solidFill>
                  <a:srgbClr val="22C55E"/>
                </a:solidFill>
                <a:latin typeface="Arial" pitchFamily="34" charset="0"/>
                <a:ea typeface="Arial" pitchFamily="34" charset="-122"/>
                <a:cs typeface="Arial" pitchFamily="34" charset="-120"/>
              </a:rPr>
              <a:t>−83%</a:t>
            </a:r>
            <a:endParaRPr lang="en-US" sz="6000" dirty="0"/>
          </a:p>
        </p:txBody>
      </p:sp>
      <p:sp>
        <p:nvSpPr>
          <p:cNvPr id="5" name="Text 3"/>
          <p:cNvSpPr txBox="1"/>
          <p:nvPr/>
        </p:nvSpPr>
        <p:spPr>
          <a:xfrm>
            <a:off x="1691640" y="3749040"/>
            <a:ext cx="2509418" cy="731520"/>
          </a:xfrm>
          <a:prstGeom prst="rect">
            <a:avLst/>
          </a:prstGeom>
          <a:noFill/>
          <a:ln/>
        </p:spPr>
        <p:txBody>
          <a:bodyPr wrap="square" lIns="0" tIns="0" rIns="0" bIns="0" rtlCol="0" anchor="t"/>
          <a:lstStyle/>
          <a:p>
            <a:pPr algn="ctr" indent="0" marL="0">
              <a:buNone/>
            </a:pPr>
            <a:r>
              <a:rPr lang="en-US" sz="1500" dirty="0">
                <a:solidFill>
                  <a:srgbClr val="A1A1AA"/>
                </a:solidFill>
                <a:latin typeface="Arial" pitchFamily="34" charset="0"/>
                <a:ea typeface="Arial" pitchFamily="34" charset="-122"/>
                <a:cs typeface="Arial" pitchFamily="34" charset="-120"/>
              </a:rPr>
              <a:t>forecast error, 1 day ahead</a:t>
            </a:r>
            <a:endParaRPr lang="en-US" sz="1500" dirty="0"/>
          </a:p>
        </p:txBody>
      </p:sp>
      <p:sp>
        <p:nvSpPr>
          <p:cNvPr id="6" name="Shape 4"/>
          <p:cNvSpPr/>
          <p:nvPr/>
        </p:nvSpPr>
        <p:spPr>
          <a:xfrm>
            <a:off x="4521098" y="2468880"/>
            <a:ext cx="0" cy="2377440"/>
          </a:xfrm>
          <a:prstGeom prst="line">
            <a:avLst/>
          </a:prstGeom>
          <a:noFill/>
          <a:ln w="9525">
            <a:solidFill>
              <a:srgbClr val="2E2E35"/>
            </a:solidFill>
            <a:prstDash val="solid"/>
          </a:ln>
        </p:spPr>
      </p:sp>
      <p:sp>
        <p:nvSpPr>
          <p:cNvPr id="7" name="Text 5"/>
          <p:cNvSpPr txBox="1"/>
          <p:nvPr/>
        </p:nvSpPr>
        <p:spPr>
          <a:xfrm>
            <a:off x="4521098" y="2606040"/>
            <a:ext cx="3149498"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66%</a:t>
            </a:r>
            <a:endParaRPr lang="en-US" sz="6000" dirty="0"/>
          </a:p>
        </p:txBody>
      </p:sp>
      <p:sp>
        <p:nvSpPr>
          <p:cNvPr id="8" name="Text 6"/>
          <p:cNvSpPr txBox="1"/>
          <p:nvPr/>
        </p:nvSpPr>
        <p:spPr>
          <a:xfrm>
            <a:off x="4841138" y="3749040"/>
            <a:ext cx="2509418" cy="731520"/>
          </a:xfrm>
          <a:prstGeom prst="rect">
            <a:avLst/>
          </a:prstGeom>
          <a:noFill/>
          <a:ln/>
        </p:spPr>
        <p:txBody>
          <a:bodyPr wrap="square" lIns="0" tIns="0" rIns="0" bIns="0" rtlCol="0" anchor="t"/>
          <a:lstStyle/>
          <a:p>
            <a:pPr algn="ctr" indent="0" marL="0">
              <a:buNone/>
            </a:pPr>
            <a:r>
              <a:rPr lang="en-US" sz="1500" dirty="0">
                <a:solidFill>
                  <a:srgbClr val="A1A1AA"/>
                </a:solidFill>
                <a:latin typeface="Arial" pitchFamily="34" charset="0"/>
                <a:ea typeface="Arial" pitchFamily="34" charset="-122"/>
                <a:cs typeface="Arial" pitchFamily="34" charset="-120"/>
              </a:rPr>
              <a:t>picks the leaver over a stayer (checklist: 55%)</a:t>
            </a:r>
            <a:endParaRPr lang="en-US" sz="1500" dirty="0"/>
          </a:p>
        </p:txBody>
      </p:sp>
      <p:sp>
        <p:nvSpPr>
          <p:cNvPr id="9" name="Shape 7"/>
          <p:cNvSpPr/>
          <p:nvPr/>
        </p:nvSpPr>
        <p:spPr>
          <a:xfrm>
            <a:off x="7670597" y="2468880"/>
            <a:ext cx="0" cy="2377440"/>
          </a:xfrm>
          <a:prstGeom prst="line">
            <a:avLst/>
          </a:prstGeom>
          <a:noFill/>
          <a:ln w="9525">
            <a:solidFill>
              <a:srgbClr val="2E2E35"/>
            </a:solidFill>
            <a:prstDash val="solid"/>
          </a:ln>
        </p:spPr>
      </p:sp>
      <p:sp>
        <p:nvSpPr>
          <p:cNvPr id="10" name="Text 8"/>
          <p:cNvSpPr txBox="1"/>
          <p:nvPr/>
        </p:nvSpPr>
        <p:spPr>
          <a:xfrm>
            <a:off x="7670597" y="2606040"/>
            <a:ext cx="3149498"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4.4 s</a:t>
            </a:r>
            <a:endParaRPr lang="en-US" sz="6000" dirty="0"/>
          </a:p>
        </p:txBody>
      </p:sp>
      <p:sp>
        <p:nvSpPr>
          <p:cNvPr id="11" name="Text 9"/>
          <p:cNvSpPr txBox="1"/>
          <p:nvPr/>
        </p:nvSpPr>
        <p:spPr>
          <a:xfrm>
            <a:off x="7990637" y="3749040"/>
            <a:ext cx="2509418" cy="731520"/>
          </a:xfrm>
          <a:prstGeom prst="rect">
            <a:avLst/>
          </a:prstGeom>
          <a:noFill/>
          <a:ln/>
        </p:spPr>
        <p:txBody>
          <a:bodyPr wrap="square" lIns="0" tIns="0" rIns="0" bIns="0" rtlCol="0" anchor="t"/>
          <a:lstStyle/>
          <a:p>
            <a:pPr algn="ctr" indent="0" marL="0">
              <a:buNone/>
            </a:pPr>
            <a:r>
              <a:rPr lang="en-US" sz="1500" dirty="0">
                <a:solidFill>
                  <a:srgbClr val="A1A1AA"/>
                </a:solidFill>
                <a:latin typeface="Arial" pitchFamily="34" charset="0"/>
                <a:ea typeface="Arial" pitchFamily="34" charset="-122"/>
                <a:cs typeface="Arial" pitchFamily="34" charset="-120"/>
              </a:rPr>
              <a:t>from new job to the right phone</a:t>
            </a:r>
            <a:endParaRPr lang="en-US" sz="1500" dirty="0"/>
          </a:p>
        </p:txBody>
      </p:sp>
      <p:sp>
        <p:nvSpPr>
          <p:cNvPr id="12" name="Text 10"/>
          <p:cNvSpPr txBox="1"/>
          <p:nvPr/>
        </p:nvSpPr>
        <p:spPr>
          <a:xfrm>
            <a:off x="731520" y="5349240"/>
            <a:ext cx="10728655" cy="548640"/>
          </a:xfrm>
          <a:prstGeom prst="rect">
            <a:avLst/>
          </a:prstGeom>
          <a:noFill/>
          <a:ln/>
        </p:spPr>
        <p:txBody>
          <a:bodyPr wrap="square" lIns="0" tIns="0" rIns="0" bIns="0" rtlCol="0" anchor="ctr"/>
          <a:lstStyle/>
          <a:p>
            <a:pPr algn="ctr" indent="0" marL="0">
              <a:buNone/>
            </a:pPr>
            <a:r>
              <a:rPr lang="en-US" sz="1200" dirty="0">
                <a:solidFill>
                  <a:srgbClr val="6B6B76"/>
                </a:solidFill>
                <a:latin typeface="Arial" pitchFamily="34" charset="0"/>
                <a:ea typeface="Arial" pitchFamily="34" charset="-122"/>
                <a:cs typeface="Arial" pitchFamily="34" charset="-120"/>
              </a:rPr>
              <a:t>Forecast tested on real hotel data · turnover on 1,129 real employee records · speed measured live</a:t>
            </a:r>
            <a:endParaRPr lang="en-US" sz="1200" dirty="0"/>
          </a:p>
        </p:txBody>
      </p:sp>
      <p:sp>
        <p:nvSpPr>
          <p:cNvPr id="13" name="Text 11"/>
          <p:cNvSpPr txBox="1"/>
          <p:nvPr/>
        </p:nvSpPr>
        <p:spPr>
          <a:xfrm>
            <a:off x="731520" y="6309360"/>
            <a:ext cx="10180015" cy="256032"/>
          </a:xfrm>
          <a:prstGeom prst="rect">
            <a:avLst/>
          </a:prstGeom>
          <a:noFill/>
          <a:ln/>
        </p:spPr>
        <p:txBody>
          <a:bodyPr wrap="square" lIns="0" tIns="0" rIns="0" bIns="0" rtlCol="0" anchor="t"/>
          <a:lstStyle/>
          <a:p>
            <a:pPr algn="ctr" indent="0" marL="0">
              <a:buNone/>
            </a:pPr>
            <a:r>
              <a:rPr lang="en-US" sz="800" dirty="0">
                <a:solidFill>
                  <a:srgbClr val="6B6B76"/>
                </a:solidFill>
                <a:latin typeface="Arial" pitchFamily="34" charset="0"/>
                <a:ea typeface="Arial" pitchFamily="34" charset="-122"/>
                <a:cs typeface="Arial" pitchFamily="34" charset="-120"/>
              </a:rPr>
              <a:t>Sources  </a:t>
            </a:r>
            <a:pPr algn="ctr" indent="0" marL="0">
              <a:buNone/>
            </a:pPr>
            <a:r>
              <a:rPr lang="en-US" sz="800" u="sng" dirty="0">
                <a:solidFill>
                  <a:srgbClr val="6E70C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Hotel Booking Demand dataset, Data in Brief 2019</a:t>
            </a:r>
            <a:endParaRPr lang="en-US" sz="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OUR MOAT</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Booking tools sell the room. HOI runs the stay.</a:t>
            </a:r>
            <a:endParaRPr lang="en-US" sz="3400" dirty="0"/>
          </a:p>
        </p:txBody>
      </p:sp>
      <p:pic>
        <p:nvPicPr>
          <p:cNvPr id="4" name="Image 0" descr="C:\Users\ashut\AppData\Local\Temp\claude\c--Users-ashut-Downloads-INNOV8\a05e3449-b391-4de7-b995-d2f2810b4436\scratchpad\refdeck\media\image8.png">    </p:cNvPr>
          <p:cNvPicPr>
            <a:picLocks noChangeAspect="1"/>
          </p:cNvPicPr>
          <p:nvPr/>
        </p:nvPicPr>
        <p:blipFill>
          <a:blip r:embed="rId1"/>
          <a:stretch>
            <a:fillRect/>
          </a:stretch>
        </p:blipFill>
        <p:spPr>
          <a:xfrm>
            <a:off x="1926298" y="2514600"/>
            <a:ext cx="566928" cy="566928"/>
          </a:xfrm>
          <a:prstGeom prst="rect">
            <a:avLst/>
          </a:prstGeom>
        </p:spPr>
      </p:pic>
      <p:sp>
        <p:nvSpPr>
          <p:cNvPr id="5" name="Text 2"/>
          <p:cNvSpPr txBox="1"/>
          <p:nvPr/>
        </p:nvSpPr>
        <p:spPr>
          <a:xfrm>
            <a:off x="914400" y="3291840"/>
            <a:ext cx="2590724"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Own-data loop</a:t>
            </a:r>
            <a:endParaRPr lang="en-US" sz="2000" dirty="0"/>
          </a:p>
        </p:txBody>
      </p:sp>
      <p:sp>
        <p:nvSpPr>
          <p:cNvPr id="6" name="Text 3"/>
          <p:cNvSpPr txBox="1"/>
          <p:nvPr/>
        </p:nvSpPr>
        <p:spPr>
          <a:xfrm>
            <a:off x="1188720" y="3794760"/>
            <a:ext cx="2042084"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Forecasts improve every week</a:t>
            </a:r>
            <a:endParaRPr lang="en-US" sz="1400" dirty="0"/>
          </a:p>
        </p:txBody>
      </p:sp>
      <p:sp>
        <p:nvSpPr>
          <p:cNvPr id="7" name="Shape 4"/>
          <p:cNvSpPr/>
          <p:nvPr/>
        </p:nvSpPr>
        <p:spPr>
          <a:xfrm>
            <a:off x="3505124" y="2423160"/>
            <a:ext cx="0" cy="2468880"/>
          </a:xfrm>
          <a:prstGeom prst="line">
            <a:avLst/>
          </a:prstGeom>
          <a:noFill/>
          <a:ln w="9525">
            <a:solidFill>
              <a:srgbClr val="2E2E35"/>
            </a:solidFill>
            <a:prstDash val="solid"/>
          </a:ln>
        </p:spPr>
      </p:sp>
      <p:pic>
        <p:nvPicPr>
          <p:cNvPr id="8" name="Image 1" descr="C:\Users\ashut\AppData\Local\Temp\claude\c--Users-ashut-Downloads-INNOV8\a05e3449-b391-4de7-b995-d2f2810b4436\scratchpad\refdeck\media\image11.png">    </p:cNvPr>
          <p:cNvPicPr>
            <a:picLocks noChangeAspect="1"/>
          </p:cNvPicPr>
          <p:nvPr/>
        </p:nvPicPr>
        <p:blipFill>
          <a:blip r:embed="rId2"/>
          <a:stretch>
            <a:fillRect/>
          </a:stretch>
        </p:blipFill>
        <p:spPr>
          <a:xfrm>
            <a:off x="4517022" y="2514600"/>
            <a:ext cx="566928" cy="566928"/>
          </a:xfrm>
          <a:prstGeom prst="rect">
            <a:avLst/>
          </a:prstGeom>
        </p:spPr>
      </p:pic>
      <p:sp>
        <p:nvSpPr>
          <p:cNvPr id="9" name="Text 5"/>
          <p:cNvSpPr txBox="1"/>
          <p:nvPr/>
        </p:nvSpPr>
        <p:spPr>
          <a:xfrm>
            <a:off x="3505124" y="3291840"/>
            <a:ext cx="2590724"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Frontline first</a:t>
            </a:r>
            <a:endParaRPr lang="en-US" sz="2000" dirty="0"/>
          </a:p>
        </p:txBody>
      </p:sp>
      <p:sp>
        <p:nvSpPr>
          <p:cNvPr id="10" name="Text 6"/>
          <p:cNvSpPr txBox="1"/>
          <p:nvPr/>
        </p:nvSpPr>
        <p:spPr>
          <a:xfrm>
            <a:off x="3779444" y="3794760"/>
            <a:ext cx="2042084"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Hindi voice, one tap</a:t>
            </a:r>
            <a:endParaRPr lang="en-US" sz="1400" dirty="0"/>
          </a:p>
        </p:txBody>
      </p:sp>
      <p:sp>
        <p:nvSpPr>
          <p:cNvPr id="11" name="Shape 7"/>
          <p:cNvSpPr/>
          <p:nvPr/>
        </p:nvSpPr>
        <p:spPr>
          <a:xfrm>
            <a:off x="6095848" y="2423160"/>
            <a:ext cx="0" cy="2468880"/>
          </a:xfrm>
          <a:prstGeom prst="line">
            <a:avLst/>
          </a:prstGeom>
          <a:noFill/>
          <a:ln w="9525">
            <a:solidFill>
              <a:srgbClr val="2E2E35"/>
            </a:solidFill>
            <a:prstDash val="solid"/>
          </a:ln>
        </p:spPr>
      </p:sp>
      <p:pic>
        <p:nvPicPr>
          <p:cNvPr id="12" name="Image 2" descr="C:\Users\ashut\AppData\Local\Temp\claude\c--Users-ashut-Downloads-INNOV8\a05e3449-b391-4de7-b995-d2f2810b4436\scratchpad\refdeck\media\image10.png">    </p:cNvPr>
          <p:cNvPicPr>
            <a:picLocks noChangeAspect="1"/>
          </p:cNvPicPr>
          <p:nvPr/>
        </p:nvPicPr>
        <p:blipFill>
          <a:blip r:embed="rId3"/>
          <a:stretch>
            <a:fillRect/>
          </a:stretch>
        </p:blipFill>
        <p:spPr>
          <a:xfrm>
            <a:off x="7107746" y="2514600"/>
            <a:ext cx="566928" cy="566928"/>
          </a:xfrm>
          <a:prstGeom prst="rect">
            <a:avLst/>
          </a:prstGeom>
        </p:spPr>
      </p:pic>
      <p:sp>
        <p:nvSpPr>
          <p:cNvPr id="13" name="Text 8"/>
          <p:cNvSpPr txBox="1"/>
          <p:nvPr/>
        </p:nvSpPr>
        <p:spPr>
          <a:xfrm>
            <a:off x="6095848" y="3291840"/>
            <a:ext cx="2590724"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State network</a:t>
            </a:r>
            <a:endParaRPr lang="en-US" sz="2000" dirty="0"/>
          </a:p>
        </p:txBody>
      </p:sp>
      <p:sp>
        <p:nvSpPr>
          <p:cNvPr id="14" name="Text 9"/>
          <p:cNvSpPr txBox="1"/>
          <p:nvPr/>
        </p:nvSpPr>
        <p:spPr>
          <a:xfrm>
            <a:off x="6370168" y="3794760"/>
            <a:ext cx="2042084"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Hotels, workers, government</a:t>
            </a:r>
            <a:endParaRPr lang="en-US" sz="1400" dirty="0"/>
          </a:p>
        </p:txBody>
      </p:sp>
      <p:sp>
        <p:nvSpPr>
          <p:cNvPr id="15" name="Shape 10"/>
          <p:cNvSpPr/>
          <p:nvPr/>
        </p:nvSpPr>
        <p:spPr>
          <a:xfrm>
            <a:off x="8686571" y="2423160"/>
            <a:ext cx="0" cy="2468880"/>
          </a:xfrm>
          <a:prstGeom prst="line">
            <a:avLst/>
          </a:prstGeom>
          <a:noFill/>
          <a:ln w="9525">
            <a:solidFill>
              <a:srgbClr val="2E2E35"/>
            </a:solidFill>
            <a:prstDash val="solid"/>
          </a:ln>
        </p:spPr>
      </p:sp>
      <p:pic>
        <p:nvPicPr>
          <p:cNvPr id="16" name="Image 3" descr="C:\Users\ashut\AppData\Local\Temp\claude\c--Users-ashut-Downloads-INNOV8\a05e3449-b391-4de7-b995-d2f2810b4436\scratchpad\refdeck\media\image6.png">    </p:cNvPr>
          <p:cNvPicPr>
            <a:picLocks noChangeAspect="1"/>
          </p:cNvPicPr>
          <p:nvPr/>
        </p:nvPicPr>
        <p:blipFill>
          <a:blip r:embed="rId4"/>
          <a:stretch>
            <a:fillRect/>
          </a:stretch>
        </p:blipFill>
        <p:spPr>
          <a:xfrm>
            <a:off x="9698469" y="2514600"/>
            <a:ext cx="566928" cy="566928"/>
          </a:xfrm>
          <a:prstGeom prst="rect">
            <a:avLst/>
          </a:prstGeom>
        </p:spPr>
      </p:pic>
      <p:sp>
        <p:nvSpPr>
          <p:cNvPr id="17" name="Text 11"/>
          <p:cNvSpPr txBox="1"/>
          <p:nvPr/>
        </p:nvSpPr>
        <p:spPr>
          <a:xfrm>
            <a:off x="8686571" y="3291840"/>
            <a:ext cx="2590724"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Trust</a:t>
            </a:r>
            <a:endParaRPr lang="en-US" sz="2000" dirty="0"/>
          </a:p>
        </p:txBody>
      </p:sp>
      <p:sp>
        <p:nvSpPr>
          <p:cNvPr id="18" name="Text 12"/>
          <p:cNvSpPr txBox="1"/>
          <p:nvPr/>
        </p:nvSpPr>
        <p:spPr>
          <a:xfrm>
            <a:off x="8960891" y="3794760"/>
            <a:ext cx="2042084" cy="731520"/>
          </a:xfrm>
          <a:prstGeom prst="rect">
            <a:avLst/>
          </a:prstGeom>
          <a:noFill/>
          <a:ln/>
        </p:spPr>
        <p:txBody>
          <a:bodyPr wrap="square" lIns="0" tIns="0" rIns="0" bIns="0" rtlCol="0" anchor="t"/>
          <a:lstStyle/>
          <a:p>
            <a:pPr algn="ctr" indent="0" marL="0">
              <a:buNone/>
            </a:pPr>
            <a:r>
              <a:rPr lang="en-US" sz="1400" dirty="0">
                <a:solidFill>
                  <a:srgbClr val="A1A1AA"/>
                </a:solidFill>
                <a:latin typeface="Arial" pitchFamily="34" charset="0"/>
                <a:ea typeface="Arial" pitchFamily="34" charset="-122"/>
                <a:cs typeface="Arial" pitchFamily="34" charset="-120"/>
              </a:rPr>
              <a:t>No personal data, no commission</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777240"/>
            <a:ext cx="10728655" cy="525780"/>
          </a:xfrm>
          <a:prstGeom prst="rect">
            <a:avLst/>
          </a:prstGeom>
          <a:noFill/>
          <a:ln/>
        </p:spPr>
        <p:txBody>
          <a:bodyPr wrap="square" lIns="0" tIns="0" rIns="0" bIns="0" rtlCol="0" anchor="ctr"/>
          <a:lstStyle/>
          <a:p>
            <a:pPr algn="ctr" indent="0" marL="0">
              <a:buNone/>
            </a:pPr>
            <a:r>
              <a:rPr lang="en-US" sz="1100" b="1" spc="400" kern="0" dirty="0">
                <a:solidFill>
                  <a:srgbClr val="8B8CF8"/>
                </a:solidFill>
                <a:latin typeface="Arial" pitchFamily="34" charset="0"/>
                <a:ea typeface="Arial" pitchFamily="34" charset="-122"/>
                <a:cs typeface="Arial" pitchFamily="34" charset="-120"/>
              </a:rPr>
              <a:t>LONG-TERM STRATEGY</a:t>
            </a:r>
            <a:endParaRPr lang="en-US" sz="1100" dirty="0"/>
          </a:p>
        </p:txBody>
      </p:sp>
      <p:sp>
        <p:nvSpPr>
          <p:cNvPr id="3" name="Text 1"/>
          <p:cNvSpPr txBox="1"/>
          <p:nvPr/>
        </p:nvSpPr>
        <p:spPr>
          <a:xfrm>
            <a:off x="731520" y="1143000"/>
            <a:ext cx="10728655" cy="10515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Grow with every hotel that joins.</a:t>
            </a:r>
            <a:endParaRPr lang="en-US" sz="3400" dirty="0"/>
          </a:p>
        </p:txBody>
      </p:sp>
      <p:sp>
        <p:nvSpPr>
          <p:cNvPr id="4" name="Text 2"/>
          <p:cNvSpPr txBox="1"/>
          <p:nvPr/>
        </p:nvSpPr>
        <p:spPr>
          <a:xfrm>
            <a:off x="914400" y="2606040"/>
            <a:ext cx="3454298" cy="548640"/>
          </a:xfrm>
          <a:prstGeom prst="rect">
            <a:avLst/>
          </a:prstGeom>
          <a:noFill/>
          <a:ln/>
        </p:spPr>
        <p:txBody>
          <a:bodyPr wrap="square" lIns="0" tIns="0" rIns="0" bIns="0" rtlCol="0" anchor="ctr"/>
          <a:lstStyle/>
          <a:p>
            <a:pPr algn="ctr" indent="0" marL="0">
              <a:buNone/>
            </a:pPr>
            <a:r>
              <a:rPr lang="en-US" sz="2600" b="1" dirty="0">
                <a:solidFill>
                  <a:srgbClr val="8B8CF8"/>
                </a:solidFill>
                <a:latin typeface="Arial" pitchFamily="34" charset="0"/>
                <a:ea typeface="Arial" pitchFamily="34" charset="-122"/>
                <a:cs typeface="Arial" pitchFamily="34" charset="-120"/>
              </a:rPr>
              <a:t>Start</a:t>
            </a:r>
            <a:endParaRPr lang="en-US" sz="2600" dirty="0"/>
          </a:p>
        </p:txBody>
      </p:sp>
      <p:sp>
        <p:nvSpPr>
          <p:cNvPr id="5" name="Text 3"/>
          <p:cNvSpPr txBox="1"/>
          <p:nvPr/>
        </p:nvSpPr>
        <p:spPr>
          <a:xfrm>
            <a:off x="1325880" y="3291840"/>
            <a:ext cx="2631338" cy="109728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Homestays and small hotels in Mussoorie and Rishikesh</a:t>
            </a:r>
            <a:endParaRPr lang="en-US" sz="1700" dirty="0"/>
          </a:p>
        </p:txBody>
      </p:sp>
      <p:sp>
        <p:nvSpPr>
          <p:cNvPr id="6" name="Shape 4"/>
          <p:cNvSpPr/>
          <p:nvPr/>
        </p:nvSpPr>
        <p:spPr>
          <a:xfrm>
            <a:off x="4368698" y="2468880"/>
            <a:ext cx="0" cy="2286000"/>
          </a:xfrm>
          <a:prstGeom prst="line">
            <a:avLst/>
          </a:prstGeom>
          <a:noFill/>
          <a:ln w="9525">
            <a:solidFill>
              <a:srgbClr val="2E2E35"/>
            </a:solidFill>
            <a:prstDash val="solid"/>
          </a:ln>
        </p:spPr>
      </p:sp>
      <p:sp>
        <p:nvSpPr>
          <p:cNvPr id="7" name="Text 5"/>
          <p:cNvSpPr txBox="1"/>
          <p:nvPr/>
        </p:nvSpPr>
        <p:spPr>
          <a:xfrm>
            <a:off x="4368698" y="2606040"/>
            <a:ext cx="3454298" cy="548640"/>
          </a:xfrm>
          <a:prstGeom prst="rect">
            <a:avLst/>
          </a:prstGeom>
          <a:noFill/>
          <a:ln/>
        </p:spPr>
        <p:txBody>
          <a:bodyPr wrap="square" lIns="0" tIns="0" rIns="0" bIns="0" rtlCol="0" anchor="ctr"/>
          <a:lstStyle/>
          <a:p>
            <a:pPr algn="ctr" indent="0" marL="0">
              <a:buNone/>
            </a:pPr>
            <a:r>
              <a:rPr lang="en-US" sz="2600" b="1" dirty="0">
                <a:solidFill>
                  <a:srgbClr val="8B8CF8"/>
                </a:solidFill>
                <a:latin typeface="Arial" pitchFamily="34" charset="0"/>
                <a:ea typeface="Arial" pitchFamily="34" charset="-122"/>
                <a:cs typeface="Arial" pitchFamily="34" charset="-120"/>
              </a:rPr>
              <a:t>Grow</a:t>
            </a:r>
            <a:endParaRPr lang="en-US" sz="2600" dirty="0"/>
          </a:p>
        </p:txBody>
      </p:sp>
      <p:sp>
        <p:nvSpPr>
          <p:cNvPr id="8" name="Text 6"/>
          <p:cNvSpPr txBox="1"/>
          <p:nvPr/>
        </p:nvSpPr>
        <p:spPr>
          <a:xfrm>
            <a:off x="4780178" y="3291840"/>
            <a:ext cx="2631338" cy="109728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Char Dham routes and homestay clusters</a:t>
            </a:r>
            <a:endParaRPr lang="en-US" sz="1700" dirty="0"/>
          </a:p>
        </p:txBody>
      </p:sp>
      <p:sp>
        <p:nvSpPr>
          <p:cNvPr id="9" name="Shape 7"/>
          <p:cNvSpPr/>
          <p:nvPr/>
        </p:nvSpPr>
        <p:spPr>
          <a:xfrm>
            <a:off x="7822997" y="2468880"/>
            <a:ext cx="0" cy="2286000"/>
          </a:xfrm>
          <a:prstGeom prst="line">
            <a:avLst/>
          </a:prstGeom>
          <a:noFill/>
          <a:ln w="9525">
            <a:solidFill>
              <a:srgbClr val="2E2E35"/>
            </a:solidFill>
            <a:prstDash val="solid"/>
          </a:ln>
        </p:spPr>
      </p:sp>
      <p:sp>
        <p:nvSpPr>
          <p:cNvPr id="10" name="Text 8"/>
          <p:cNvSpPr txBox="1"/>
          <p:nvPr/>
        </p:nvSpPr>
        <p:spPr>
          <a:xfrm>
            <a:off x="7822997" y="2606040"/>
            <a:ext cx="3454298" cy="548640"/>
          </a:xfrm>
          <a:prstGeom prst="rect">
            <a:avLst/>
          </a:prstGeom>
          <a:noFill/>
          <a:ln/>
        </p:spPr>
        <p:txBody>
          <a:bodyPr wrap="square" lIns="0" tIns="0" rIns="0" bIns="0" rtlCol="0" anchor="ctr"/>
          <a:lstStyle/>
          <a:p>
            <a:pPr algn="ctr" indent="0" marL="0">
              <a:buNone/>
            </a:pPr>
            <a:r>
              <a:rPr lang="en-US" sz="2600" b="1" dirty="0">
                <a:solidFill>
                  <a:srgbClr val="8B8CF8"/>
                </a:solidFill>
                <a:latin typeface="Arial" pitchFamily="34" charset="0"/>
                <a:ea typeface="Arial" pitchFamily="34" charset="-122"/>
                <a:cs typeface="Arial" pitchFamily="34" charset="-120"/>
              </a:rPr>
              <a:t>Scale</a:t>
            </a:r>
            <a:endParaRPr lang="en-US" sz="2600" dirty="0"/>
          </a:p>
        </p:txBody>
      </p:sp>
      <p:sp>
        <p:nvSpPr>
          <p:cNvPr id="11" name="Text 9"/>
          <p:cNvSpPr txBox="1"/>
          <p:nvPr/>
        </p:nvSpPr>
        <p:spPr>
          <a:xfrm>
            <a:off x="8234477" y="3291840"/>
            <a:ext cx="2631338" cy="1097280"/>
          </a:xfrm>
          <a:prstGeom prst="rect">
            <a:avLst/>
          </a:prstGeom>
          <a:noFill/>
          <a:ln/>
        </p:spPr>
        <p:txBody>
          <a:bodyPr wrap="square" lIns="0" tIns="0" rIns="0" bIns="0" rtlCol="0" anchor="t"/>
          <a:lstStyle/>
          <a:p>
            <a:pPr algn="ctr" indent="0" marL="0">
              <a:buNone/>
            </a:pPr>
            <a:r>
              <a:rPr lang="en-US" sz="1700" dirty="0">
                <a:solidFill>
                  <a:srgbClr val="A1A1AA"/>
                </a:solidFill>
                <a:latin typeface="Arial" pitchFamily="34" charset="0"/>
                <a:ea typeface="Arial" pitchFamily="34" charset="-122"/>
                <a:cs typeface="Arial" pitchFamily="34" charset="-120"/>
              </a:rPr>
              <a:t>Other hill states, and the state as a data partner</a:t>
            </a:r>
            <a:endParaRPr lang="en-US" sz="1700" dirty="0"/>
          </a:p>
        </p:txBody>
      </p:sp>
      <p:sp>
        <p:nvSpPr>
          <p:cNvPr id="12" name="Text 10"/>
          <p:cNvSpPr txBox="1"/>
          <p:nvPr/>
        </p:nvSpPr>
        <p:spPr>
          <a:xfrm>
            <a:off x="731520" y="5257800"/>
            <a:ext cx="10728655" cy="59436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Free for every worker and guest  ·  owners subscribe  ·  the data gets better with every stay</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7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I logo">    </p:cNvPr>
          <p:cNvPicPr>
            <a:picLocks noChangeAspect="1"/>
          </p:cNvPicPr>
          <p:nvPr/>
        </p:nvPicPr>
        <p:blipFill>
          <a:blip r:embed="rId1"/>
          <a:stretch>
            <a:fillRect/>
          </a:stretch>
        </p:blipFill>
        <p:spPr>
          <a:xfrm>
            <a:off x="5592928" y="1005840"/>
            <a:ext cx="1005840" cy="1005840"/>
          </a:xfrm>
          <a:prstGeom prst="rect">
            <a:avLst/>
          </a:prstGeom>
        </p:spPr>
      </p:pic>
      <p:sp>
        <p:nvSpPr>
          <p:cNvPr id="3" name="Text 0"/>
          <p:cNvSpPr txBox="1"/>
          <p:nvPr/>
        </p:nvSpPr>
        <p:spPr>
          <a:xfrm>
            <a:off x="731520" y="2240280"/>
            <a:ext cx="10728655" cy="1234440"/>
          </a:xfrm>
          <a:prstGeom prst="rect">
            <a:avLst/>
          </a:prstGeom>
          <a:noFill/>
          <a:ln/>
        </p:spPr>
        <p:txBody>
          <a:bodyPr wrap="square" lIns="0" tIns="0" rIns="0" bIns="0"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Thank You</a:t>
            </a:r>
            <a:endParaRPr lang="en-US" sz="4200" dirty="0"/>
          </a:p>
        </p:txBody>
      </p:sp>
      <p:sp>
        <p:nvSpPr>
          <p:cNvPr id="4" name="Text 1"/>
          <p:cNvSpPr txBox="1"/>
          <p:nvPr/>
        </p:nvSpPr>
        <p:spPr>
          <a:xfrm>
            <a:off x="731520" y="3246120"/>
            <a:ext cx="10728655" cy="594360"/>
          </a:xfrm>
          <a:prstGeom prst="rect">
            <a:avLst/>
          </a:prstGeom>
          <a:noFill/>
          <a:ln/>
        </p:spPr>
        <p:txBody>
          <a:bodyPr wrap="square" lIns="0" tIns="0" rIns="0" bIns="0" rtlCol="0" anchor="ctr"/>
          <a:lstStyle/>
          <a:p>
            <a:pPr algn="ctr" indent="0" marL="0">
              <a:buNone/>
            </a:pPr>
            <a:r>
              <a:rPr lang="en-US" sz="1400" dirty="0">
                <a:solidFill>
                  <a:srgbClr val="A1A1AA"/>
                </a:solidFill>
                <a:latin typeface="Arial" pitchFamily="34" charset="0"/>
                <a:ea typeface="Arial" pitchFamily="34" charset="-122"/>
                <a:cs typeface="Arial" pitchFamily="34" charset="-120"/>
              </a:rPr>
              <a:t>Live today:  hoi-portal.vercel.app  ·  hoi-dashboard.onrender.com</a:t>
            </a:r>
            <a:endParaRPr lang="en-US" sz="1400" dirty="0"/>
          </a:p>
        </p:txBody>
      </p:sp>
      <p:sp>
        <p:nvSpPr>
          <p:cNvPr id="5" name="Text 2"/>
          <p:cNvSpPr txBox="1"/>
          <p:nvPr/>
        </p:nvSpPr>
        <p:spPr>
          <a:xfrm>
            <a:off x="731520" y="4114800"/>
            <a:ext cx="10728655" cy="6629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Our ask:  3 pilot hotels  ·  a conversation with the state tourism department</a:t>
            </a:r>
            <a:endParaRPr lang="en-US" sz="1700" dirty="0"/>
          </a:p>
        </p:txBody>
      </p:sp>
      <p:sp>
        <p:nvSpPr>
          <p:cNvPr id="6" name="Text 3"/>
          <p:cNvSpPr txBox="1"/>
          <p:nvPr/>
        </p:nvSpPr>
        <p:spPr>
          <a:xfrm>
            <a:off x="731520" y="5943600"/>
            <a:ext cx="10728655" cy="571500"/>
          </a:xfrm>
          <a:prstGeom prst="rect">
            <a:avLst/>
          </a:prstGeom>
          <a:noFill/>
          <a:ln/>
        </p:spPr>
        <p:txBody>
          <a:bodyPr wrap="square" lIns="0" tIns="0" rIns="0" bIns="0" rtlCol="0" anchor="ctr"/>
          <a:lstStyle/>
          <a:p>
            <a:pPr algn="ctr" indent="0" marL="0">
              <a:buNone/>
            </a:pPr>
            <a:r>
              <a:rPr lang="en-US" sz="1300" dirty="0">
                <a:solidFill>
                  <a:srgbClr val="6B6B76"/>
                </a:solidFill>
                <a:latin typeface="Arial" pitchFamily="34" charset="0"/>
                <a:ea typeface="Arial" pitchFamily="34" charset="-122"/>
                <a:cs typeface="Arial" pitchFamily="34" charset="-120"/>
              </a:rPr>
              <a:t>Smarter hotels. Happier teams.</a:t>
            </a:r>
            <a:endParaRPr lang="en-US" sz="1300" dirty="0"/>
          </a:p>
        </p:txBody>
      </p:sp>
    </p:spTree>
  </p:cSld>
  <p:clrMapOvr>
    <a:masterClrMapping/>
  </p:clrMapOvr>
</p:sld>
</file>

<file path=ppt/theme/theme1.xml><?xml version="1.0" encoding="utf-8"?>
<a:theme xmlns:a="http://schemas.openxmlformats.org/drawingml/2006/main" name="HOI Black Minimal">
  <a:themeElements>
    <a:clrScheme name="HOI Black Minimal">
      <a:dk1>
        <a:srgbClr val="000000"/>
      </a:dk1>
      <a:lt1>
        <a:srgbClr val="FFFFFF"/>
      </a:lt1>
      <a:dk2>
        <a:srgbClr val="27272A"/>
      </a:dk2>
      <a:lt2>
        <a:srgbClr val="F4F4F5"/>
      </a:lt2>
      <a:accent1>
        <a:srgbClr val="6366F1"/>
      </a:accent1>
      <a:accent2>
        <a:srgbClr val="8B8CF8"/>
      </a:accent2>
      <a:accent3>
        <a:srgbClr val="22C55E"/>
      </a:accent3>
      <a:accent4>
        <a:srgbClr val="F59E0B"/>
      </a:accent4>
      <a:accent5>
        <a:srgbClr val="EF4444"/>
      </a:accent5>
      <a:accent6>
        <a:srgbClr val="A1A1AA"/>
      </a:accent6>
      <a:hlink>
        <a:srgbClr val="8B8CF8"/>
      </a:hlink>
      <a:folHlink>
        <a:srgbClr val="A78BFA"/>
      </a:folHlink>
    </a:clrScheme>
    <a:fontScheme name="HOI Black Minim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Team Innov8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HOI: Hospitality Operations Intelligence</dc:title>
  <dc:subject>PptxGenJS Presentation</dc:subject>
  <dc:creator>Team Innov8</dc:creator>
  <cp:lastModifiedBy>Team Innov8</cp:lastModifiedBy>
  <cp:revision>1</cp:revision>
  <dcterms:created xsi:type="dcterms:W3CDTF">2026-10-14T00:56:30Z</dcterms:created>
  <dcterms:modified xsi:type="dcterms:W3CDTF">2026-10-14T00:56:30Z</dcterms:modified>
</cp:coreProperties>
</file>