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1c32fc6-6a65-df52-c39f-2dcf85fa1dd8}">
          <p14:sldIdLst>
            <p14:sldId id="256"/>
          </p14:sldIdLst>
        </p14:section>
        <p14:section name="Problem" id="{355baabd-69c1-ddf0-941d-b9f14a48f737}">
          <p14:sldIdLst>
            <p14:sldId id="257"/>
          </p14:sldIdLst>
        </p14:section>
        <p14:section name="People" id="{41afe916-cc90-df9f-bfe3-76bce4a1f579}">
          <p14:sldIdLst>
            <p14:sldId id="258"/>
          </p14:sldIdLst>
        </p14:section>
        <p14:section name="Solution" id="{82939f63-3d1f-e142-d0de-bc740b5e107d}">
          <p14:sldIdLst>
            <p14:sldId id="259"/>
            <p14:sldId id="260"/>
          </p14:sldIdLst>
        </p14:section>
        <p14:section name="Ecosystem" id="{8ff751eb-5554-ee34-c4ab-22423bce5de7}">
          <p14:sldIdLst>
            <p14:sldId id="261"/>
          </p14:sldIdLst>
        </p14:section>
        <p14:section name="Outcomes" id="{52749964-938a-e300-864a-47e6625c28dd}">
          <p14:sldIdLst>
            <p14:sldId id="262"/>
            <p14:sldId id="263"/>
          </p14:sldIdLst>
        </p14:section>
        <p14:section name="Business" id="{0fbaf202-13ce-0ebb-b0c5-8eccc466b75d}">
          <p14:sldIdLst>
            <p14:sldId id="264"/>
          </p14:sldIdLst>
        </p14:section>
        <p14:section name="Close" id="{23528fac-e222-f00c-af8f-af483eebd22b}">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B5563"/>
                </a:solidFill>
                <a:latin typeface="+mn-lt"/>
              </a:defRPr>
            </a:pPr>
            <a:r>
              <a:rPr sz="1200" b="0" i="0" u="none" strike="noStrike">
                <a:solidFill>
                  <a:srgbClr val="4B5563"/>
                </a:solidFill>
                <a:latin typeface="+mn-lt"/>
              </a:rPr>
              <a:t>Rooms off per night (lower is better)</a:t>
            </a:r>
          </a:p>
        </c:rich>
      </c:tx>
      <c:layout/>
      <c:overlay val="0"/>
    </c:title>
    <c:autoTitleDeleted val="0"/>
    <c:plotArea>
      <c:layout/>
      <c:barChart>
        <c:barDir val="col"/>
        <c:grouping val="clustered"/>
        <c:varyColors val="0"/>
        <c:ser>
          <c:idx val="0"/>
          <c:order val="0"/>
          <c:tx>
            <c:strRef>
              <c:f>Sheet1!$B$1</c:f>
              <c:strCache>
                <c:ptCount val="1"/>
                <c:pt idx="0">
                  <c:v>Usual rule</c:v>
                </c:pt>
              </c:strCache>
            </c:strRef>
          </c:tx>
          <c:spPr>
            <a:solidFill>
              <a:srgbClr val="D1D5DB"/>
            </a:solidFill>
            <a:effectLst/>
          </c:spPr>
          <c:invertIfNegative val="0"/>
          <c:dLbls>
            <c:numFmt formatCode="0.0" sourceLinked="0"/>
            <c:txPr>
              <a:bodyPr/>
              <a:lstStyle/>
              <a:p>
                <a:pPr>
                  <a:defRPr b="0" i="0" strike="noStrike" sz="1100" u="none">
                    <a:solidFill>
                      <a:srgbClr val="0B0F19"/>
                    </a:solidFill>
                    <a:latin typeface="+mn-lt"/>
                  </a:defRPr>
                </a:pPr>
              </a:p>
            </c:txPr>
            <c:showLegendKey val="0"/>
            <c:showVal val="1"/>
            <c:showCatName val="0"/>
            <c:showSerName val="0"/>
            <c:showPercent val="0"/>
            <c:showBubbleSize val="0"/>
            <c:showLeaderLines val="0"/>
          </c:dLbls>
          <c:cat>
            <c:multiLvlStrRef>
              <c:f>Sheet1!$A$2:$A$4</c:f>
              <c:multiLvlStrCache>
                <c:ptCount val="3"/>
                <c:lvl>
                  <c:pt idx="0">
                    <c:v>1 day</c:v>
                  </c:pt>
                  <c:pt idx="1">
                    <c:v>7 days</c:v>
                  </c:pt>
                  <c:pt idx="2">
                    <c:v>30 days</c:v>
                  </c:pt>
                </c:lvl>
              </c:multiLvlStrCache>
            </c:multiLvlStrRef>
          </c:cat>
          <c:val>
            <c:numRef>
              <c:f>Sheet1!$B$2:$B$4</c:f>
              <c:numCache>
                <c:formatCode>General</c:formatCode>
                <c:ptCount val="3"/>
                <c:pt idx="0">
                  <c:v>10.9</c:v>
                </c:pt>
                <c:pt idx="1">
                  <c:v>10.9</c:v>
                </c:pt>
                <c:pt idx="2">
                  <c:v>18.5</c:v>
                </c:pt>
              </c:numCache>
            </c:numRef>
          </c:val>
        </c:ser>
        <c:ser>
          <c:idx val="1"/>
          <c:order val="1"/>
          <c:tx>
            <c:strRef>
              <c:f>Sheet1!$C$1</c:f>
              <c:strCache>
                <c:ptCount val="1"/>
                <c:pt idx="0">
                  <c:v>HOI forecast</c:v>
                </c:pt>
              </c:strCache>
            </c:strRef>
          </c:tx>
          <c:spPr>
            <a:solidFill>
              <a:srgbClr val="4F46E5"/>
            </a:solidFill>
            <a:effectLst/>
          </c:spPr>
          <c:invertIfNegative val="0"/>
          <c:dLbls>
            <c:numFmt formatCode="0.0" sourceLinked="0"/>
            <c:txPr>
              <a:bodyPr/>
              <a:lstStyle/>
              <a:p>
                <a:pPr>
                  <a:defRPr b="0" i="0" strike="noStrike" sz="1100" u="none">
                    <a:solidFill>
                      <a:srgbClr val="0B0F19"/>
                    </a:solidFill>
                    <a:latin typeface="+mn-lt"/>
                  </a:defRPr>
                </a:pPr>
              </a:p>
            </c:txPr>
            <c:showLegendKey val="0"/>
            <c:showVal val="1"/>
            <c:showCatName val="0"/>
            <c:showSerName val="0"/>
            <c:showPercent val="0"/>
            <c:showBubbleSize val="0"/>
            <c:showLeaderLines val="0"/>
          </c:dLbls>
          <c:cat>
            <c:multiLvlStrRef>
              <c:f>Sheet1!$A$2:$A$4</c:f>
              <c:multiLvlStrCache>
                <c:ptCount val="3"/>
                <c:lvl>
                  <c:pt idx="0">
                    <c:v>1 day</c:v>
                  </c:pt>
                  <c:pt idx="1">
                    <c:v>7 days</c:v>
                  </c:pt>
                  <c:pt idx="2">
                    <c:v>30 days</c:v>
                  </c:pt>
                </c:lvl>
              </c:multiLvlStrCache>
            </c:multiLvlStrRef>
          </c:cat>
          <c:val>
            <c:numRef>
              <c:f>Sheet1!$C$2:$C$4</c:f>
              <c:numCache>
                <c:formatCode>General</c:formatCode>
                <c:ptCount val="3"/>
                <c:pt idx="0">
                  <c:v>1.9</c:v>
                </c:pt>
                <c:pt idx="1">
                  <c:v>5.3</c:v>
                </c:pt>
                <c:pt idx="2">
                  <c:v>7.2</c:v>
                </c:pt>
              </c:numCache>
            </c:numRef>
          </c:val>
        </c:ser>
        <c:dLbls>
          <c:numFmt formatCode="0.0" sourceLinked="0"/>
          <c:txPr>
            <a:bodyPr/>
            <a:lstStyle/>
            <a:p>
              <a:pPr>
                <a:defRPr b="0" i="0" strike="noStrike" sz="1100" u="none">
                  <a:solidFill>
                    <a:srgbClr val="0B0F19"/>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4B556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Saturday, peak season in Mussoorie. Every room is full. Two housekeepers didn't come, room 104 has asked for towels twice, and the owner is planning next week's shifts on WhatsApp. Nobody saw this Saturday coming, though the data to predict it already existed. This is HOI.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hotels and homestays in Uttarakhand can't see the next rush coming. So they're short-staffed at the peaks, good staff burn out and leave, and guests wait. They don't need another booking tool; they need help running the day. 'Planned on WhatsApp' is our belief, to validate in interviews.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owner pays. But the people who make it work are the housekeeper with a basic Android phone and the guest in room 104, so we built for them first. Seven user groups use it free: managers, staff, guests, tourists, officials, job seekers and agencies, and our own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system, five simple apps. The owner gets one screen that answers 'is today OK?'. Staff get a phone app that works by voice, in Hindi. Guests scan a QR in the room. Tourists and the state get the Uttarakhand Travel Guide, and the HOI team runs it all from a console. One loop: predict, plan, act, prove, 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ADD THE FILM: click the cover image, delete it, then Insert &gt; Video &gt; This Device &gt; videos/HOI_demo_2min.mp4; place it at the same position and size (8.6 x 4.84 in) and set Playback &gt; Start: When Clicked. Then play the film (2 minutes). Short version: 0:18 to 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travel guide is also the state's data layer. Every hotel, homestay, host and agency on HOI can feed one anonymised picture of tourism. Live today the officials' side shows crowd forecasts per destination, hotel occupancy and capacity from a daily feed, registrations and approvals, complaints and response times, seasonal jobs and staffing demand, and road alerts. Small groups are hidden so no single business can be identified. Next: tourism money flow by district from hotels that opt in, and open anonymised data for planners. Plugging this into the official state portal is a proposal we want to discuss with the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starts with a prediction and ends with an action. One day ahead our forecast was off by 1.9 rooms against 10.9 for the usual rule, 83 percent less error, on real public hotel data. The turnover model ranks a leaver above a stayer 66 percent of the time against 55 for a checklist, so it's a prompt to talk, never a verdict. And for our demo hotel it found three matching job seekers on the state's jobs board, without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Booking software helps hotels sell the room; HOI helps them run the stay. We sit next to eZee or STAAH, not against them. Our edge: a closed loop on each hotel's own data, frontline voice in Hindi, the network on the state travel guide, and trust by design. It's an early moat that grows with data and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Homestays use it free; small hotels pay about a thousand to two thousand rupees a month; groups and clusters next; the state as a platform customer. We never take a cut of bookings. Growth: Mussoorie and Rishikesh, then the Char Dham routes, then other hill states. Prices are a proposal we validate with 8 to 10 interviews and a 2-week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you saw is running today: five apps, more than 600 automated tests, and our demo hotel registered on the travel guide. We're asking for two things: three hotels or homestays for a free two-week pilot, and a conversation with the state tourism department about the data layer. HOI. Smarter hotels, happier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6355080"/>
            <a:ext cx="1828800" cy="274320"/>
          </a:xfrm>
          <a:prstGeom prst="rect">
            <a:avLst/>
          </a:prstGeom>
          <a:noFill/>
          <a:ln/>
        </p:spPr>
        <p:txBody>
          <a:bodyPr wrap="square" rtlCol="0" anchor="ctr"/>
          <a:lstStyle/>
          <a:p>
            <a:pPr indent="0" marL="0">
              <a:buNone/>
            </a:pPr>
            <a:r>
              <a:rPr lang="en-US" sz="900" b="1" spc="200" kern="0" dirty="0">
                <a:solidFill>
                  <a:srgbClr val="9CA3AF"/>
                </a:solidFill>
                <a:latin typeface="Segoe UI Semibold" pitchFamily="34" charset="0"/>
                <a:ea typeface="Segoe UI Semibold" pitchFamily="34" charset="-122"/>
                <a:cs typeface="Segoe UI Semibold" pitchFamily="34" charset="-120"/>
              </a:rPr>
              <a:t>HOI</a:t>
            </a:r>
            <a:endParaRPr lang="en-US" sz="900" dirty="0"/>
          </a:p>
        </p:txBody>
      </p:sp>
      <p:sp>
        <p:nvSpPr>
          <p:cNvPr id="25" name="Slide Number Placeholder 0"/>
          <p:cNvSpPr>
            <a:spLocks noGrp="1"/>
          </p:cNvSpPr>
          <p:nvPr>
            <p:ph type="sldNum" sz="quarter" idx="4294967295"/>
          </p:nvPr>
        </p:nvSpPr>
        <p:spPr>
          <a:xfrm>
            <a:off x="10972800" y="6355080"/>
            <a:ext cx="393192"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CA3AF"/>
                </a:solidFill>
                <a:latin typeface="Segoe UI"/>
                <a:ea typeface="Segoe UI"/>
                <a:cs typeface="Segoe U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B1026"/>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355080"/>
            <a:ext cx="393192"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CA3AF"/>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3.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I logo">    </p:cNvPr>
          <p:cNvPicPr>
            <a:picLocks noChangeAspect="1"/>
          </p:cNvPicPr>
          <p:nvPr/>
        </p:nvPicPr>
        <p:blipFill>
          <a:blip r:embed="rId1"/>
          <a:stretch>
            <a:fillRect/>
          </a:stretch>
        </p:blipFill>
        <p:spPr>
          <a:xfrm>
            <a:off x="822960" y="777240"/>
            <a:ext cx="566928" cy="566928"/>
          </a:xfrm>
          <a:prstGeom prst="rect">
            <a:avLst/>
          </a:prstGeom>
        </p:spPr>
      </p:pic>
      <p:sp>
        <p:nvSpPr>
          <p:cNvPr id="3" name="Text 0"/>
          <p:cNvSpPr txBox="1"/>
          <p:nvPr/>
        </p:nvSpPr>
        <p:spPr>
          <a:xfrm>
            <a:off x="822960" y="1828800"/>
            <a:ext cx="6400800" cy="274320"/>
          </a:xfrm>
          <a:prstGeom prst="rect">
            <a:avLst/>
          </a:prstGeom>
          <a:noFill/>
          <a:ln/>
        </p:spPr>
        <p:txBody>
          <a:bodyPr wrap="square" lIns="0" tIns="0" rIns="0" bIns="0" rtlCol="0" anchor="t"/>
          <a:lstStyle/>
          <a:p>
            <a:pPr indent="0" marL="0">
              <a:buNone/>
            </a:pPr>
            <a:r>
              <a:rPr lang="en-US" sz="1050" b="1" spc="300" kern="0" dirty="0">
                <a:solidFill>
                  <a:srgbClr val="A5B4FC"/>
                </a:solidFill>
                <a:latin typeface="Segoe UI" pitchFamily="34" charset="0"/>
                <a:ea typeface="Segoe UI" pitchFamily="34" charset="-122"/>
                <a:cs typeface="Segoe UI" pitchFamily="34" charset="-120"/>
              </a:rPr>
              <a:t>AI-TOURISM HACKATHON 2026 · TEAM INNOV8</a:t>
            </a:r>
            <a:endParaRPr lang="en-US" sz="1050" dirty="0"/>
          </a:p>
        </p:txBody>
      </p:sp>
      <p:sp>
        <p:nvSpPr>
          <p:cNvPr id="4" name="Text 1"/>
          <p:cNvSpPr txBox="1"/>
          <p:nvPr/>
        </p:nvSpPr>
        <p:spPr>
          <a:xfrm>
            <a:off x="822960" y="2194560"/>
            <a:ext cx="6035040" cy="1554480"/>
          </a:xfrm>
          <a:prstGeom prst="rect">
            <a:avLst/>
          </a:prstGeom>
          <a:noFill/>
          <a:ln/>
        </p:spPr>
        <p:txBody>
          <a:bodyPr wrap="square" lIns="0" tIns="0" rIns="0" bIns="0" rtlCol="0" anchor="t"/>
          <a:lstStyle/>
          <a:p>
            <a:pPr indent="0" marL="0">
              <a:buNone/>
            </a:pPr>
            <a:r>
              <a:rPr lang="en-US" sz="4000" dirty="0">
                <a:solidFill>
                  <a:srgbClr val="FFFFFF"/>
                </a:solidFill>
                <a:latin typeface="Segoe UI Semibold" pitchFamily="34" charset="0"/>
                <a:ea typeface="Segoe UI Semibold" pitchFamily="34" charset="-122"/>
                <a:cs typeface="Segoe UI Semibold" pitchFamily="34" charset="-120"/>
              </a:rPr>
              <a:t>Hospitality Operations Intelligence</a:t>
            </a:r>
            <a:endParaRPr lang="en-US" sz="4000" dirty="0"/>
          </a:p>
        </p:txBody>
      </p:sp>
      <p:sp>
        <p:nvSpPr>
          <p:cNvPr id="5" name="Text 2"/>
          <p:cNvSpPr txBox="1"/>
          <p:nvPr/>
        </p:nvSpPr>
        <p:spPr>
          <a:xfrm>
            <a:off x="822960" y="3886200"/>
            <a:ext cx="5486400" cy="914400"/>
          </a:xfrm>
          <a:prstGeom prst="rect">
            <a:avLst/>
          </a:prstGeom>
          <a:noFill/>
          <a:ln/>
        </p:spPr>
        <p:txBody>
          <a:bodyPr wrap="square" lIns="0" tIns="0" rIns="0" bIns="0" rtlCol="0" anchor="t"/>
          <a:lstStyle/>
          <a:p>
            <a:pPr indent="0" marL="0">
              <a:lnSpc>
                <a:spcPct val="115000"/>
              </a:lnSpc>
              <a:buNone/>
            </a:pPr>
            <a:r>
              <a:rPr lang="en-US" sz="1700" dirty="0">
                <a:solidFill>
                  <a:srgbClr val="C7CBE0"/>
                </a:solidFill>
                <a:latin typeface="Segoe UI" pitchFamily="34" charset="0"/>
                <a:ea typeface="Segoe UI" pitchFamily="34" charset="-122"/>
                <a:cs typeface="Segoe UI" pitchFamily="34" charset="-120"/>
              </a:rPr>
              <a:t>Helping Uttarakhand's small hotels see the rush coming, run every day smoothly and keep good staff.</a:t>
            </a:r>
            <a:endParaRPr lang="en-US" sz="1700" dirty="0"/>
          </a:p>
        </p:txBody>
      </p:sp>
      <p:sp>
        <p:nvSpPr>
          <p:cNvPr id="6" name="Shape 3"/>
          <p:cNvSpPr/>
          <p:nvPr/>
        </p:nvSpPr>
        <p:spPr>
          <a:xfrm>
            <a:off x="822960" y="5257800"/>
            <a:ext cx="914400" cy="0"/>
          </a:xfrm>
          <a:prstGeom prst="line">
            <a:avLst/>
          </a:prstGeom>
          <a:noFill/>
          <a:ln w="9525">
            <a:solidFill>
              <a:srgbClr val="4F46E5"/>
            </a:solidFill>
            <a:prstDash val="solid"/>
          </a:ln>
        </p:spPr>
      </p:sp>
      <p:sp>
        <p:nvSpPr>
          <p:cNvPr id="7" name="Text 4"/>
          <p:cNvSpPr txBox="1"/>
          <p:nvPr/>
        </p:nvSpPr>
        <p:spPr>
          <a:xfrm>
            <a:off x="822960" y="5440680"/>
            <a:ext cx="5486400" cy="365760"/>
          </a:xfrm>
          <a:prstGeom prst="rect">
            <a:avLst/>
          </a:prstGeom>
          <a:noFill/>
          <a:ln/>
        </p:spPr>
        <p:txBody>
          <a:bodyPr wrap="square" lIns="0" tIns="0" rIns="0" bIns="0" rtlCol="0" anchor="t"/>
          <a:lstStyle/>
          <a:p>
            <a:pPr indent="0" marL="0">
              <a:buNone/>
            </a:pPr>
            <a:r>
              <a:rPr lang="en-US" sz="1400" dirty="0">
                <a:solidFill>
                  <a:srgbClr val="FFFFFF"/>
                </a:solidFill>
                <a:latin typeface="Segoe UI" pitchFamily="34" charset="0"/>
                <a:ea typeface="Segoe UI" pitchFamily="34" charset="-122"/>
                <a:cs typeface="Segoe UI" pitchFamily="34" charset="-120"/>
              </a:rPr>
              <a:t>Smarter hotels. Happier teams.</a:t>
            </a:r>
            <a:endParaRPr lang="en-US" sz="1400" dirty="0"/>
          </a:p>
        </p:txBody>
      </p:sp>
      <p:pic>
        <p:nvPicPr>
          <p:cNvPr id="8" name="Guest page" descr="Guest page">    </p:cNvPr>
          <p:cNvPicPr>
            <a:picLocks noChangeAspect="1"/>
          </p:cNvPicPr>
          <p:nvPr/>
        </p:nvPicPr>
        <p:blipFill>
          <a:blip r:embed="rId2"/>
          <a:stretch>
            <a:fillRect/>
          </a:stretch>
        </p:blipFill>
        <p:spPr>
          <a:xfrm>
            <a:off x="7178040" y="1132156"/>
            <a:ext cx="2331720" cy="4593688"/>
          </a:xfrm>
          <a:prstGeom prst="rect">
            <a:avLst/>
          </a:prstGeom>
        </p:spPr>
      </p:pic>
      <p:pic>
        <p:nvPicPr>
          <p:cNvPr id="9" name="Staff app" descr="Staff app">    </p:cNvPr>
          <p:cNvPicPr>
            <a:picLocks noChangeAspect="1"/>
          </p:cNvPicPr>
          <p:nvPr/>
        </p:nvPicPr>
        <p:blipFill>
          <a:blip r:embed="rId3"/>
          <a:stretch>
            <a:fillRect/>
          </a:stretch>
        </p:blipFill>
        <p:spPr>
          <a:xfrm>
            <a:off x="9326880" y="1132156"/>
            <a:ext cx="2331720" cy="45936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822960" y="640080"/>
            <a:ext cx="8229600" cy="274320"/>
          </a:xfrm>
          <a:prstGeom prst="rect">
            <a:avLst/>
          </a:prstGeom>
          <a:noFill/>
          <a:ln/>
        </p:spPr>
        <p:txBody>
          <a:bodyPr wrap="square" lIns="0" tIns="0" rIns="0" bIns="0" rtlCol="0" anchor="t"/>
          <a:lstStyle/>
          <a:p>
            <a:pPr indent="0" marL="0">
              <a:buNone/>
            </a:pPr>
            <a:r>
              <a:rPr lang="en-US" sz="1050" b="1" spc="300" kern="0" dirty="0">
                <a:solidFill>
                  <a:srgbClr val="4F46E5"/>
                </a:solidFill>
                <a:latin typeface="Segoe UI" pitchFamily="34" charset="0"/>
                <a:ea typeface="Segoe UI" pitchFamily="34" charset="-122"/>
                <a:cs typeface="Segoe UI" pitchFamily="34" charset="-120"/>
              </a:rPr>
              <a:t>THE PROBLEM</a:t>
            </a:r>
            <a:endParaRPr lang="en-US" sz="1050" dirty="0"/>
          </a:p>
        </p:txBody>
      </p:sp>
      <p:sp>
        <p:nvSpPr>
          <p:cNvPr id="3" name="Text 1"/>
          <p:cNvSpPr txBox="1"/>
          <p:nvPr/>
        </p:nvSpPr>
        <p:spPr>
          <a:xfrm>
            <a:off x="822960" y="960120"/>
            <a:ext cx="7680960" cy="1371600"/>
          </a:xfrm>
          <a:prstGeom prst="rect">
            <a:avLst/>
          </a:prstGeom>
          <a:noFill/>
          <a:ln/>
        </p:spPr>
        <p:txBody>
          <a:bodyPr wrap="square" lIns="0" tIns="0" rIns="0" bIns="0" rtlCol="0" anchor="t"/>
          <a:lstStyle/>
          <a:p>
            <a:pPr indent="0" marL="0">
              <a:buNone/>
            </a:pPr>
            <a:r>
              <a:rPr lang="en-US" sz="4000" dirty="0">
                <a:solidFill>
                  <a:srgbClr val="0B0F19"/>
                </a:solidFill>
                <a:latin typeface="Segoe UI Semibold" pitchFamily="34" charset="0"/>
                <a:ea typeface="Segoe UI Semibold" pitchFamily="34" charset="-122"/>
                <a:cs typeface="Segoe UI Semibold" pitchFamily="34" charset="-120"/>
              </a:rPr>
              <a:t>Small hotels can't see the rush coming.</a:t>
            </a:r>
            <a:endParaRPr lang="en-US" sz="4000" dirty="0"/>
          </a:p>
        </p:txBody>
      </p:sp>
      <p:sp>
        <p:nvSpPr>
          <p:cNvPr id="4" name="Text 2"/>
          <p:cNvSpPr txBox="1"/>
          <p:nvPr/>
        </p:nvSpPr>
        <p:spPr>
          <a:xfrm>
            <a:off x="822960" y="2377440"/>
            <a:ext cx="6949440" cy="731520"/>
          </a:xfrm>
          <a:prstGeom prst="rect">
            <a:avLst/>
          </a:prstGeom>
          <a:noFill/>
          <a:ln/>
        </p:spPr>
        <p:txBody>
          <a:bodyPr wrap="square" lIns="0" tIns="0" rIns="0" bIns="0" rtlCol="0" anchor="t"/>
          <a:lstStyle/>
          <a:p>
            <a:pPr indent="0" marL="0">
              <a:buNone/>
            </a:pPr>
            <a:r>
              <a:rPr lang="en-US" sz="1800" dirty="0">
                <a:solidFill>
                  <a:srgbClr val="4B5563"/>
                </a:solidFill>
                <a:latin typeface="Segoe UI" pitchFamily="34" charset="0"/>
                <a:ea typeface="Segoe UI" pitchFamily="34" charset="-122"/>
                <a:cs typeface="Segoe UI" pitchFamily="34" charset="-120"/>
              </a:rPr>
              <a:t>So they're short-staffed at peaks, good staff burn out and leave, and guests wait.</a:t>
            </a:r>
            <a:endParaRPr lang="en-US" sz="1800" dirty="0"/>
          </a:p>
        </p:txBody>
      </p:sp>
      <p:sp>
        <p:nvSpPr>
          <p:cNvPr id="5" name="Shape 3"/>
          <p:cNvSpPr/>
          <p:nvPr/>
        </p:nvSpPr>
        <p:spPr>
          <a:xfrm>
            <a:off x="822960" y="3657600"/>
            <a:ext cx="2331720" cy="0"/>
          </a:xfrm>
          <a:prstGeom prst="line">
            <a:avLst/>
          </a:prstGeom>
          <a:noFill/>
          <a:ln w="9525">
            <a:solidFill>
              <a:srgbClr val="0B0F19"/>
            </a:solidFill>
            <a:prstDash val="solid"/>
          </a:ln>
        </p:spPr>
      </p:sp>
      <p:sp>
        <p:nvSpPr>
          <p:cNvPr id="6" name="Text 4"/>
          <p:cNvSpPr txBox="1"/>
          <p:nvPr/>
        </p:nvSpPr>
        <p:spPr>
          <a:xfrm>
            <a:off x="822960" y="3840480"/>
            <a:ext cx="2331720" cy="411480"/>
          </a:xfrm>
          <a:prstGeom prst="rect">
            <a:avLst/>
          </a:prstGeom>
          <a:noFill/>
          <a:ln/>
        </p:spPr>
        <p:txBody>
          <a:bodyPr wrap="square" lIns="0" tIns="0" rIns="0" bIns="0" rtlCol="0" anchor="t"/>
          <a:lstStyle/>
          <a:p>
            <a:pPr indent="0" marL="0">
              <a:buNone/>
            </a:pPr>
            <a:r>
              <a:rPr lang="en-US" sz="1800" dirty="0">
                <a:solidFill>
                  <a:srgbClr val="0B0F19"/>
                </a:solidFill>
                <a:latin typeface="Segoe UI Semibold" pitchFamily="34" charset="0"/>
                <a:ea typeface="Segoe UI Semibold" pitchFamily="34" charset="-122"/>
                <a:cs typeface="Segoe UI Semibold" pitchFamily="34" charset="-120"/>
              </a:rPr>
              <a:t>Why</a:t>
            </a:r>
            <a:endParaRPr lang="en-US" sz="1800" dirty="0"/>
          </a:p>
        </p:txBody>
      </p:sp>
      <p:sp>
        <p:nvSpPr>
          <p:cNvPr id="7" name="Text 5"/>
          <p:cNvSpPr txBox="1"/>
          <p:nvPr/>
        </p:nvSpPr>
        <p:spPr>
          <a:xfrm>
            <a:off x="822960" y="4315968"/>
            <a:ext cx="2286000" cy="1463040"/>
          </a:xfrm>
          <a:prstGeom prst="rect">
            <a:avLst/>
          </a:prstGeom>
          <a:noFill/>
          <a:ln/>
        </p:spPr>
        <p:txBody>
          <a:bodyPr wrap="square" lIns="0" tIns="0" rIns="0" bIns="0" rtlCol="0" anchor="t"/>
          <a:lstStyle/>
          <a:p>
            <a:pPr indent="0" marL="0">
              <a:lnSpc>
                <a:spcPct val="110000"/>
              </a:lnSpc>
              <a:buNone/>
            </a:pPr>
            <a:r>
              <a:rPr lang="en-US" sz="1350" dirty="0">
                <a:solidFill>
                  <a:srgbClr val="4B5563"/>
                </a:solidFill>
                <a:latin typeface="Segoe UI" pitchFamily="34" charset="0"/>
                <a:ea typeface="Segoe UI" pitchFamily="34" charset="-122"/>
                <a:cs typeface="Segoe UI" pitchFamily="34" charset="-120"/>
              </a:rPr>
              <a:t>Tourism comes in waves: Char Dham, summer, festivals. Staff are planned by memory or WhatsApp.</a:t>
            </a:r>
            <a:endParaRPr lang="en-US" sz="1350" dirty="0"/>
          </a:p>
        </p:txBody>
      </p:sp>
      <p:sp>
        <p:nvSpPr>
          <p:cNvPr id="8" name="Shape 6"/>
          <p:cNvSpPr/>
          <p:nvPr/>
        </p:nvSpPr>
        <p:spPr>
          <a:xfrm>
            <a:off x="3429000" y="3657600"/>
            <a:ext cx="2331720" cy="0"/>
          </a:xfrm>
          <a:prstGeom prst="line">
            <a:avLst/>
          </a:prstGeom>
          <a:noFill/>
          <a:ln w="9525">
            <a:solidFill>
              <a:srgbClr val="0B0F19"/>
            </a:solidFill>
            <a:prstDash val="solid"/>
          </a:ln>
        </p:spPr>
      </p:sp>
      <p:sp>
        <p:nvSpPr>
          <p:cNvPr id="9" name="Text 7"/>
          <p:cNvSpPr txBox="1"/>
          <p:nvPr/>
        </p:nvSpPr>
        <p:spPr>
          <a:xfrm>
            <a:off x="3429000" y="3840480"/>
            <a:ext cx="2331720" cy="411480"/>
          </a:xfrm>
          <a:prstGeom prst="rect">
            <a:avLst/>
          </a:prstGeom>
          <a:noFill/>
          <a:ln/>
        </p:spPr>
        <p:txBody>
          <a:bodyPr wrap="square" lIns="0" tIns="0" rIns="0" bIns="0" rtlCol="0" anchor="t"/>
          <a:lstStyle/>
          <a:p>
            <a:pPr indent="0" marL="0">
              <a:buNone/>
            </a:pPr>
            <a:r>
              <a:rPr lang="en-US" sz="1800" dirty="0">
                <a:solidFill>
                  <a:srgbClr val="0B0F19"/>
                </a:solidFill>
                <a:latin typeface="Segoe UI Semibold" pitchFamily="34" charset="0"/>
                <a:ea typeface="Segoe UI Semibold" pitchFamily="34" charset="-122"/>
                <a:cs typeface="Segoe UI Semibold" pitchFamily="34" charset="-120"/>
              </a:rPr>
              <a:t>What</a:t>
            </a:r>
            <a:endParaRPr lang="en-US" sz="1800" dirty="0"/>
          </a:p>
        </p:txBody>
      </p:sp>
      <p:sp>
        <p:nvSpPr>
          <p:cNvPr id="10" name="Text 8"/>
          <p:cNvSpPr txBox="1"/>
          <p:nvPr/>
        </p:nvSpPr>
        <p:spPr>
          <a:xfrm>
            <a:off x="3429000" y="4315968"/>
            <a:ext cx="2286000" cy="1463040"/>
          </a:xfrm>
          <a:prstGeom prst="rect">
            <a:avLst/>
          </a:prstGeom>
          <a:noFill/>
          <a:ln/>
        </p:spPr>
        <p:txBody>
          <a:bodyPr wrap="square" lIns="0" tIns="0" rIns="0" bIns="0" rtlCol="0" anchor="t"/>
          <a:lstStyle/>
          <a:p>
            <a:pPr indent="0" marL="0">
              <a:lnSpc>
                <a:spcPct val="110000"/>
              </a:lnSpc>
              <a:buNone/>
            </a:pPr>
            <a:r>
              <a:rPr lang="en-US" sz="1350" dirty="0">
                <a:solidFill>
                  <a:srgbClr val="4B5563"/>
                </a:solidFill>
                <a:latin typeface="Segoe UI" pitchFamily="34" charset="0"/>
                <a:ea typeface="Segoe UI" pitchFamily="34" charset="-122"/>
                <a:cs typeface="Segoe UI" pitchFamily="34" charset="-120"/>
              </a:rPr>
              <a:t>Predict the rush, plan fair shifts, route every job, prove the work, flag who needs a talk.</a:t>
            </a:r>
            <a:endParaRPr lang="en-US" sz="1350" dirty="0"/>
          </a:p>
        </p:txBody>
      </p:sp>
      <p:sp>
        <p:nvSpPr>
          <p:cNvPr id="11" name="Shape 9"/>
          <p:cNvSpPr/>
          <p:nvPr/>
        </p:nvSpPr>
        <p:spPr>
          <a:xfrm>
            <a:off x="6035040" y="3657600"/>
            <a:ext cx="2331720" cy="0"/>
          </a:xfrm>
          <a:prstGeom prst="line">
            <a:avLst/>
          </a:prstGeom>
          <a:noFill/>
          <a:ln w="9525">
            <a:solidFill>
              <a:srgbClr val="0B0F19"/>
            </a:solidFill>
            <a:prstDash val="solid"/>
          </a:ln>
        </p:spPr>
      </p:sp>
      <p:sp>
        <p:nvSpPr>
          <p:cNvPr id="12" name="Text 10"/>
          <p:cNvSpPr txBox="1"/>
          <p:nvPr/>
        </p:nvSpPr>
        <p:spPr>
          <a:xfrm>
            <a:off x="6035040" y="3840480"/>
            <a:ext cx="2331720" cy="411480"/>
          </a:xfrm>
          <a:prstGeom prst="rect">
            <a:avLst/>
          </a:prstGeom>
          <a:noFill/>
          <a:ln/>
        </p:spPr>
        <p:txBody>
          <a:bodyPr wrap="square" lIns="0" tIns="0" rIns="0" bIns="0" rtlCol="0" anchor="t"/>
          <a:lstStyle/>
          <a:p>
            <a:pPr indent="0" marL="0">
              <a:buNone/>
            </a:pPr>
            <a:r>
              <a:rPr lang="en-US" sz="1800" dirty="0">
                <a:solidFill>
                  <a:srgbClr val="0B0F19"/>
                </a:solidFill>
                <a:latin typeface="Segoe UI Semibold" pitchFamily="34" charset="0"/>
                <a:ea typeface="Segoe UI Semibold" pitchFamily="34" charset="-122"/>
                <a:cs typeface="Segoe UI Semibold" pitchFamily="34" charset="-120"/>
              </a:rPr>
              <a:t>For whom</a:t>
            </a:r>
            <a:endParaRPr lang="en-US" sz="1800" dirty="0"/>
          </a:p>
        </p:txBody>
      </p:sp>
      <p:sp>
        <p:nvSpPr>
          <p:cNvPr id="13" name="Text 11"/>
          <p:cNvSpPr txBox="1"/>
          <p:nvPr/>
        </p:nvSpPr>
        <p:spPr>
          <a:xfrm>
            <a:off x="6035040" y="4315968"/>
            <a:ext cx="2286000" cy="1463040"/>
          </a:xfrm>
          <a:prstGeom prst="rect">
            <a:avLst/>
          </a:prstGeom>
          <a:noFill/>
          <a:ln/>
        </p:spPr>
        <p:txBody>
          <a:bodyPr wrap="square" lIns="0" tIns="0" rIns="0" bIns="0" rtlCol="0" anchor="t"/>
          <a:lstStyle/>
          <a:p>
            <a:pPr indent="0" marL="0">
              <a:lnSpc>
                <a:spcPct val="110000"/>
              </a:lnSpc>
              <a:buNone/>
            </a:pPr>
            <a:r>
              <a:rPr lang="en-US" sz="1350" dirty="0">
                <a:solidFill>
                  <a:srgbClr val="4B5563"/>
                </a:solidFill>
                <a:latin typeface="Segoe UI" pitchFamily="34" charset="0"/>
                <a:ea typeface="Segoe UI" pitchFamily="34" charset="-122"/>
                <a:cs typeface="Segoe UI" pitchFamily="34" charset="-120"/>
              </a:rPr>
              <a:t>Small hotels (10–40 rooms) and registered homestays, and the people who work in them.</a:t>
            </a:r>
            <a:endParaRPr lang="en-US" sz="1350" dirty="0"/>
          </a:p>
        </p:txBody>
      </p:sp>
      <p:sp>
        <p:nvSpPr>
          <p:cNvPr id="14" name="Shape 12"/>
          <p:cNvSpPr/>
          <p:nvPr/>
        </p:nvSpPr>
        <p:spPr>
          <a:xfrm>
            <a:off x="8915400" y="1051560"/>
            <a:ext cx="0" cy="4754880"/>
          </a:xfrm>
          <a:prstGeom prst="line">
            <a:avLst/>
          </a:prstGeom>
          <a:noFill/>
          <a:ln w="9525">
            <a:solidFill>
              <a:srgbClr val="E5E7EB"/>
            </a:solidFill>
            <a:prstDash val="solid"/>
          </a:ln>
        </p:spPr>
      </p:sp>
      <p:sp>
        <p:nvSpPr>
          <p:cNvPr id="15" name="Text 13"/>
          <p:cNvSpPr txBox="1"/>
          <p:nvPr/>
        </p:nvSpPr>
        <p:spPr>
          <a:xfrm>
            <a:off x="9281160" y="1920240"/>
            <a:ext cx="2194560" cy="914400"/>
          </a:xfrm>
          <a:prstGeom prst="rect">
            <a:avLst/>
          </a:prstGeom>
          <a:noFill/>
          <a:ln/>
        </p:spPr>
        <p:txBody>
          <a:bodyPr wrap="square" lIns="0" tIns="0" rIns="0" bIns="0" rtlCol="0" anchor="t"/>
          <a:lstStyle/>
          <a:p>
            <a:pPr indent="0" marL="0">
              <a:buNone/>
            </a:pPr>
            <a:r>
              <a:rPr lang="en-US" sz="4800" dirty="0">
                <a:solidFill>
                  <a:srgbClr val="4F46E5"/>
                </a:solidFill>
                <a:latin typeface="Segoe UI Semibold" pitchFamily="34" charset="0"/>
                <a:ea typeface="Segoe UI Semibold" pitchFamily="34" charset="-122"/>
                <a:cs typeface="Segoe UI Semibold" pitchFamily="34" charset="-120"/>
              </a:rPr>
              <a:t>5,000+</a:t>
            </a:r>
            <a:endParaRPr lang="en-US" sz="4800" dirty="0"/>
          </a:p>
        </p:txBody>
      </p:sp>
      <p:sp>
        <p:nvSpPr>
          <p:cNvPr id="16" name="Text 14"/>
          <p:cNvSpPr txBox="1"/>
          <p:nvPr/>
        </p:nvSpPr>
        <p:spPr>
          <a:xfrm>
            <a:off x="9281160" y="2880360"/>
            <a:ext cx="2103120" cy="1280160"/>
          </a:xfrm>
          <a:prstGeom prst="rect">
            <a:avLst/>
          </a:prstGeom>
          <a:noFill/>
          <a:ln/>
        </p:spPr>
        <p:txBody>
          <a:bodyPr wrap="square" lIns="0" tIns="0" rIns="0" bIns="0" rtlCol="0" anchor="t"/>
          <a:lstStyle/>
          <a:p>
            <a:pPr indent="0" marL="0">
              <a:buNone/>
            </a:pPr>
            <a:r>
              <a:rPr lang="en-US" sz="1400" dirty="0">
                <a:solidFill>
                  <a:srgbClr val="0B0F19"/>
                </a:solidFill>
                <a:latin typeface="Segoe UI" pitchFamily="34" charset="0"/>
                <a:ea typeface="Segoe UI" pitchFamily="34" charset="-122"/>
                <a:cs typeface="Segoe UI" pitchFamily="34" charset="-120"/>
              </a:rPr>
              <a:t>registered homestays in Uttarakhand, most run by a family with a few helpers.</a:t>
            </a:r>
            <a:endParaRPr lang="en-US" sz="1400" dirty="0"/>
          </a:p>
        </p:txBody>
      </p:sp>
      <p:sp>
        <p:nvSpPr>
          <p:cNvPr id="17" name="Text 15"/>
          <p:cNvSpPr txBox="1"/>
          <p:nvPr/>
        </p:nvSpPr>
        <p:spPr>
          <a:xfrm>
            <a:off x="9281160" y="5212080"/>
            <a:ext cx="2103120" cy="457200"/>
          </a:xfrm>
          <a:prstGeom prst="rect">
            <a:avLst/>
          </a:prstGeom>
          <a:noFill/>
          <a:ln/>
        </p:spPr>
        <p:txBody>
          <a:bodyPr wrap="square" lIns="0" tIns="0" rIns="0" bIns="0" rtlCol="0" anchor="t"/>
          <a:lstStyle/>
          <a:p>
            <a:pPr indent="0" marL="0">
              <a:buNone/>
            </a:pPr>
            <a:r>
              <a:rPr lang="en-US" sz="900" dirty="0">
                <a:solidFill>
                  <a:srgbClr val="9CA3AF"/>
                </a:solidFill>
                <a:latin typeface="Segoe UI" pitchFamily="34" charset="0"/>
                <a:ea typeface="Segoe UI" pitchFamily="34" charset="-122"/>
                <a:cs typeface="Segoe UI" pitchFamily="34" charset="-120"/>
              </a:rPr>
              <a:t>State figures reported by ETV Bharat, 20 May 2026</a:t>
            </a:r>
            <a:endParaRPr lang="en-US" sz="900" dirty="0"/>
          </a:p>
        </p:txBody>
      </p:sp>
      <p:sp>
        <p:nvSpPr>
          <p:cNvPr id="25" name="Slide Number Placeholder 0"/>
          <p:cNvSpPr>
            <a:spLocks noGrp="1"/>
          </p:cNvSpPr>
          <p:nvPr>
            <p:ph type="sldNum" sz="quarter" idx="4294967295"/>
          </p:nvPr>
        </p:nvSpPr>
        <p:spPr>
          <a:xfrm>
            <a:off x="10972800" y="6355080"/>
            <a:ext cx="393192"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CA3AF"/>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22960" y="640080"/>
            <a:ext cx="8229600" cy="274320"/>
          </a:xfrm>
          <a:prstGeom prst="rect">
            <a:avLst/>
          </a:prstGeom>
          <a:noFill/>
          <a:ln/>
        </p:spPr>
        <p:txBody>
          <a:bodyPr wrap="square" lIns="0" tIns="0" rIns="0" bIns="0" rtlCol="0" anchor="t"/>
          <a:lstStyle/>
          <a:p>
            <a:pPr indent="0" marL="0">
              <a:buNone/>
            </a:pPr>
            <a:r>
              <a:rPr lang="en-US" sz="1050" b="1" spc="300" kern="0" dirty="0">
                <a:solidFill>
                  <a:srgbClr val="4F46E5"/>
                </a:solidFill>
                <a:latin typeface="Segoe UI" pitchFamily="34" charset="0"/>
                <a:ea typeface="Segoe UI" pitchFamily="34" charset="-122"/>
                <a:cs typeface="Segoe UI" pitchFamily="34" charset="-120"/>
              </a:rPr>
              <a:t>CUSTOMER VS USER · EVERYONE INVOLVED</a:t>
            </a:r>
            <a:endParaRPr lang="en-US" sz="1050" dirty="0"/>
          </a:p>
        </p:txBody>
      </p:sp>
      <p:sp>
        <p:nvSpPr>
          <p:cNvPr id="3" name="Text 1"/>
          <p:cNvSpPr txBox="1"/>
          <p:nvPr/>
        </p:nvSpPr>
        <p:spPr>
          <a:xfrm>
            <a:off x="822960" y="914400"/>
            <a:ext cx="10545775" cy="822960"/>
          </a:xfrm>
          <a:prstGeom prst="rect">
            <a:avLst/>
          </a:prstGeom>
          <a:noFill/>
          <a:ln/>
        </p:spPr>
        <p:txBody>
          <a:bodyPr wrap="square" lIns="0" tIns="0" rIns="0" bIns="0" rtlCol="0" anchor="ctr"/>
          <a:lstStyle/>
          <a:p>
            <a:pPr indent="0" marL="0">
              <a:buNone/>
            </a:pPr>
            <a:r>
              <a:rPr lang="en-US" sz="3400" dirty="0">
                <a:solidFill>
                  <a:srgbClr val="0B0F19"/>
                </a:solidFill>
                <a:latin typeface="Segoe UI Semibold" pitchFamily="34" charset="0"/>
                <a:ea typeface="Segoe UI Semibold" pitchFamily="34" charset="-122"/>
                <a:cs typeface="Segoe UI Semibold" pitchFamily="34" charset="-120"/>
              </a:rPr>
              <a:t>The owner pays. Everyone else uses it free.</a:t>
            </a:r>
            <a:endParaRPr lang="en-US" sz="3400" dirty="0"/>
          </a:p>
        </p:txBody>
      </p:sp>
      <p:sp>
        <p:nvSpPr>
          <p:cNvPr id="4" name="Text 2"/>
          <p:cNvSpPr txBox="1"/>
          <p:nvPr/>
        </p:nvSpPr>
        <p:spPr>
          <a:xfrm>
            <a:off x="822960" y="2057400"/>
            <a:ext cx="3200400" cy="274320"/>
          </a:xfrm>
          <a:prstGeom prst="rect">
            <a:avLst/>
          </a:prstGeom>
          <a:noFill/>
          <a:ln/>
        </p:spPr>
        <p:txBody>
          <a:bodyPr wrap="square" lIns="0" tIns="0" rIns="0" bIns="0" rtlCol="0" anchor="t"/>
          <a:lstStyle/>
          <a:p>
            <a:pPr indent="0" marL="0">
              <a:buNone/>
            </a:pPr>
            <a:r>
              <a:rPr lang="en-US" sz="1050" b="1" spc="300" kern="0" dirty="0">
                <a:solidFill>
                  <a:srgbClr val="4F46E5"/>
                </a:solidFill>
                <a:latin typeface="Segoe UI" pitchFamily="34" charset="0"/>
                <a:ea typeface="Segoe UI" pitchFamily="34" charset="-122"/>
                <a:cs typeface="Segoe UI" pitchFamily="34" charset="-120"/>
              </a:rPr>
              <a:t>CUSTOMER</a:t>
            </a:r>
            <a:endParaRPr lang="en-US" sz="1050" dirty="0"/>
          </a:p>
        </p:txBody>
      </p:sp>
      <p:sp>
        <p:nvSpPr>
          <p:cNvPr id="5" name="Text 3"/>
          <p:cNvSpPr txBox="1"/>
          <p:nvPr/>
        </p:nvSpPr>
        <p:spPr>
          <a:xfrm>
            <a:off x="822960" y="2377440"/>
            <a:ext cx="4023360" cy="502920"/>
          </a:xfrm>
          <a:prstGeom prst="rect">
            <a:avLst/>
          </a:prstGeom>
          <a:noFill/>
          <a:ln/>
        </p:spPr>
        <p:txBody>
          <a:bodyPr wrap="square" lIns="0" tIns="0" rIns="0" bIns="0" rtlCol="0" anchor="t"/>
          <a:lstStyle/>
          <a:p>
            <a:pPr indent="0" marL="0">
              <a:buNone/>
            </a:pPr>
            <a:r>
              <a:rPr lang="en-US" sz="2200" dirty="0">
                <a:solidFill>
                  <a:srgbClr val="0B0F19"/>
                </a:solidFill>
                <a:latin typeface="Segoe UI Semibold" pitchFamily="34" charset="0"/>
                <a:ea typeface="Segoe UI Semibold" pitchFamily="34" charset="-122"/>
                <a:cs typeface="Segoe UI Semibold" pitchFamily="34" charset="-120"/>
              </a:rPr>
              <a:t>Hotel or homestay owner</a:t>
            </a:r>
            <a:endParaRPr lang="en-US" sz="2200" dirty="0"/>
          </a:p>
        </p:txBody>
      </p:sp>
      <p:sp>
        <p:nvSpPr>
          <p:cNvPr id="6" name="Text 4"/>
          <p:cNvSpPr txBox="1"/>
          <p:nvPr/>
        </p:nvSpPr>
        <p:spPr>
          <a:xfrm>
            <a:off x="822960" y="2971800"/>
            <a:ext cx="3840480" cy="731520"/>
          </a:xfrm>
          <a:prstGeom prst="rect">
            <a:avLst/>
          </a:prstGeom>
          <a:noFill/>
          <a:ln/>
        </p:spPr>
        <p:txBody>
          <a:bodyPr wrap="square" lIns="0" tIns="0" rIns="0" bIns="0" rtlCol="0" anchor="t"/>
          <a:lstStyle/>
          <a:p>
            <a:pPr indent="0" marL="0">
              <a:buNone/>
            </a:pPr>
            <a:r>
              <a:rPr lang="en-US" sz="1350" dirty="0">
                <a:solidFill>
                  <a:srgbClr val="4B5563"/>
                </a:solidFill>
                <a:latin typeface="Segoe UI" pitchFamily="34" charset="0"/>
                <a:ea typeface="Segoe UI" pitchFamily="34" charset="-122"/>
                <a:cs typeface="Segoe UI" pitchFamily="34" charset="-120"/>
              </a:rPr>
              <a:t>Later: homestay clusters and the state tourism department (to validate).</a:t>
            </a:r>
            <a:endParaRPr lang="en-US" sz="1350" dirty="0"/>
          </a:p>
        </p:txBody>
      </p:sp>
      <p:sp>
        <p:nvSpPr>
          <p:cNvPr id="7" name="Shape 5"/>
          <p:cNvSpPr/>
          <p:nvPr/>
        </p:nvSpPr>
        <p:spPr>
          <a:xfrm>
            <a:off x="822960" y="3977640"/>
            <a:ext cx="3931920" cy="1417320"/>
          </a:xfrm>
          <a:prstGeom prst="rect">
            <a:avLst/>
          </a:prstGeom>
          <a:solidFill>
            <a:srgbClr val="EEF2FF"/>
          </a:solidFill>
          <a:ln/>
        </p:spPr>
      </p:sp>
      <p:sp>
        <p:nvSpPr>
          <p:cNvPr id="8" name="Text 6"/>
          <p:cNvSpPr txBox="1"/>
          <p:nvPr/>
        </p:nvSpPr>
        <p:spPr>
          <a:xfrm>
            <a:off x="1097280" y="4160520"/>
            <a:ext cx="3474720" cy="320040"/>
          </a:xfrm>
          <a:prstGeom prst="rect">
            <a:avLst/>
          </a:prstGeom>
          <a:noFill/>
          <a:ln/>
        </p:spPr>
        <p:txBody>
          <a:bodyPr wrap="square" lIns="0" tIns="0" rIns="0" bIns="0" rtlCol="0" anchor="t"/>
          <a:lstStyle/>
          <a:p>
            <a:pPr indent="0" marL="0">
              <a:buNone/>
            </a:pPr>
            <a:r>
              <a:rPr lang="en-US" sz="1300" b="1" dirty="0">
                <a:solidFill>
                  <a:srgbClr val="4F46E5"/>
                </a:solidFill>
                <a:latin typeface="Segoe UI" pitchFamily="34" charset="0"/>
                <a:ea typeface="Segoe UI" pitchFamily="34" charset="-122"/>
                <a:cs typeface="Segoe UI" pitchFamily="34" charset="-120"/>
              </a:rPr>
              <a:t>Can they buy it for themselves?</a:t>
            </a:r>
            <a:endParaRPr lang="en-US" sz="1300" dirty="0"/>
          </a:p>
        </p:txBody>
      </p:sp>
      <p:sp>
        <p:nvSpPr>
          <p:cNvPr id="9" name="Text 7"/>
          <p:cNvSpPr txBox="1"/>
          <p:nvPr/>
        </p:nvSpPr>
        <p:spPr>
          <a:xfrm>
            <a:off x="1097280" y="4526280"/>
            <a:ext cx="3474720" cy="822960"/>
          </a:xfrm>
          <a:prstGeom prst="rect">
            <a:avLst/>
          </a:prstGeom>
          <a:noFill/>
          <a:ln/>
        </p:spPr>
        <p:txBody>
          <a:bodyPr wrap="square" lIns="0" tIns="0" rIns="0" bIns="0" rtlCol="0" anchor="t"/>
          <a:lstStyle/>
          <a:p>
            <a:pPr indent="0" marL="0">
              <a:buNone/>
            </a:pPr>
            <a:r>
              <a:rPr lang="en-US" sz="1250" dirty="0">
                <a:solidFill>
                  <a:srgbClr val="0B0F19"/>
                </a:solidFill>
                <a:latin typeface="Segoe UI" pitchFamily="34" charset="0"/>
                <a:ea typeface="Segoe UI" pitchFamily="34" charset="-122"/>
                <a:cs typeface="Segoe UI" pitchFamily="34" charset="-120"/>
              </a:rPr>
              <a:t>Yes: owners, like a booking system. Users can't, so it must be free, on any phone, in Hindi, with no training.</a:t>
            </a:r>
            <a:endParaRPr lang="en-US" sz="1250" dirty="0"/>
          </a:p>
        </p:txBody>
      </p:sp>
      <p:sp>
        <p:nvSpPr>
          <p:cNvPr id="10" name="Shape 8"/>
          <p:cNvSpPr/>
          <p:nvPr/>
        </p:nvSpPr>
        <p:spPr>
          <a:xfrm>
            <a:off x="5257800" y="2057400"/>
            <a:ext cx="0" cy="3931920"/>
          </a:xfrm>
          <a:prstGeom prst="line">
            <a:avLst/>
          </a:prstGeom>
          <a:noFill/>
          <a:ln w="9525">
            <a:solidFill>
              <a:srgbClr val="E5E7EB"/>
            </a:solidFill>
            <a:prstDash val="solid"/>
          </a:ln>
        </p:spPr>
      </p:sp>
      <p:sp>
        <p:nvSpPr>
          <p:cNvPr id="11" name="Text 9"/>
          <p:cNvSpPr txBox="1"/>
          <p:nvPr/>
        </p:nvSpPr>
        <p:spPr>
          <a:xfrm>
            <a:off x="5623560" y="2057400"/>
            <a:ext cx="3657600" cy="274320"/>
          </a:xfrm>
          <a:prstGeom prst="rect">
            <a:avLst/>
          </a:prstGeom>
          <a:noFill/>
          <a:ln/>
        </p:spPr>
        <p:txBody>
          <a:bodyPr wrap="square" lIns="0" tIns="0" rIns="0" bIns="0" rtlCol="0" anchor="t"/>
          <a:lstStyle/>
          <a:p>
            <a:pPr indent="0" marL="0">
              <a:buNone/>
            </a:pPr>
            <a:r>
              <a:rPr lang="en-US" sz="1050" b="1" spc="300" kern="0" dirty="0">
                <a:solidFill>
                  <a:srgbClr val="4F46E5"/>
                </a:solidFill>
                <a:latin typeface="Segoe UI" pitchFamily="34" charset="0"/>
                <a:ea typeface="Segoe UI" pitchFamily="34" charset="-122"/>
                <a:cs typeface="Segoe UI" pitchFamily="34" charset="-120"/>
              </a:rPr>
              <a:t>USERS · NEVER PAY</a:t>
            </a:r>
            <a:endParaRPr lang="en-US" sz="1050" dirty="0"/>
          </a:p>
        </p:txBody>
      </p:sp>
      <p:sp>
        <p:nvSpPr>
          <p:cNvPr id="12" name="Text 10"/>
          <p:cNvSpPr txBox="1"/>
          <p:nvPr/>
        </p:nvSpPr>
        <p:spPr>
          <a:xfrm>
            <a:off x="5623560" y="2423160"/>
            <a:ext cx="2743200" cy="365760"/>
          </a:xfrm>
          <a:prstGeom prst="rect">
            <a:avLst/>
          </a:prstGeom>
          <a:noFill/>
          <a:ln/>
        </p:spPr>
        <p:txBody>
          <a:bodyPr wrap="square" lIns="0" tIns="0" rIns="0" bIns="0" rtlCol="0" anchor="ctr"/>
          <a:lstStyle/>
          <a:p>
            <a:pPr indent="0" marL="0">
              <a:buNone/>
            </a:pPr>
            <a:r>
              <a:rPr lang="en-US" sz="1350" dirty="0">
                <a:solidFill>
                  <a:srgbClr val="0B0F19"/>
                </a:solidFill>
                <a:latin typeface="Segoe UI Semibold" pitchFamily="34" charset="0"/>
                <a:ea typeface="Segoe UI Semibold" pitchFamily="34" charset="-122"/>
                <a:cs typeface="Segoe UI Semibold" pitchFamily="34" charset="-120"/>
              </a:rPr>
              <a:t>Managers &amp; department heads</a:t>
            </a:r>
            <a:endParaRPr lang="en-US" sz="1350" dirty="0"/>
          </a:p>
        </p:txBody>
      </p:sp>
      <p:sp>
        <p:nvSpPr>
          <p:cNvPr id="13" name="Text 11"/>
          <p:cNvSpPr txBox="1"/>
          <p:nvPr/>
        </p:nvSpPr>
        <p:spPr>
          <a:xfrm>
            <a:off x="8458200" y="2423160"/>
            <a:ext cx="2926080" cy="365760"/>
          </a:xfrm>
          <a:prstGeom prst="rect">
            <a:avLst/>
          </a:prstGeom>
          <a:noFill/>
          <a:ln/>
        </p:spPr>
        <p:txBody>
          <a:bodyPr wrap="square" lIns="0" tIns="0" rIns="0" bIns="0" rtlCol="0" anchor="ctr"/>
          <a:lstStyle/>
          <a:p>
            <a:pPr indent="0" marL="0">
              <a:buNone/>
            </a:pPr>
            <a:r>
              <a:rPr lang="en-US" sz="1250" dirty="0">
                <a:solidFill>
                  <a:srgbClr val="4B5563"/>
                </a:solidFill>
                <a:latin typeface="Segoe UI" pitchFamily="34" charset="0"/>
                <a:ea typeface="Segoe UI" pitchFamily="34" charset="-122"/>
                <a:cs typeface="Segoe UI" pitchFamily="34" charset="-120"/>
              </a:rPr>
              <a:t>Is today OK? Only my team.</a:t>
            </a:r>
            <a:endParaRPr lang="en-US" sz="1250" dirty="0"/>
          </a:p>
        </p:txBody>
      </p:sp>
      <p:sp>
        <p:nvSpPr>
          <p:cNvPr id="14" name="Shape 12"/>
          <p:cNvSpPr/>
          <p:nvPr/>
        </p:nvSpPr>
        <p:spPr>
          <a:xfrm>
            <a:off x="5623560" y="2880360"/>
            <a:ext cx="5742432" cy="0"/>
          </a:xfrm>
          <a:prstGeom prst="line">
            <a:avLst/>
          </a:prstGeom>
          <a:noFill/>
          <a:ln w="9525">
            <a:solidFill>
              <a:srgbClr val="E5E7EB"/>
            </a:solidFill>
            <a:prstDash val="solid"/>
          </a:ln>
        </p:spPr>
      </p:sp>
      <p:sp>
        <p:nvSpPr>
          <p:cNvPr id="15" name="Text 13"/>
          <p:cNvSpPr txBox="1"/>
          <p:nvPr/>
        </p:nvSpPr>
        <p:spPr>
          <a:xfrm>
            <a:off x="5623560" y="2926080"/>
            <a:ext cx="2743200" cy="365760"/>
          </a:xfrm>
          <a:prstGeom prst="rect">
            <a:avLst/>
          </a:prstGeom>
          <a:noFill/>
          <a:ln/>
        </p:spPr>
        <p:txBody>
          <a:bodyPr wrap="square" lIns="0" tIns="0" rIns="0" bIns="0" rtlCol="0" anchor="ctr"/>
          <a:lstStyle/>
          <a:p>
            <a:pPr indent="0" marL="0">
              <a:buNone/>
            </a:pPr>
            <a:r>
              <a:rPr lang="en-US" sz="1350" dirty="0">
                <a:solidFill>
                  <a:srgbClr val="0B0F19"/>
                </a:solidFill>
                <a:latin typeface="Segoe UI Semibold" pitchFamily="34" charset="0"/>
                <a:ea typeface="Segoe UI Semibold" pitchFamily="34" charset="-122"/>
                <a:cs typeface="Segoe UI Semibold" pitchFamily="34" charset="-120"/>
              </a:rPr>
              <a:t>Frontline staff</a:t>
            </a:r>
            <a:endParaRPr lang="en-US" sz="1350" dirty="0"/>
          </a:p>
        </p:txBody>
      </p:sp>
      <p:sp>
        <p:nvSpPr>
          <p:cNvPr id="16" name="Text 14"/>
          <p:cNvSpPr txBox="1"/>
          <p:nvPr/>
        </p:nvSpPr>
        <p:spPr>
          <a:xfrm>
            <a:off x="8458200" y="2926080"/>
            <a:ext cx="2926080" cy="365760"/>
          </a:xfrm>
          <a:prstGeom prst="rect">
            <a:avLst/>
          </a:prstGeom>
          <a:noFill/>
          <a:ln/>
        </p:spPr>
        <p:txBody>
          <a:bodyPr wrap="square" lIns="0" tIns="0" rIns="0" bIns="0" rtlCol="0" anchor="ctr"/>
          <a:lstStyle/>
          <a:p>
            <a:pPr indent="0" marL="0">
              <a:buNone/>
            </a:pPr>
            <a:r>
              <a:rPr lang="en-US" sz="1250" dirty="0">
                <a:solidFill>
                  <a:srgbClr val="4B5563"/>
                </a:solidFill>
                <a:latin typeface="Segoe UI" pitchFamily="34" charset="0"/>
                <a:ea typeface="Segoe UI" pitchFamily="34" charset="-122"/>
                <a:cs typeface="Segoe UI" pitchFamily="34" charset="-120"/>
              </a:rPr>
              <a:t>One job, one button, Hindi voice.</a:t>
            </a:r>
            <a:endParaRPr lang="en-US" sz="1250" dirty="0"/>
          </a:p>
        </p:txBody>
      </p:sp>
      <p:sp>
        <p:nvSpPr>
          <p:cNvPr id="17" name="Shape 15"/>
          <p:cNvSpPr/>
          <p:nvPr/>
        </p:nvSpPr>
        <p:spPr>
          <a:xfrm>
            <a:off x="5623560" y="3383280"/>
            <a:ext cx="5742432" cy="0"/>
          </a:xfrm>
          <a:prstGeom prst="line">
            <a:avLst/>
          </a:prstGeom>
          <a:noFill/>
          <a:ln w="9525">
            <a:solidFill>
              <a:srgbClr val="E5E7EB"/>
            </a:solidFill>
            <a:prstDash val="solid"/>
          </a:ln>
        </p:spPr>
      </p:sp>
      <p:sp>
        <p:nvSpPr>
          <p:cNvPr id="18" name="Text 16"/>
          <p:cNvSpPr txBox="1"/>
          <p:nvPr/>
        </p:nvSpPr>
        <p:spPr>
          <a:xfrm>
            <a:off x="5623560" y="3429000"/>
            <a:ext cx="2743200" cy="365760"/>
          </a:xfrm>
          <a:prstGeom prst="rect">
            <a:avLst/>
          </a:prstGeom>
          <a:noFill/>
          <a:ln/>
        </p:spPr>
        <p:txBody>
          <a:bodyPr wrap="square" lIns="0" tIns="0" rIns="0" bIns="0" rtlCol="0" anchor="ctr"/>
          <a:lstStyle/>
          <a:p>
            <a:pPr indent="0" marL="0">
              <a:buNone/>
            </a:pPr>
            <a:r>
              <a:rPr lang="en-US" sz="1350" dirty="0">
                <a:solidFill>
                  <a:srgbClr val="0B0F19"/>
                </a:solidFill>
                <a:latin typeface="Segoe UI Semibold" pitchFamily="34" charset="0"/>
                <a:ea typeface="Segoe UI Semibold" pitchFamily="34" charset="-122"/>
                <a:cs typeface="Segoe UI Semibold" pitchFamily="34" charset="-120"/>
              </a:rPr>
              <a:t>Guests</a:t>
            </a:r>
            <a:endParaRPr lang="en-US" sz="1350" dirty="0"/>
          </a:p>
        </p:txBody>
      </p:sp>
      <p:sp>
        <p:nvSpPr>
          <p:cNvPr id="19" name="Text 17"/>
          <p:cNvSpPr txBox="1"/>
          <p:nvPr/>
        </p:nvSpPr>
        <p:spPr>
          <a:xfrm>
            <a:off x="8458200" y="3429000"/>
            <a:ext cx="2926080" cy="365760"/>
          </a:xfrm>
          <a:prstGeom prst="rect">
            <a:avLst/>
          </a:prstGeom>
          <a:noFill/>
          <a:ln/>
        </p:spPr>
        <p:txBody>
          <a:bodyPr wrap="square" lIns="0" tIns="0" rIns="0" bIns="0" rtlCol="0" anchor="ctr"/>
          <a:lstStyle/>
          <a:p>
            <a:pPr indent="0" marL="0">
              <a:buNone/>
            </a:pPr>
            <a:r>
              <a:rPr lang="en-US" sz="1250" dirty="0">
                <a:solidFill>
                  <a:srgbClr val="4B5563"/>
                </a:solidFill>
                <a:latin typeface="Segoe UI" pitchFamily="34" charset="0"/>
                <a:ea typeface="Segoe UI" pitchFamily="34" charset="-122"/>
                <a:cs typeface="Segoe UI" pitchFamily="34" charset="-120"/>
              </a:rPr>
              <a:t>Ask from the room, see live status.</a:t>
            </a:r>
            <a:endParaRPr lang="en-US" sz="1250" dirty="0"/>
          </a:p>
        </p:txBody>
      </p:sp>
      <p:sp>
        <p:nvSpPr>
          <p:cNvPr id="20" name="Shape 18"/>
          <p:cNvSpPr/>
          <p:nvPr/>
        </p:nvSpPr>
        <p:spPr>
          <a:xfrm>
            <a:off x="5623560" y="3886200"/>
            <a:ext cx="5742432" cy="0"/>
          </a:xfrm>
          <a:prstGeom prst="line">
            <a:avLst/>
          </a:prstGeom>
          <a:noFill/>
          <a:ln w="9525">
            <a:solidFill>
              <a:srgbClr val="E5E7EB"/>
            </a:solidFill>
            <a:prstDash val="solid"/>
          </a:ln>
        </p:spPr>
      </p:sp>
      <p:sp>
        <p:nvSpPr>
          <p:cNvPr id="21" name="Text 19"/>
          <p:cNvSpPr txBox="1"/>
          <p:nvPr/>
        </p:nvSpPr>
        <p:spPr>
          <a:xfrm>
            <a:off x="5623560" y="3931920"/>
            <a:ext cx="2743200" cy="365760"/>
          </a:xfrm>
          <a:prstGeom prst="rect">
            <a:avLst/>
          </a:prstGeom>
          <a:noFill/>
          <a:ln/>
        </p:spPr>
        <p:txBody>
          <a:bodyPr wrap="square" lIns="0" tIns="0" rIns="0" bIns="0" rtlCol="0" anchor="ctr"/>
          <a:lstStyle/>
          <a:p>
            <a:pPr indent="0" marL="0">
              <a:buNone/>
            </a:pPr>
            <a:r>
              <a:rPr lang="en-US" sz="1350" dirty="0">
                <a:solidFill>
                  <a:srgbClr val="0B0F19"/>
                </a:solidFill>
                <a:latin typeface="Segoe UI Semibold" pitchFamily="34" charset="0"/>
                <a:ea typeface="Segoe UI Semibold" pitchFamily="34" charset="-122"/>
                <a:cs typeface="Segoe UI Semibold" pitchFamily="34" charset="-120"/>
              </a:rPr>
              <a:t>Tourists</a:t>
            </a:r>
            <a:endParaRPr lang="en-US" sz="1350" dirty="0"/>
          </a:p>
        </p:txBody>
      </p:sp>
      <p:sp>
        <p:nvSpPr>
          <p:cNvPr id="22" name="Text 20"/>
          <p:cNvSpPr txBox="1"/>
          <p:nvPr/>
        </p:nvSpPr>
        <p:spPr>
          <a:xfrm>
            <a:off x="8458200" y="3931920"/>
            <a:ext cx="2926080" cy="365760"/>
          </a:xfrm>
          <a:prstGeom prst="rect">
            <a:avLst/>
          </a:prstGeom>
          <a:noFill/>
          <a:ln/>
        </p:spPr>
        <p:txBody>
          <a:bodyPr wrap="square" lIns="0" tIns="0" rIns="0" bIns="0" rtlCol="0" anchor="ctr"/>
          <a:lstStyle/>
          <a:p>
            <a:pPr indent="0" marL="0">
              <a:buNone/>
            </a:pPr>
            <a:r>
              <a:rPr lang="en-US" sz="1250" dirty="0">
                <a:solidFill>
                  <a:srgbClr val="4B5563"/>
                </a:solidFill>
                <a:latin typeface="Segoe UI" pitchFamily="34" charset="0"/>
                <a:ea typeface="Segoe UI" pitchFamily="34" charset="-122"/>
                <a:cs typeface="Segoe UI" pitchFamily="34" charset="-120"/>
              </a:rPr>
              <a:t>How busy, road alerts, verified stays.</a:t>
            </a:r>
            <a:endParaRPr lang="en-US" sz="1250" dirty="0"/>
          </a:p>
        </p:txBody>
      </p:sp>
      <p:sp>
        <p:nvSpPr>
          <p:cNvPr id="23" name="Shape 21"/>
          <p:cNvSpPr/>
          <p:nvPr/>
        </p:nvSpPr>
        <p:spPr>
          <a:xfrm>
            <a:off x="5623560" y="4389120"/>
            <a:ext cx="5742432" cy="0"/>
          </a:xfrm>
          <a:prstGeom prst="line">
            <a:avLst/>
          </a:prstGeom>
          <a:noFill/>
          <a:ln w="9525">
            <a:solidFill>
              <a:srgbClr val="E5E7EB"/>
            </a:solidFill>
            <a:prstDash val="solid"/>
          </a:ln>
        </p:spPr>
      </p:sp>
      <p:sp>
        <p:nvSpPr>
          <p:cNvPr id="24" name="Text 22"/>
          <p:cNvSpPr txBox="1"/>
          <p:nvPr/>
        </p:nvSpPr>
        <p:spPr>
          <a:xfrm>
            <a:off x="5623560" y="4434840"/>
            <a:ext cx="2743200" cy="365760"/>
          </a:xfrm>
          <a:prstGeom prst="rect">
            <a:avLst/>
          </a:prstGeom>
          <a:noFill/>
          <a:ln/>
        </p:spPr>
        <p:txBody>
          <a:bodyPr wrap="square" lIns="0" tIns="0" rIns="0" bIns="0" rtlCol="0" anchor="ctr"/>
          <a:lstStyle/>
          <a:p>
            <a:pPr indent="0" marL="0">
              <a:buNone/>
            </a:pPr>
            <a:r>
              <a:rPr lang="en-US" sz="1350" dirty="0">
                <a:solidFill>
                  <a:srgbClr val="0B0F19"/>
                </a:solidFill>
                <a:latin typeface="Segoe UI Semibold" pitchFamily="34" charset="0"/>
                <a:ea typeface="Segoe UI Semibold" pitchFamily="34" charset="-122"/>
                <a:cs typeface="Segoe UI Semibold" pitchFamily="34" charset="-120"/>
              </a:rPr>
              <a:t>District &amp; state officials</a:t>
            </a:r>
            <a:endParaRPr lang="en-US" sz="1350" dirty="0"/>
          </a:p>
        </p:txBody>
      </p:sp>
      <p:sp>
        <p:nvSpPr>
          <p:cNvPr id="25" name="Text 23"/>
          <p:cNvSpPr txBox="1"/>
          <p:nvPr/>
        </p:nvSpPr>
        <p:spPr>
          <a:xfrm>
            <a:off x="8458200" y="4434840"/>
            <a:ext cx="2926080" cy="365760"/>
          </a:xfrm>
          <a:prstGeom prst="rect">
            <a:avLst/>
          </a:prstGeom>
          <a:noFill/>
          <a:ln/>
        </p:spPr>
        <p:txBody>
          <a:bodyPr wrap="square" lIns="0" tIns="0" rIns="0" bIns="0" rtlCol="0" anchor="ctr"/>
          <a:lstStyle/>
          <a:p>
            <a:pPr indent="0" marL="0">
              <a:buNone/>
            </a:pPr>
            <a:r>
              <a:rPr lang="en-US" sz="1250" dirty="0">
                <a:solidFill>
                  <a:srgbClr val="4B5563"/>
                </a:solidFill>
                <a:latin typeface="Segoe UI" pitchFamily="34" charset="0"/>
                <a:ea typeface="Segoe UI" pitchFamily="34" charset="-122"/>
                <a:cs typeface="Segoe UI" pitchFamily="34" charset="-120"/>
              </a:rPr>
              <a:t>Approvals, complaints, crowd data.</a:t>
            </a:r>
            <a:endParaRPr lang="en-US" sz="1250" dirty="0"/>
          </a:p>
        </p:txBody>
      </p:sp>
      <p:sp>
        <p:nvSpPr>
          <p:cNvPr id="26" name="Shape 24"/>
          <p:cNvSpPr/>
          <p:nvPr/>
        </p:nvSpPr>
        <p:spPr>
          <a:xfrm>
            <a:off x="5623560" y="4892040"/>
            <a:ext cx="5742432" cy="0"/>
          </a:xfrm>
          <a:prstGeom prst="line">
            <a:avLst/>
          </a:prstGeom>
          <a:noFill/>
          <a:ln w="9525">
            <a:solidFill>
              <a:srgbClr val="E5E7EB"/>
            </a:solidFill>
            <a:prstDash val="solid"/>
          </a:ln>
        </p:spPr>
      </p:sp>
      <p:sp>
        <p:nvSpPr>
          <p:cNvPr id="27" name="Text 25"/>
          <p:cNvSpPr txBox="1"/>
          <p:nvPr/>
        </p:nvSpPr>
        <p:spPr>
          <a:xfrm>
            <a:off x="5623560" y="4937760"/>
            <a:ext cx="2743200" cy="365760"/>
          </a:xfrm>
          <a:prstGeom prst="rect">
            <a:avLst/>
          </a:prstGeom>
          <a:noFill/>
          <a:ln/>
        </p:spPr>
        <p:txBody>
          <a:bodyPr wrap="square" lIns="0" tIns="0" rIns="0" bIns="0" rtlCol="0" anchor="ctr"/>
          <a:lstStyle/>
          <a:p>
            <a:pPr indent="0" marL="0">
              <a:buNone/>
            </a:pPr>
            <a:r>
              <a:rPr lang="en-US" sz="1350" dirty="0">
                <a:solidFill>
                  <a:srgbClr val="0B0F19"/>
                </a:solidFill>
                <a:latin typeface="Segoe UI Semibold" pitchFamily="34" charset="0"/>
                <a:ea typeface="Segoe UI Semibold" pitchFamily="34" charset="-122"/>
                <a:cs typeface="Segoe UI Semibold" pitchFamily="34" charset="-120"/>
              </a:rPr>
              <a:t>Job seekers &amp; agencies</a:t>
            </a:r>
            <a:endParaRPr lang="en-US" sz="1350" dirty="0"/>
          </a:p>
        </p:txBody>
      </p:sp>
      <p:sp>
        <p:nvSpPr>
          <p:cNvPr id="28" name="Text 26"/>
          <p:cNvSpPr txBox="1"/>
          <p:nvPr/>
        </p:nvSpPr>
        <p:spPr>
          <a:xfrm>
            <a:off x="8458200" y="4937760"/>
            <a:ext cx="2926080" cy="365760"/>
          </a:xfrm>
          <a:prstGeom prst="rect">
            <a:avLst/>
          </a:prstGeom>
          <a:noFill/>
          <a:ln/>
        </p:spPr>
        <p:txBody>
          <a:bodyPr wrap="square" lIns="0" tIns="0" rIns="0" bIns="0" rtlCol="0" anchor="ctr"/>
          <a:lstStyle/>
          <a:p>
            <a:pPr indent="0" marL="0">
              <a:buNone/>
            </a:pPr>
            <a:r>
              <a:rPr lang="en-US" sz="1250" dirty="0">
                <a:solidFill>
                  <a:srgbClr val="4B5563"/>
                </a:solidFill>
                <a:latin typeface="Segoe UI" pitchFamily="34" charset="0"/>
                <a:ea typeface="Segoe UI" pitchFamily="34" charset="-122"/>
                <a:cs typeface="Segoe UI" pitchFamily="34" charset="-120"/>
              </a:rPr>
              <a:t>Seasonal work that fits.</a:t>
            </a:r>
            <a:endParaRPr lang="en-US" sz="1250" dirty="0"/>
          </a:p>
        </p:txBody>
      </p:sp>
      <p:sp>
        <p:nvSpPr>
          <p:cNvPr id="29" name="Shape 27"/>
          <p:cNvSpPr/>
          <p:nvPr/>
        </p:nvSpPr>
        <p:spPr>
          <a:xfrm>
            <a:off x="5623560" y="5394960"/>
            <a:ext cx="5742432" cy="0"/>
          </a:xfrm>
          <a:prstGeom prst="line">
            <a:avLst/>
          </a:prstGeom>
          <a:noFill/>
          <a:ln w="9525">
            <a:solidFill>
              <a:srgbClr val="E5E7EB"/>
            </a:solidFill>
            <a:prstDash val="solid"/>
          </a:ln>
        </p:spPr>
      </p:sp>
      <p:sp>
        <p:nvSpPr>
          <p:cNvPr id="30" name="Text 28"/>
          <p:cNvSpPr txBox="1"/>
          <p:nvPr/>
        </p:nvSpPr>
        <p:spPr>
          <a:xfrm>
            <a:off x="5623560" y="5440680"/>
            <a:ext cx="2743200" cy="365760"/>
          </a:xfrm>
          <a:prstGeom prst="rect">
            <a:avLst/>
          </a:prstGeom>
          <a:noFill/>
          <a:ln/>
        </p:spPr>
        <p:txBody>
          <a:bodyPr wrap="square" lIns="0" tIns="0" rIns="0" bIns="0" rtlCol="0" anchor="ctr"/>
          <a:lstStyle/>
          <a:p>
            <a:pPr indent="0" marL="0">
              <a:buNone/>
            </a:pPr>
            <a:r>
              <a:rPr lang="en-US" sz="1350" dirty="0">
                <a:solidFill>
                  <a:srgbClr val="0B0F19"/>
                </a:solidFill>
                <a:latin typeface="Segoe UI Semibold" pitchFamily="34" charset="0"/>
                <a:ea typeface="Segoe UI Semibold" pitchFamily="34" charset="-122"/>
                <a:cs typeface="Segoe UI Semibold" pitchFamily="34" charset="-120"/>
              </a:rPr>
              <a:t>HOI team</a:t>
            </a:r>
            <a:endParaRPr lang="en-US" sz="1350" dirty="0"/>
          </a:p>
        </p:txBody>
      </p:sp>
      <p:sp>
        <p:nvSpPr>
          <p:cNvPr id="31" name="Text 29"/>
          <p:cNvSpPr txBox="1"/>
          <p:nvPr/>
        </p:nvSpPr>
        <p:spPr>
          <a:xfrm>
            <a:off x="8458200" y="5440680"/>
            <a:ext cx="2926080" cy="365760"/>
          </a:xfrm>
          <a:prstGeom prst="rect">
            <a:avLst/>
          </a:prstGeom>
          <a:noFill/>
          <a:ln/>
        </p:spPr>
        <p:txBody>
          <a:bodyPr wrap="square" lIns="0" tIns="0" rIns="0" bIns="0" rtlCol="0" anchor="ctr"/>
          <a:lstStyle/>
          <a:p>
            <a:pPr indent="0" marL="0">
              <a:buNone/>
            </a:pPr>
            <a:r>
              <a:rPr lang="en-US" sz="1250" dirty="0">
                <a:solidFill>
                  <a:srgbClr val="4B5563"/>
                </a:solidFill>
                <a:latin typeface="Segoe UI" pitchFamily="34" charset="0"/>
                <a:ea typeface="Segoe UI" pitchFamily="34" charset="-122"/>
                <a:cs typeface="Segoe UI" pitchFamily="34" charset="-120"/>
              </a:rPr>
              <a:t>Run many hotels safely.</a:t>
            </a:r>
            <a:endParaRPr lang="en-US" sz="1250" dirty="0"/>
          </a:p>
        </p:txBody>
      </p:sp>
      <p:sp>
        <p:nvSpPr>
          <p:cNvPr id="32" name="Shape 30"/>
          <p:cNvSpPr/>
          <p:nvPr/>
        </p:nvSpPr>
        <p:spPr>
          <a:xfrm>
            <a:off x="5623560" y="5897880"/>
            <a:ext cx="5742432" cy="0"/>
          </a:xfrm>
          <a:prstGeom prst="line">
            <a:avLst/>
          </a:prstGeom>
          <a:noFill/>
          <a:ln w="9525">
            <a:solidFill>
              <a:srgbClr val="E5E7EB"/>
            </a:solidFill>
            <a:prstDash val="solid"/>
          </a:ln>
        </p:spPr>
      </p:sp>
      <p:sp>
        <p:nvSpPr>
          <p:cNvPr id="25" name="Slide Number Placeholder 0"/>
          <p:cNvSpPr>
            <a:spLocks noGrp="1"/>
          </p:cNvSpPr>
          <p:nvPr>
            <p:ph type="sldNum" sz="quarter" idx="4294967295"/>
          </p:nvPr>
        </p:nvSpPr>
        <p:spPr>
          <a:xfrm>
            <a:off x="10972800" y="6355080"/>
            <a:ext cx="393192"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CA3AF"/>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822960" y="640080"/>
            <a:ext cx="8229600" cy="274320"/>
          </a:xfrm>
          <a:prstGeom prst="rect">
            <a:avLst/>
          </a:prstGeom>
          <a:noFill/>
          <a:ln/>
        </p:spPr>
        <p:txBody>
          <a:bodyPr wrap="square" lIns="0" tIns="0" rIns="0" bIns="0" rtlCol="0" anchor="t"/>
          <a:lstStyle/>
          <a:p>
            <a:pPr indent="0" marL="0">
              <a:buNone/>
            </a:pPr>
            <a:r>
              <a:rPr lang="en-US" sz="1050" b="1" spc="300" kern="0" dirty="0">
                <a:solidFill>
                  <a:srgbClr val="4F46E5"/>
                </a:solidFill>
                <a:latin typeface="Segoe UI" pitchFamily="34" charset="0"/>
                <a:ea typeface="Segoe UI" pitchFamily="34" charset="-122"/>
                <a:cs typeface="Segoe UI" pitchFamily="34" charset="-120"/>
              </a:rPr>
              <a:t>THE SOLUTION</a:t>
            </a:r>
            <a:endParaRPr lang="en-US" sz="1050" dirty="0"/>
          </a:p>
        </p:txBody>
      </p:sp>
      <p:sp>
        <p:nvSpPr>
          <p:cNvPr id="3" name="Text 1"/>
          <p:cNvSpPr txBox="1"/>
          <p:nvPr/>
        </p:nvSpPr>
        <p:spPr>
          <a:xfrm>
            <a:off x="822960" y="914400"/>
            <a:ext cx="10545775" cy="822960"/>
          </a:xfrm>
          <a:prstGeom prst="rect">
            <a:avLst/>
          </a:prstGeom>
          <a:noFill/>
          <a:ln/>
        </p:spPr>
        <p:txBody>
          <a:bodyPr wrap="square" lIns="0" tIns="0" rIns="0" bIns="0" rtlCol="0" anchor="ctr"/>
          <a:lstStyle/>
          <a:p>
            <a:pPr indent="0" marL="0">
              <a:buNone/>
            </a:pPr>
            <a:r>
              <a:rPr lang="en-US" sz="3400" dirty="0">
                <a:solidFill>
                  <a:srgbClr val="0B0F19"/>
                </a:solidFill>
                <a:latin typeface="Segoe UI Semibold" pitchFamily="34" charset="0"/>
                <a:ea typeface="Segoe UI Semibold" pitchFamily="34" charset="-122"/>
                <a:cs typeface="Segoe UI Semibold" pitchFamily="34" charset="-120"/>
              </a:rPr>
              <a:t>One system. Five simple apps.</a:t>
            </a:r>
            <a:endParaRPr lang="en-US" sz="3400" dirty="0"/>
          </a:p>
        </p:txBody>
      </p:sp>
      <p:pic>
        <p:nvPicPr>
          <p:cNvPr id="4" name="Owner" descr="Owner">    </p:cNvPr>
          <p:cNvPicPr>
            <a:picLocks noChangeAspect="1"/>
          </p:cNvPicPr>
          <p:nvPr/>
        </p:nvPicPr>
        <p:blipFill>
          <a:blip r:embed="rId1"/>
          <a:stretch>
            <a:fillRect/>
          </a:stretch>
        </p:blipFill>
        <p:spPr>
          <a:xfrm>
            <a:off x="830925" y="1874520"/>
            <a:ext cx="3641670" cy="3429000"/>
          </a:xfrm>
          <a:prstGeom prst="rect">
            <a:avLst/>
          </a:prstGeom>
        </p:spPr>
      </p:pic>
      <p:sp>
        <p:nvSpPr>
          <p:cNvPr id="5" name="Text 2"/>
          <p:cNvSpPr txBox="1"/>
          <p:nvPr/>
        </p:nvSpPr>
        <p:spPr>
          <a:xfrm>
            <a:off x="822960" y="5440680"/>
            <a:ext cx="3657600" cy="320040"/>
          </a:xfrm>
          <a:prstGeom prst="rect">
            <a:avLst/>
          </a:prstGeom>
          <a:noFill/>
          <a:ln/>
        </p:spPr>
        <p:txBody>
          <a:bodyPr wrap="square" lIns="0" tIns="0" rIns="0" bIns="0" rtlCol="0" anchor="t"/>
          <a:lstStyle/>
          <a:p>
            <a:pPr indent="0" marL="0">
              <a:buNone/>
            </a:pPr>
            <a:r>
              <a:rPr lang="en-US" sz="1400" dirty="0">
                <a:solidFill>
                  <a:srgbClr val="0B0F19"/>
                </a:solidFill>
                <a:latin typeface="Segoe UI Semibold" pitchFamily="34" charset="0"/>
                <a:ea typeface="Segoe UI Semibold" pitchFamily="34" charset="-122"/>
                <a:cs typeface="Segoe UI Semibold" pitchFamily="34" charset="-120"/>
              </a:rPr>
              <a:t>Owner</a:t>
            </a:r>
            <a:endParaRPr lang="en-US" sz="1400" dirty="0"/>
          </a:p>
        </p:txBody>
      </p:sp>
      <p:sp>
        <p:nvSpPr>
          <p:cNvPr id="6" name="Text 3"/>
          <p:cNvSpPr txBox="1"/>
          <p:nvPr/>
        </p:nvSpPr>
        <p:spPr>
          <a:xfrm>
            <a:off x="822960" y="5760720"/>
            <a:ext cx="3657600" cy="320040"/>
          </a:xfrm>
          <a:prstGeom prst="rect">
            <a:avLst/>
          </a:prstGeom>
          <a:noFill/>
          <a:ln/>
        </p:spPr>
        <p:txBody>
          <a:bodyPr wrap="square" lIns="0" tIns="0" rIns="0" bIns="0" rtlCol="0" anchor="t"/>
          <a:lstStyle/>
          <a:p>
            <a:pPr indent="0" marL="0">
              <a:buNone/>
            </a:pPr>
            <a:r>
              <a:rPr lang="en-US" sz="1200" dirty="0">
                <a:solidFill>
                  <a:srgbClr val="4B5563"/>
                </a:solidFill>
                <a:latin typeface="Segoe UI" pitchFamily="34" charset="0"/>
                <a:ea typeface="Segoe UI" pitchFamily="34" charset="-122"/>
                <a:cs typeface="Segoe UI" pitchFamily="34" charset="-120"/>
              </a:rPr>
              <a:t>Is today OK? One look.</a:t>
            </a:r>
            <a:endParaRPr lang="en-US" sz="1200" dirty="0"/>
          </a:p>
        </p:txBody>
      </p:sp>
      <p:pic>
        <p:nvPicPr>
          <p:cNvPr id="7" name="Staff" descr="Staff">    </p:cNvPr>
          <p:cNvPicPr>
            <a:picLocks noChangeAspect="1"/>
          </p:cNvPicPr>
          <p:nvPr/>
        </p:nvPicPr>
        <p:blipFill>
          <a:blip r:embed="rId2"/>
          <a:stretch>
            <a:fillRect/>
          </a:stretch>
        </p:blipFill>
        <p:spPr>
          <a:xfrm>
            <a:off x="4663440" y="1922682"/>
            <a:ext cx="1691640" cy="3332675"/>
          </a:xfrm>
          <a:prstGeom prst="rect">
            <a:avLst/>
          </a:prstGeom>
        </p:spPr>
      </p:pic>
      <p:sp>
        <p:nvSpPr>
          <p:cNvPr id="8" name="Text 4"/>
          <p:cNvSpPr txBox="1"/>
          <p:nvPr/>
        </p:nvSpPr>
        <p:spPr>
          <a:xfrm>
            <a:off x="4663440" y="5440680"/>
            <a:ext cx="1691640" cy="320040"/>
          </a:xfrm>
          <a:prstGeom prst="rect">
            <a:avLst/>
          </a:prstGeom>
          <a:noFill/>
          <a:ln/>
        </p:spPr>
        <p:txBody>
          <a:bodyPr wrap="square" lIns="0" tIns="0" rIns="0" bIns="0" rtlCol="0" anchor="t"/>
          <a:lstStyle/>
          <a:p>
            <a:pPr indent="0" marL="0">
              <a:buNone/>
            </a:pPr>
            <a:r>
              <a:rPr lang="en-US" sz="1400" dirty="0">
                <a:solidFill>
                  <a:srgbClr val="0B0F19"/>
                </a:solidFill>
                <a:latin typeface="Segoe UI Semibold" pitchFamily="34" charset="0"/>
                <a:ea typeface="Segoe UI Semibold" pitchFamily="34" charset="-122"/>
                <a:cs typeface="Segoe UI Semibold" pitchFamily="34" charset="-120"/>
              </a:rPr>
              <a:t>Staff</a:t>
            </a:r>
            <a:endParaRPr lang="en-US" sz="1400" dirty="0"/>
          </a:p>
        </p:txBody>
      </p:sp>
      <p:sp>
        <p:nvSpPr>
          <p:cNvPr id="9" name="Text 5"/>
          <p:cNvSpPr txBox="1"/>
          <p:nvPr/>
        </p:nvSpPr>
        <p:spPr>
          <a:xfrm>
            <a:off x="4663440" y="5760720"/>
            <a:ext cx="1691640" cy="320040"/>
          </a:xfrm>
          <a:prstGeom prst="rect">
            <a:avLst/>
          </a:prstGeom>
          <a:noFill/>
          <a:ln/>
        </p:spPr>
        <p:txBody>
          <a:bodyPr wrap="square" lIns="0" tIns="0" rIns="0" bIns="0" rtlCol="0" anchor="t"/>
          <a:lstStyle/>
          <a:p>
            <a:pPr indent="0" marL="0">
              <a:buNone/>
            </a:pPr>
            <a:r>
              <a:rPr lang="en-US" sz="1200" dirty="0">
                <a:solidFill>
                  <a:srgbClr val="4B5563"/>
                </a:solidFill>
                <a:latin typeface="Segoe UI" pitchFamily="34" charset="0"/>
                <a:ea typeface="Segoe UI" pitchFamily="34" charset="-122"/>
                <a:cs typeface="Segoe UI" pitchFamily="34" charset="-120"/>
              </a:rPr>
              <a:t>Voice in Hindi, one tap.</a:t>
            </a:r>
            <a:endParaRPr lang="en-US" sz="1200" dirty="0"/>
          </a:p>
        </p:txBody>
      </p:sp>
      <p:pic>
        <p:nvPicPr>
          <p:cNvPr id="10" name="Guest" descr="Guest">    </p:cNvPr>
          <p:cNvPicPr>
            <a:picLocks noChangeAspect="1"/>
          </p:cNvPicPr>
          <p:nvPr/>
        </p:nvPicPr>
        <p:blipFill>
          <a:blip r:embed="rId3"/>
          <a:stretch>
            <a:fillRect/>
          </a:stretch>
        </p:blipFill>
        <p:spPr>
          <a:xfrm>
            <a:off x="6537960" y="1922682"/>
            <a:ext cx="1691640" cy="3332675"/>
          </a:xfrm>
          <a:prstGeom prst="rect">
            <a:avLst/>
          </a:prstGeom>
        </p:spPr>
      </p:pic>
      <p:sp>
        <p:nvSpPr>
          <p:cNvPr id="11" name="Text 6"/>
          <p:cNvSpPr txBox="1"/>
          <p:nvPr/>
        </p:nvSpPr>
        <p:spPr>
          <a:xfrm>
            <a:off x="6537960" y="5440680"/>
            <a:ext cx="1691640" cy="320040"/>
          </a:xfrm>
          <a:prstGeom prst="rect">
            <a:avLst/>
          </a:prstGeom>
          <a:noFill/>
          <a:ln/>
        </p:spPr>
        <p:txBody>
          <a:bodyPr wrap="square" lIns="0" tIns="0" rIns="0" bIns="0" rtlCol="0" anchor="t"/>
          <a:lstStyle/>
          <a:p>
            <a:pPr indent="0" marL="0">
              <a:buNone/>
            </a:pPr>
            <a:r>
              <a:rPr lang="en-US" sz="1400" dirty="0">
                <a:solidFill>
                  <a:srgbClr val="0B0F19"/>
                </a:solidFill>
                <a:latin typeface="Segoe UI Semibold" pitchFamily="34" charset="0"/>
                <a:ea typeface="Segoe UI Semibold" pitchFamily="34" charset="-122"/>
                <a:cs typeface="Segoe UI Semibold" pitchFamily="34" charset="-120"/>
              </a:rPr>
              <a:t>Guest</a:t>
            </a:r>
            <a:endParaRPr lang="en-US" sz="1400" dirty="0"/>
          </a:p>
        </p:txBody>
      </p:sp>
      <p:sp>
        <p:nvSpPr>
          <p:cNvPr id="12" name="Text 7"/>
          <p:cNvSpPr txBox="1"/>
          <p:nvPr/>
        </p:nvSpPr>
        <p:spPr>
          <a:xfrm>
            <a:off x="6537960" y="5760720"/>
            <a:ext cx="1691640" cy="320040"/>
          </a:xfrm>
          <a:prstGeom prst="rect">
            <a:avLst/>
          </a:prstGeom>
          <a:noFill/>
          <a:ln/>
        </p:spPr>
        <p:txBody>
          <a:bodyPr wrap="square" lIns="0" tIns="0" rIns="0" bIns="0" rtlCol="0" anchor="t"/>
          <a:lstStyle/>
          <a:p>
            <a:pPr indent="0" marL="0">
              <a:buNone/>
            </a:pPr>
            <a:r>
              <a:rPr lang="en-US" sz="1200" dirty="0">
                <a:solidFill>
                  <a:srgbClr val="4B5563"/>
                </a:solidFill>
                <a:latin typeface="Segoe UI" pitchFamily="34" charset="0"/>
                <a:ea typeface="Segoe UI" pitchFamily="34" charset="-122"/>
                <a:cs typeface="Segoe UI" pitchFamily="34" charset="-120"/>
              </a:rPr>
              <a:t>Scan the room QR, ask.</a:t>
            </a:r>
            <a:endParaRPr lang="en-US" sz="1200" dirty="0"/>
          </a:p>
        </p:txBody>
      </p:sp>
      <p:pic>
        <p:nvPicPr>
          <p:cNvPr id="13" name="Tourist &amp; state" descr="Tourist &amp; state">    </p:cNvPr>
          <p:cNvPicPr>
            <a:picLocks noChangeAspect="1"/>
          </p:cNvPicPr>
          <p:nvPr/>
        </p:nvPicPr>
        <p:blipFill>
          <a:blip r:embed="rId4"/>
          <a:stretch>
            <a:fillRect/>
          </a:stretch>
        </p:blipFill>
        <p:spPr>
          <a:xfrm>
            <a:off x="8412480" y="2532120"/>
            <a:ext cx="2971800" cy="2113800"/>
          </a:xfrm>
          <a:prstGeom prst="rect">
            <a:avLst/>
          </a:prstGeom>
        </p:spPr>
      </p:pic>
      <p:sp>
        <p:nvSpPr>
          <p:cNvPr id="14" name="Text 8"/>
          <p:cNvSpPr txBox="1"/>
          <p:nvPr/>
        </p:nvSpPr>
        <p:spPr>
          <a:xfrm>
            <a:off x="8412480" y="5440680"/>
            <a:ext cx="2971800" cy="320040"/>
          </a:xfrm>
          <a:prstGeom prst="rect">
            <a:avLst/>
          </a:prstGeom>
          <a:noFill/>
          <a:ln/>
        </p:spPr>
        <p:txBody>
          <a:bodyPr wrap="square" lIns="0" tIns="0" rIns="0" bIns="0" rtlCol="0" anchor="t"/>
          <a:lstStyle/>
          <a:p>
            <a:pPr indent="0" marL="0">
              <a:buNone/>
            </a:pPr>
            <a:r>
              <a:rPr lang="en-US" sz="1400" dirty="0">
                <a:solidFill>
                  <a:srgbClr val="0B0F19"/>
                </a:solidFill>
                <a:latin typeface="Segoe UI Semibold" pitchFamily="34" charset="0"/>
                <a:ea typeface="Segoe UI Semibold" pitchFamily="34" charset="-122"/>
                <a:cs typeface="Segoe UI Semibold" pitchFamily="34" charset="-120"/>
              </a:rPr>
              <a:t>Tourist &amp; state</a:t>
            </a:r>
            <a:endParaRPr lang="en-US" sz="1400" dirty="0"/>
          </a:p>
        </p:txBody>
      </p:sp>
      <p:sp>
        <p:nvSpPr>
          <p:cNvPr id="15" name="Text 9"/>
          <p:cNvSpPr txBox="1"/>
          <p:nvPr/>
        </p:nvSpPr>
        <p:spPr>
          <a:xfrm>
            <a:off x="8412480" y="5760720"/>
            <a:ext cx="2971800" cy="320040"/>
          </a:xfrm>
          <a:prstGeom prst="rect">
            <a:avLst/>
          </a:prstGeom>
          <a:noFill/>
          <a:ln/>
        </p:spPr>
        <p:txBody>
          <a:bodyPr wrap="square" lIns="0" tIns="0" rIns="0" bIns="0" rtlCol="0" anchor="t"/>
          <a:lstStyle/>
          <a:p>
            <a:pPr indent="0" marL="0">
              <a:buNone/>
            </a:pPr>
            <a:r>
              <a:rPr lang="en-US" sz="1200" dirty="0">
                <a:solidFill>
                  <a:srgbClr val="4B5563"/>
                </a:solidFill>
                <a:latin typeface="Segoe UI" pitchFamily="34" charset="0"/>
                <a:ea typeface="Segoe UI" pitchFamily="34" charset="-122"/>
                <a:cs typeface="Segoe UI" pitchFamily="34" charset="-120"/>
              </a:rPr>
              <a:t>Travel guide, crowds, jobs.</a:t>
            </a:r>
            <a:endParaRPr lang="en-US" sz="1200" dirty="0"/>
          </a:p>
        </p:txBody>
      </p:sp>
      <p:sp>
        <p:nvSpPr>
          <p:cNvPr id="25" name="Slide Number Placeholder 0"/>
          <p:cNvSpPr>
            <a:spLocks noGrp="1"/>
          </p:cNvSpPr>
          <p:nvPr>
            <p:ph type="sldNum" sz="quarter" idx="4294967295"/>
          </p:nvPr>
        </p:nvSpPr>
        <p:spPr>
          <a:xfrm>
            <a:off x="10972800" y="6355080"/>
            <a:ext cx="393192"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CA3AF"/>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822960" y="640080"/>
            <a:ext cx="8229600" cy="274320"/>
          </a:xfrm>
          <a:prstGeom prst="rect">
            <a:avLst/>
          </a:prstGeom>
          <a:noFill/>
          <a:ln/>
        </p:spPr>
        <p:txBody>
          <a:bodyPr wrap="square" lIns="0" tIns="0" rIns="0" bIns="0" rtlCol="0" anchor="t"/>
          <a:lstStyle/>
          <a:p>
            <a:pPr indent="0" marL="0">
              <a:buNone/>
            </a:pPr>
            <a:r>
              <a:rPr lang="en-US" sz="1050" b="1" spc="300" kern="0" dirty="0">
                <a:solidFill>
                  <a:srgbClr val="A5B4FC"/>
                </a:solidFill>
                <a:latin typeface="Segoe UI" pitchFamily="34" charset="0"/>
                <a:ea typeface="Segoe UI" pitchFamily="34" charset="-122"/>
                <a:cs typeface="Segoe UI" pitchFamily="34" charset="-120"/>
              </a:rPr>
              <a:t>PRODUCT DEMO · 2 MINUTES</a:t>
            </a:r>
            <a:endParaRPr lang="en-US" sz="1050" dirty="0"/>
          </a:p>
        </p:txBody>
      </p:sp>
      <p:sp>
        <p:nvSpPr>
          <p:cNvPr id="3" name="Text 1"/>
          <p:cNvSpPr txBox="1"/>
          <p:nvPr/>
        </p:nvSpPr>
        <p:spPr>
          <a:xfrm>
            <a:off x="822960" y="914400"/>
            <a:ext cx="10545775" cy="731520"/>
          </a:xfrm>
          <a:prstGeom prst="rect">
            <a:avLst/>
          </a:prstGeom>
          <a:noFill/>
          <a:ln/>
        </p:spPr>
        <p:txBody>
          <a:bodyPr wrap="square" lIns="0" tIns="0" rIns="0" bIns="0" rtlCol="0" anchor="ctr"/>
          <a:lstStyle/>
          <a:p>
            <a:pPr indent="0" marL="0">
              <a:buNone/>
            </a:pPr>
            <a:r>
              <a:rPr lang="en-US" sz="3000" dirty="0">
                <a:solidFill>
                  <a:srgbClr val="FFFFFF"/>
                </a:solidFill>
                <a:latin typeface="Segoe UI Semibold" pitchFamily="34" charset="0"/>
                <a:ea typeface="Segoe UI Semibold" pitchFamily="34" charset="-122"/>
                <a:cs typeface="Segoe UI Semibold" pitchFamily="34" charset="-120"/>
              </a:rPr>
              <a:t>One Saturday at a hotel, run by HOI</a:t>
            </a:r>
            <a:endParaRPr lang="en-US" sz="3000" dirty="0"/>
          </a:p>
        </p:txBody>
      </p:sp>
      <p:pic>
        <p:nvPicPr>
          <p:cNvPr id="4" name="Demo film cover" descr="Demo film cover">    </p:cNvPr>
          <p:cNvPicPr>
            <a:picLocks noChangeAspect="1"/>
          </p:cNvPicPr>
          <p:nvPr/>
        </p:nvPicPr>
        <p:blipFill>
          <a:blip r:embed="rId1"/>
          <a:stretch>
            <a:fillRect/>
          </a:stretch>
        </p:blipFill>
        <p:spPr>
          <a:xfrm>
            <a:off x="2163928" y="1783080"/>
            <a:ext cx="7863840" cy="4423410"/>
          </a:xfrm>
          <a:prstGeom prst="rect">
            <a:avLst/>
          </a:prstGeom>
        </p:spPr>
      </p:pic>
      <p:sp>
        <p:nvSpPr>
          <p:cNvPr id="5" name="Text 2"/>
          <p:cNvSpPr txBox="1"/>
          <p:nvPr/>
        </p:nvSpPr>
        <p:spPr>
          <a:xfrm>
            <a:off x="2163928" y="6343650"/>
            <a:ext cx="7863840" cy="274320"/>
          </a:xfrm>
          <a:prstGeom prst="rect">
            <a:avLst/>
          </a:prstGeom>
          <a:noFill/>
          <a:ln/>
        </p:spPr>
        <p:txBody>
          <a:bodyPr wrap="square" lIns="0" tIns="0" rIns="0" bIns="0" rtlCol="0" anchor="t"/>
          <a:lstStyle/>
          <a:p>
            <a:pPr algn="ctr" indent="0" marL="0">
              <a:buNone/>
            </a:pPr>
            <a:r>
              <a:rPr lang="en-US" sz="1100" dirty="0">
                <a:solidFill>
                  <a:srgbClr val="8B90B0"/>
                </a:solidFill>
                <a:latin typeface="Segoe UI" pitchFamily="34" charset="0"/>
                <a:ea typeface="Segoe UI" pitchFamily="34" charset="-122"/>
                <a:cs typeface="Segoe UI" pitchFamily="34" charset="-120"/>
              </a:rPr>
              <a:t>Recorded on the live apps · demo data</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822960" y="640080"/>
            <a:ext cx="8229600" cy="274320"/>
          </a:xfrm>
          <a:prstGeom prst="rect">
            <a:avLst/>
          </a:prstGeom>
          <a:noFill/>
          <a:ln/>
        </p:spPr>
        <p:txBody>
          <a:bodyPr wrap="square" lIns="0" tIns="0" rIns="0" bIns="0" rtlCol="0" anchor="t"/>
          <a:lstStyle/>
          <a:p>
            <a:pPr indent="0" marL="0">
              <a:buNone/>
            </a:pPr>
            <a:r>
              <a:rPr lang="en-US" sz="1050" b="1" spc="300" kern="0" dirty="0">
                <a:solidFill>
                  <a:srgbClr val="4F46E5"/>
                </a:solidFill>
                <a:latin typeface="Segoe UI" pitchFamily="34" charset="0"/>
                <a:ea typeface="Segoe UI" pitchFamily="34" charset="-122"/>
                <a:cs typeface="Segoe UI" pitchFamily="34" charset="-120"/>
              </a:rPr>
              <a:t>FOR THE STATE · ONE DATASET FOR THE ECOSYSTEM</a:t>
            </a:r>
            <a:endParaRPr lang="en-US" sz="1050" dirty="0"/>
          </a:p>
        </p:txBody>
      </p:sp>
      <p:sp>
        <p:nvSpPr>
          <p:cNvPr id="3" name="Text 1"/>
          <p:cNvSpPr txBox="1"/>
          <p:nvPr/>
        </p:nvSpPr>
        <p:spPr>
          <a:xfrm>
            <a:off x="822960" y="914400"/>
            <a:ext cx="10545775" cy="822960"/>
          </a:xfrm>
          <a:prstGeom prst="rect">
            <a:avLst/>
          </a:prstGeom>
          <a:noFill/>
          <a:ln/>
        </p:spPr>
        <p:txBody>
          <a:bodyPr wrap="square" lIns="0" tIns="0" rIns="0" bIns="0" rtlCol="0" anchor="ctr"/>
          <a:lstStyle/>
          <a:p>
            <a:pPr indent="0" marL="0">
              <a:buNone/>
            </a:pPr>
            <a:r>
              <a:rPr lang="en-US" sz="3400" dirty="0">
                <a:solidFill>
                  <a:srgbClr val="0B0F19"/>
                </a:solidFill>
                <a:latin typeface="Segoe UI Semibold" pitchFamily="34" charset="0"/>
                <a:ea typeface="Segoe UI Semibold" pitchFamily="34" charset="-122"/>
                <a:cs typeface="Segoe UI Semibold" pitchFamily="34" charset="-120"/>
              </a:rPr>
              <a:t>Every stay feeds one picture of tourism.</a:t>
            </a:r>
            <a:endParaRPr lang="en-US" sz="3400" dirty="0"/>
          </a:p>
        </p:txBody>
      </p:sp>
      <p:sp>
        <p:nvSpPr>
          <p:cNvPr id="4" name="Shape 2"/>
          <p:cNvSpPr/>
          <p:nvPr/>
        </p:nvSpPr>
        <p:spPr>
          <a:xfrm>
            <a:off x="822960" y="2103120"/>
            <a:ext cx="2331720" cy="530352"/>
          </a:xfrm>
          <a:prstGeom prst="roundRect">
            <a:avLst>
              <a:gd name="adj" fmla="val 13793"/>
            </a:avLst>
          </a:prstGeom>
          <a:solidFill>
            <a:srgbClr val="FFFFFF"/>
          </a:solidFill>
          <a:ln w="9525">
            <a:solidFill>
              <a:srgbClr val="E5E7EB"/>
            </a:solidFill>
            <a:prstDash val="solid"/>
          </a:ln>
        </p:spPr>
      </p:sp>
      <p:sp>
        <p:nvSpPr>
          <p:cNvPr id="5" name="Text 3"/>
          <p:cNvSpPr txBox="1"/>
          <p:nvPr/>
        </p:nvSpPr>
        <p:spPr>
          <a:xfrm>
            <a:off x="987552" y="2103120"/>
            <a:ext cx="2103120" cy="530352"/>
          </a:xfrm>
          <a:prstGeom prst="rect">
            <a:avLst/>
          </a:prstGeom>
          <a:noFill/>
          <a:ln/>
        </p:spPr>
        <p:txBody>
          <a:bodyPr wrap="square" lIns="0" tIns="0" rIns="0" bIns="0" rtlCol="0" anchor="ctr"/>
          <a:lstStyle/>
          <a:p>
            <a:pPr indent="0" marL="0">
              <a:buNone/>
            </a:pPr>
            <a:r>
              <a:rPr lang="en-US" sz="1250" dirty="0">
                <a:solidFill>
                  <a:srgbClr val="0B0F19"/>
                </a:solidFill>
                <a:latin typeface="Segoe UI" pitchFamily="34" charset="0"/>
                <a:ea typeface="Segoe UI" pitchFamily="34" charset="-122"/>
                <a:cs typeface="Segoe UI" pitchFamily="34" charset="-120"/>
              </a:rPr>
              <a:t>Hotels &amp; homestays</a:t>
            </a:r>
            <a:endParaRPr lang="en-US" sz="1250" dirty="0"/>
          </a:p>
        </p:txBody>
      </p:sp>
      <p:sp>
        <p:nvSpPr>
          <p:cNvPr id="6" name="Shape 4"/>
          <p:cNvSpPr/>
          <p:nvPr/>
        </p:nvSpPr>
        <p:spPr>
          <a:xfrm>
            <a:off x="3154680" y="2368296"/>
            <a:ext cx="868680" cy="1083564"/>
          </a:xfrm>
          <a:prstGeom prst="line">
            <a:avLst/>
          </a:prstGeom>
          <a:noFill/>
          <a:ln w="9525">
            <a:solidFill>
              <a:srgbClr val="C7CAD6"/>
            </a:solidFill>
            <a:prstDash val="solid"/>
          </a:ln>
        </p:spPr>
      </p:sp>
      <p:sp>
        <p:nvSpPr>
          <p:cNvPr id="7" name="Shape 5"/>
          <p:cNvSpPr/>
          <p:nvPr/>
        </p:nvSpPr>
        <p:spPr>
          <a:xfrm>
            <a:off x="822960" y="2816352"/>
            <a:ext cx="2331720" cy="530352"/>
          </a:xfrm>
          <a:prstGeom prst="roundRect">
            <a:avLst>
              <a:gd name="adj" fmla="val 13793"/>
            </a:avLst>
          </a:prstGeom>
          <a:solidFill>
            <a:srgbClr val="FFFFFF"/>
          </a:solidFill>
          <a:ln w="9525">
            <a:solidFill>
              <a:srgbClr val="E5E7EB"/>
            </a:solidFill>
            <a:prstDash val="solid"/>
          </a:ln>
        </p:spPr>
      </p:sp>
      <p:sp>
        <p:nvSpPr>
          <p:cNvPr id="8" name="Text 6"/>
          <p:cNvSpPr txBox="1"/>
          <p:nvPr/>
        </p:nvSpPr>
        <p:spPr>
          <a:xfrm>
            <a:off x="987552" y="2816352"/>
            <a:ext cx="2103120" cy="530352"/>
          </a:xfrm>
          <a:prstGeom prst="rect">
            <a:avLst/>
          </a:prstGeom>
          <a:noFill/>
          <a:ln/>
        </p:spPr>
        <p:txBody>
          <a:bodyPr wrap="square" lIns="0" tIns="0" rIns="0" bIns="0" rtlCol="0" anchor="ctr"/>
          <a:lstStyle/>
          <a:p>
            <a:pPr indent="0" marL="0">
              <a:buNone/>
            </a:pPr>
            <a:r>
              <a:rPr lang="en-US" sz="1250" dirty="0">
                <a:solidFill>
                  <a:srgbClr val="0B0F19"/>
                </a:solidFill>
                <a:latin typeface="Segoe UI" pitchFamily="34" charset="0"/>
                <a:ea typeface="Segoe UI" pitchFamily="34" charset="-122"/>
                <a:cs typeface="Segoe UI" pitchFamily="34" charset="-120"/>
              </a:rPr>
              <a:t>Local hosts &amp; guides</a:t>
            </a:r>
            <a:endParaRPr lang="en-US" sz="1250" dirty="0"/>
          </a:p>
        </p:txBody>
      </p:sp>
      <p:sp>
        <p:nvSpPr>
          <p:cNvPr id="9" name="Shape 7"/>
          <p:cNvSpPr/>
          <p:nvPr/>
        </p:nvSpPr>
        <p:spPr>
          <a:xfrm>
            <a:off x="3154680" y="3081528"/>
            <a:ext cx="868680" cy="370332"/>
          </a:xfrm>
          <a:prstGeom prst="line">
            <a:avLst/>
          </a:prstGeom>
          <a:noFill/>
          <a:ln w="9525">
            <a:solidFill>
              <a:srgbClr val="C7CAD6"/>
            </a:solidFill>
            <a:prstDash val="solid"/>
          </a:ln>
        </p:spPr>
      </p:sp>
      <p:sp>
        <p:nvSpPr>
          <p:cNvPr id="10" name="Shape 8"/>
          <p:cNvSpPr/>
          <p:nvPr/>
        </p:nvSpPr>
        <p:spPr>
          <a:xfrm>
            <a:off x="822960" y="3529584"/>
            <a:ext cx="2331720" cy="530352"/>
          </a:xfrm>
          <a:prstGeom prst="roundRect">
            <a:avLst>
              <a:gd name="adj" fmla="val 13793"/>
            </a:avLst>
          </a:prstGeom>
          <a:solidFill>
            <a:srgbClr val="FFFFFF"/>
          </a:solidFill>
          <a:ln w="9525">
            <a:solidFill>
              <a:srgbClr val="E5E7EB"/>
            </a:solidFill>
            <a:prstDash val="solid"/>
          </a:ln>
        </p:spPr>
      </p:sp>
      <p:sp>
        <p:nvSpPr>
          <p:cNvPr id="11" name="Text 9"/>
          <p:cNvSpPr txBox="1"/>
          <p:nvPr/>
        </p:nvSpPr>
        <p:spPr>
          <a:xfrm>
            <a:off x="987552" y="3529584"/>
            <a:ext cx="2103120" cy="530352"/>
          </a:xfrm>
          <a:prstGeom prst="rect">
            <a:avLst/>
          </a:prstGeom>
          <a:noFill/>
          <a:ln/>
        </p:spPr>
        <p:txBody>
          <a:bodyPr wrap="square" lIns="0" tIns="0" rIns="0" bIns="0" rtlCol="0" anchor="ctr"/>
          <a:lstStyle/>
          <a:p>
            <a:pPr indent="0" marL="0">
              <a:buNone/>
            </a:pPr>
            <a:r>
              <a:rPr lang="en-US" sz="1250" dirty="0">
                <a:solidFill>
                  <a:srgbClr val="0B0F19"/>
                </a:solidFill>
                <a:latin typeface="Segoe UI" pitchFamily="34" charset="0"/>
                <a:ea typeface="Segoe UI" pitchFamily="34" charset="-122"/>
                <a:cs typeface="Segoe UI" pitchFamily="34" charset="-120"/>
              </a:rPr>
              <a:t>Agencies &amp; job seekers</a:t>
            </a:r>
            <a:endParaRPr lang="en-US" sz="1250" dirty="0"/>
          </a:p>
        </p:txBody>
      </p:sp>
      <p:sp>
        <p:nvSpPr>
          <p:cNvPr id="12" name="Shape 10"/>
          <p:cNvSpPr/>
          <p:nvPr/>
        </p:nvSpPr>
        <p:spPr>
          <a:xfrm flipV="1">
            <a:off x="3154680" y="3451860"/>
            <a:ext cx="868680" cy="342900"/>
          </a:xfrm>
          <a:prstGeom prst="line">
            <a:avLst/>
          </a:prstGeom>
          <a:noFill/>
          <a:ln w="9525">
            <a:solidFill>
              <a:srgbClr val="C7CAD6"/>
            </a:solidFill>
            <a:prstDash val="solid"/>
          </a:ln>
        </p:spPr>
      </p:sp>
      <p:sp>
        <p:nvSpPr>
          <p:cNvPr id="13" name="Shape 11"/>
          <p:cNvSpPr/>
          <p:nvPr/>
        </p:nvSpPr>
        <p:spPr>
          <a:xfrm>
            <a:off x="822960" y="4242816"/>
            <a:ext cx="2331720" cy="530352"/>
          </a:xfrm>
          <a:prstGeom prst="roundRect">
            <a:avLst>
              <a:gd name="adj" fmla="val 13793"/>
            </a:avLst>
          </a:prstGeom>
          <a:solidFill>
            <a:srgbClr val="FFFFFF"/>
          </a:solidFill>
          <a:ln w="9525">
            <a:solidFill>
              <a:srgbClr val="E5E7EB"/>
            </a:solidFill>
            <a:prstDash val="solid"/>
          </a:ln>
        </p:spPr>
      </p:sp>
      <p:sp>
        <p:nvSpPr>
          <p:cNvPr id="14" name="Text 12"/>
          <p:cNvSpPr txBox="1"/>
          <p:nvPr/>
        </p:nvSpPr>
        <p:spPr>
          <a:xfrm>
            <a:off x="987552" y="4242816"/>
            <a:ext cx="2103120" cy="530352"/>
          </a:xfrm>
          <a:prstGeom prst="rect">
            <a:avLst/>
          </a:prstGeom>
          <a:noFill/>
          <a:ln/>
        </p:spPr>
        <p:txBody>
          <a:bodyPr wrap="square" lIns="0" tIns="0" rIns="0" bIns="0" rtlCol="0" anchor="ctr"/>
          <a:lstStyle/>
          <a:p>
            <a:pPr indent="0" marL="0">
              <a:buNone/>
            </a:pPr>
            <a:r>
              <a:rPr lang="en-US" sz="1250" dirty="0">
                <a:solidFill>
                  <a:srgbClr val="0B0F19"/>
                </a:solidFill>
                <a:latin typeface="Segoe UI" pitchFamily="34" charset="0"/>
                <a:ea typeface="Segoe UI" pitchFamily="34" charset="-122"/>
                <a:cs typeface="Segoe UI" pitchFamily="34" charset="-120"/>
              </a:rPr>
              <a:t>Tourists</a:t>
            </a:r>
            <a:endParaRPr lang="en-US" sz="1250" dirty="0"/>
          </a:p>
        </p:txBody>
      </p:sp>
      <p:sp>
        <p:nvSpPr>
          <p:cNvPr id="15" name="Shape 13"/>
          <p:cNvSpPr/>
          <p:nvPr/>
        </p:nvSpPr>
        <p:spPr>
          <a:xfrm flipV="1">
            <a:off x="3154680" y="3451860"/>
            <a:ext cx="868680" cy="1056132"/>
          </a:xfrm>
          <a:prstGeom prst="line">
            <a:avLst/>
          </a:prstGeom>
          <a:noFill/>
          <a:ln w="9525">
            <a:solidFill>
              <a:srgbClr val="C7CAD6"/>
            </a:solidFill>
            <a:prstDash val="solid"/>
          </a:ln>
        </p:spPr>
      </p:sp>
      <p:sp>
        <p:nvSpPr>
          <p:cNvPr id="16" name="Shape 14"/>
          <p:cNvSpPr/>
          <p:nvPr/>
        </p:nvSpPr>
        <p:spPr>
          <a:xfrm>
            <a:off x="4023360" y="2103120"/>
            <a:ext cx="2057400" cy="2697480"/>
          </a:xfrm>
          <a:prstGeom prst="roundRect">
            <a:avLst>
              <a:gd name="adj" fmla="val 4444"/>
            </a:avLst>
          </a:prstGeom>
          <a:solidFill>
            <a:srgbClr val="4F46E5"/>
          </a:solidFill>
          <a:ln/>
        </p:spPr>
      </p:sp>
      <p:sp>
        <p:nvSpPr>
          <p:cNvPr id="17" name="Text 15"/>
          <p:cNvSpPr txBox="1"/>
          <p:nvPr/>
        </p:nvSpPr>
        <p:spPr>
          <a:xfrm>
            <a:off x="4206240" y="2331720"/>
            <a:ext cx="1737360" cy="685800"/>
          </a:xfrm>
          <a:prstGeom prst="rect">
            <a:avLst/>
          </a:prstGeom>
          <a:noFill/>
          <a:ln/>
        </p:spPr>
        <p:txBody>
          <a:bodyPr wrap="square" lIns="0" tIns="0" rIns="0" bIns="0" rtlCol="0" anchor="t"/>
          <a:lstStyle/>
          <a:p>
            <a:pPr indent="0" marL="0">
              <a:buNone/>
            </a:pPr>
            <a:r>
              <a:rPr lang="en-US" sz="1600" dirty="0">
                <a:solidFill>
                  <a:srgbClr val="FFFFFF"/>
                </a:solidFill>
                <a:latin typeface="Segoe UI Semibold" pitchFamily="34" charset="0"/>
                <a:ea typeface="Segoe UI Semibold" pitchFamily="34" charset="-122"/>
                <a:cs typeface="Segoe UI Semibold" pitchFamily="34" charset="-120"/>
              </a:rPr>
              <a:t>HOI data layer</a:t>
            </a:r>
            <a:endParaRPr lang="en-US" sz="1600" dirty="0"/>
          </a:p>
        </p:txBody>
      </p:sp>
      <p:sp>
        <p:nvSpPr>
          <p:cNvPr id="18" name="Text 16"/>
          <p:cNvSpPr txBox="1"/>
          <p:nvPr/>
        </p:nvSpPr>
        <p:spPr>
          <a:xfrm>
            <a:off x="4206240" y="3108960"/>
            <a:ext cx="1737360" cy="1371600"/>
          </a:xfrm>
          <a:prstGeom prst="rect">
            <a:avLst/>
          </a:prstGeom>
          <a:noFill/>
          <a:ln/>
        </p:spPr>
        <p:txBody>
          <a:bodyPr wrap="square" lIns="0" tIns="0" rIns="0" bIns="0" rtlCol="0" anchor="t"/>
          <a:lstStyle/>
          <a:p>
            <a:pPr indent="0" marL="0">
              <a:buNone/>
            </a:pPr>
            <a:r>
              <a:rPr lang="en-US" sz="1150" dirty="0">
                <a:solidFill>
                  <a:srgbClr val="E0E7FF"/>
                </a:solidFill>
                <a:latin typeface="Segoe UI" pitchFamily="34" charset="0"/>
                <a:ea typeface="Segoe UI" pitchFamily="34" charset="-122"/>
                <a:cs typeface="Segoe UI" pitchFamily="34" charset="-120"/>
              </a:rPr>
              <a:t>Anonymised · businesses opt in · small groups hidden</a:t>
            </a:r>
            <a:endParaRPr lang="en-US" sz="1150" dirty="0"/>
          </a:p>
        </p:txBody>
      </p:sp>
      <p:sp>
        <p:nvSpPr>
          <p:cNvPr id="19" name="Shape 17"/>
          <p:cNvSpPr/>
          <p:nvPr/>
        </p:nvSpPr>
        <p:spPr>
          <a:xfrm>
            <a:off x="6080760" y="3456432"/>
            <a:ext cx="502920" cy="0"/>
          </a:xfrm>
          <a:prstGeom prst="line">
            <a:avLst/>
          </a:prstGeom>
          <a:noFill/>
          <a:ln w="15875">
            <a:solidFill>
              <a:srgbClr val="4F46E5"/>
            </a:solidFill>
            <a:prstDash val="solid"/>
            <a:tailEnd type="triangle"/>
          </a:ln>
        </p:spPr>
      </p:sp>
      <p:sp>
        <p:nvSpPr>
          <p:cNvPr id="20" name="Shape 18"/>
          <p:cNvSpPr/>
          <p:nvPr/>
        </p:nvSpPr>
        <p:spPr>
          <a:xfrm>
            <a:off x="6629400" y="2103120"/>
            <a:ext cx="1600200" cy="2697480"/>
          </a:xfrm>
          <a:prstGeom prst="roundRect">
            <a:avLst>
              <a:gd name="adj" fmla="val 5714"/>
            </a:avLst>
          </a:prstGeom>
          <a:solidFill>
            <a:srgbClr val="0B0F19"/>
          </a:solidFill>
          <a:ln/>
        </p:spPr>
      </p:sp>
      <p:sp>
        <p:nvSpPr>
          <p:cNvPr id="21" name="Text 19"/>
          <p:cNvSpPr txBox="1"/>
          <p:nvPr/>
        </p:nvSpPr>
        <p:spPr>
          <a:xfrm>
            <a:off x="6784848" y="2331720"/>
            <a:ext cx="1325880" cy="10058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State tourism portal</a:t>
            </a:r>
            <a:endParaRPr lang="en-US" sz="1500" dirty="0"/>
          </a:p>
        </p:txBody>
      </p:sp>
      <p:sp>
        <p:nvSpPr>
          <p:cNvPr id="22" name="Text 20"/>
          <p:cNvSpPr txBox="1"/>
          <p:nvPr/>
        </p:nvSpPr>
        <p:spPr>
          <a:xfrm>
            <a:off x="6784848" y="3383280"/>
            <a:ext cx="1325880" cy="1097280"/>
          </a:xfrm>
          <a:prstGeom prst="rect">
            <a:avLst/>
          </a:prstGeom>
          <a:noFill/>
          <a:ln/>
        </p:spPr>
        <p:txBody>
          <a:bodyPr wrap="square" lIns="0" tIns="0" rIns="0" bIns="0" rtlCol="0" anchor="t"/>
          <a:lstStyle/>
          <a:p>
            <a:pPr indent="0" marL="0">
              <a:buNone/>
            </a:pPr>
            <a:r>
              <a:rPr lang="en-US" sz="1150" dirty="0">
                <a:solidFill>
                  <a:srgbClr val="C7CBE0"/>
                </a:solidFill>
                <a:latin typeface="Segoe UI" pitchFamily="34" charset="0"/>
                <a:ea typeface="Segoe UI" pitchFamily="34" charset="-122"/>
                <a:cs typeface="Segoe UI" pitchFamily="34" charset="-120"/>
              </a:rPr>
              <a:t>Officials' dashboards and open data</a:t>
            </a:r>
            <a:endParaRPr lang="en-US" sz="1150" dirty="0"/>
          </a:p>
        </p:txBody>
      </p:sp>
      <p:sp>
        <p:nvSpPr>
          <p:cNvPr id="23" name="Text 21"/>
          <p:cNvSpPr txBox="1"/>
          <p:nvPr/>
        </p:nvSpPr>
        <p:spPr>
          <a:xfrm>
            <a:off x="822960" y="5074920"/>
            <a:ext cx="7406640" cy="457200"/>
          </a:xfrm>
          <a:prstGeom prst="rect">
            <a:avLst/>
          </a:prstGeom>
          <a:noFill/>
          <a:ln/>
        </p:spPr>
        <p:txBody>
          <a:bodyPr wrap="square" lIns="0" tIns="0" rIns="0" bIns="0" rtlCol="0" anchor="t"/>
          <a:lstStyle/>
          <a:p>
            <a:pPr indent="0" marL="0">
              <a:buNone/>
            </a:pPr>
            <a:r>
              <a:rPr lang="en-US" sz="1050" i="1" dirty="0">
                <a:solidFill>
                  <a:srgbClr val="9CA3AF"/>
                </a:solidFill>
                <a:latin typeface="Segoe UI" pitchFamily="34" charset="0"/>
                <a:ea typeface="Segoe UI" pitchFamily="34" charset="-122"/>
                <a:cs typeface="Segoe UI" pitchFamily="34" charset="-120"/>
              </a:rPr>
              <a:t>Integration with the official state portal is a proposal to discuss with the department.</a:t>
            </a:r>
            <a:endParaRPr lang="en-US" sz="1050" dirty="0"/>
          </a:p>
        </p:txBody>
      </p:sp>
      <p:sp>
        <p:nvSpPr>
          <p:cNvPr id="24" name="Shape 22"/>
          <p:cNvSpPr/>
          <p:nvPr/>
        </p:nvSpPr>
        <p:spPr>
          <a:xfrm>
            <a:off x="8549640" y="2057400"/>
            <a:ext cx="0" cy="3749040"/>
          </a:xfrm>
          <a:prstGeom prst="line">
            <a:avLst/>
          </a:prstGeom>
          <a:noFill/>
          <a:ln w="9525">
            <a:solidFill>
              <a:srgbClr val="E5E7EB"/>
            </a:solidFill>
            <a:prstDash val="solid"/>
          </a:ln>
        </p:spPr>
      </p:sp>
      <p:sp>
        <p:nvSpPr>
          <p:cNvPr id="25" name="Text 23"/>
          <p:cNvSpPr txBox="1"/>
          <p:nvPr/>
        </p:nvSpPr>
        <p:spPr>
          <a:xfrm>
            <a:off x="8869680" y="2057400"/>
            <a:ext cx="2560320" cy="274320"/>
          </a:xfrm>
          <a:prstGeom prst="rect">
            <a:avLst/>
          </a:prstGeom>
          <a:noFill/>
          <a:ln/>
        </p:spPr>
        <p:txBody>
          <a:bodyPr wrap="square" lIns="0" tIns="0" rIns="0" bIns="0" rtlCol="0" anchor="t"/>
          <a:lstStyle/>
          <a:p>
            <a:pPr indent="0" marL="0">
              <a:buNone/>
            </a:pPr>
            <a:r>
              <a:rPr lang="en-US" sz="1000" b="1" spc="200" kern="0" dirty="0">
                <a:solidFill>
                  <a:srgbClr val="16A34A"/>
                </a:solidFill>
                <a:latin typeface="Segoe UI" pitchFamily="34" charset="0"/>
                <a:ea typeface="Segoe UI" pitchFamily="34" charset="-122"/>
                <a:cs typeface="Segoe UI" pitchFamily="34" charset="-120"/>
              </a:rPr>
              <a:t>LIVE TODAY</a:t>
            </a:r>
            <a:endParaRPr lang="en-US" sz="1000" dirty="0"/>
          </a:p>
        </p:txBody>
      </p:sp>
      <p:sp>
        <p:nvSpPr>
          <p:cNvPr id="26" name="Shape 24"/>
          <p:cNvSpPr/>
          <p:nvPr/>
        </p:nvSpPr>
        <p:spPr>
          <a:xfrm>
            <a:off x="8869680" y="2487168"/>
            <a:ext cx="82296" cy="82296"/>
          </a:xfrm>
          <a:prstGeom prst="ellipse">
            <a:avLst/>
          </a:prstGeom>
          <a:solidFill>
            <a:srgbClr val="16A34A"/>
          </a:solidFill>
          <a:ln/>
        </p:spPr>
      </p:sp>
      <p:sp>
        <p:nvSpPr>
          <p:cNvPr id="27" name="Text 25"/>
          <p:cNvSpPr txBox="1"/>
          <p:nvPr/>
        </p:nvSpPr>
        <p:spPr>
          <a:xfrm>
            <a:off x="9070848" y="2395728"/>
            <a:ext cx="2377440" cy="292608"/>
          </a:xfrm>
          <a:prstGeom prst="rect">
            <a:avLst/>
          </a:prstGeom>
          <a:noFill/>
          <a:ln/>
        </p:spPr>
        <p:txBody>
          <a:bodyPr wrap="square" lIns="0" tIns="0" rIns="0" bIns="0" rtlCol="0" anchor="ctr"/>
          <a:lstStyle/>
          <a:p>
            <a:pPr indent="0" marL="0">
              <a:buNone/>
            </a:pPr>
            <a:r>
              <a:rPr lang="en-US" sz="1150" dirty="0">
                <a:solidFill>
                  <a:srgbClr val="0B0F19"/>
                </a:solidFill>
                <a:latin typeface="Segoe UI" pitchFamily="34" charset="0"/>
                <a:ea typeface="Segoe UI" pitchFamily="34" charset="-122"/>
                <a:cs typeface="Segoe UI" pitchFamily="34" charset="-120"/>
              </a:rPr>
              <a:t>Crowd forecast per destination</a:t>
            </a:r>
            <a:endParaRPr lang="en-US" sz="1150" dirty="0"/>
          </a:p>
        </p:txBody>
      </p:sp>
      <p:sp>
        <p:nvSpPr>
          <p:cNvPr id="28" name="Shape 26"/>
          <p:cNvSpPr/>
          <p:nvPr/>
        </p:nvSpPr>
        <p:spPr>
          <a:xfrm>
            <a:off x="8869680" y="2816352"/>
            <a:ext cx="82296" cy="82296"/>
          </a:xfrm>
          <a:prstGeom prst="ellipse">
            <a:avLst/>
          </a:prstGeom>
          <a:solidFill>
            <a:srgbClr val="16A34A"/>
          </a:solidFill>
          <a:ln/>
        </p:spPr>
      </p:sp>
      <p:sp>
        <p:nvSpPr>
          <p:cNvPr id="29" name="Text 27"/>
          <p:cNvSpPr txBox="1"/>
          <p:nvPr/>
        </p:nvSpPr>
        <p:spPr>
          <a:xfrm>
            <a:off x="9070848" y="2724912"/>
            <a:ext cx="2377440" cy="292608"/>
          </a:xfrm>
          <a:prstGeom prst="rect">
            <a:avLst/>
          </a:prstGeom>
          <a:noFill/>
          <a:ln/>
        </p:spPr>
        <p:txBody>
          <a:bodyPr wrap="square" lIns="0" tIns="0" rIns="0" bIns="0" rtlCol="0" anchor="ctr"/>
          <a:lstStyle/>
          <a:p>
            <a:pPr indent="0" marL="0">
              <a:buNone/>
            </a:pPr>
            <a:r>
              <a:rPr lang="en-US" sz="1150" dirty="0">
                <a:solidFill>
                  <a:srgbClr val="0B0F19"/>
                </a:solidFill>
                <a:latin typeface="Segoe UI" pitchFamily="34" charset="0"/>
                <a:ea typeface="Segoe UI" pitchFamily="34" charset="-122"/>
                <a:cs typeface="Segoe UI" pitchFamily="34" charset="-120"/>
              </a:rPr>
              <a:t>Hotel occupancy &amp; capacity</a:t>
            </a:r>
            <a:endParaRPr lang="en-US" sz="1150" dirty="0"/>
          </a:p>
        </p:txBody>
      </p:sp>
      <p:sp>
        <p:nvSpPr>
          <p:cNvPr id="30" name="Shape 28"/>
          <p:cNvSpPr/>
          <p:nvPr/>
        </p:nvSpPr>
        <p:spPr>
          <a:xfrm>
            <a:off x="8869680" y="3145536"/>
            <a:ext cx="82296" cy="82296"/>
          </a:xfrm>
          <a:prstGeom prst="ellipse">
            <a:avLst/>
          </a:prstGeom>
          <a:solidFill>
            <a:srgbClr val="16A34A"/>
          </a:solidFill>
          <a:ln/>
        </p:spPr>
      </p:sp>
      <p:sp>
        <p:nvSpPr>
          <p:cNvPr id="31" name="Text 29"/>
          <p:cNvSpPr txBox="1"/>
          <p:nvPr/>
        </p:nvSpPr>
        <p:spPr>
          <a:xfrm>
            <a:off x="9070848" y="3054096"/>
            <a:ext cx="2377440" cy="292608"/>
          </a:xfrm>
          <a:prstGeom prst="rect">
            <a:avLst/>
          </a:prstGeom>
          <a:noFill/>
          <a:ln/>
        </p:spPr>
        <p:txBody>
          <a:bodyPr wrap="square" lIns="0" tIns="0" rIns="0" bIns="0" rtlCol="0" anchor="ctr"/>
          <a:lstStyle/>
          <a:p>
            <a:pPr indent="0" marL="0">
              <a:buNone/>
            </a:pPr>
            <a:r>
              <a:rPr lang="en-US" sz="1150" dirty="0">
                <a:solidFill>
                  <a:srgbClr val="0B0F19"/>
                </a:solidFill>
                <a:latin typeface="Segoe UI" pitchFamily="34" charset="0"/>
                <a:ea typeface="Segoe UI" pitchFamily="34" charset="-122"/>
                <a:cs typeface="Segoe UI" pitchFamily="34" charset="-120"/>
              </a:rPr>
              <a:t>Registrations &amp; approvals</a:t>
            </a:r>
            <a:endParaRPr lang="en-US" sz="1150" dirty="0"/>
          </a:p>
        </p:txBody>
      </p:sp>
      <p:sp>
        <p:nvSpPr>
          <p:cNvPr id="32" name="Shape 30"/>
          <p:cNvSpPr/>
          <p:nvPr/>
        </p:nvSpPr>
        <p:spPr>
          <a:xfrm>
            <a:off x="8869680" y="3474720"/>
            <a:ext cx="82296" cy="82296"/>
          </a:xfrm>
          <a:prstGeom prst="ellipse">
            <a:avLst/>
          </a:prstGeom>
          <a:solidFill>
            <a:srgbClr val="16A34A"/>
          </a:solidFill>
          <a:ln/>
        </p:spPr>
      </p:sp>
      <p:sp>
        <p:nvSpPr>
          <p:cNvPr id="33" name="Text 31"/>
          <p:cNvSpPr txBox="1"/>
          <p:nvPr/>
        </p:nvSpPr>
        <p:spPr>
          <a:xfrm>
            <a:off x="9070848" y="3383280"/>
            <a:ext cx="2377440" cy="292608"/>
          </a:xfrm>
          <a:prstGeom prst="rect">
            <a:avLst/>
          </a:prstGeom>
          <a:noFill/>
          <a:ln/>
        </p:spPr>
        <p:txBody>
          <a:bodyPr wrap="square" lIns="0" tIns="0" rIns="0" bIns="0" rtlCol="0" anchor="ctr"/>
          <a:lstStyle/>
          <a:p>
            <a:pPr indent="0" marL="0">
              <a:buNone/>
            </a:pPr>
            <a:r>
              <a:rPr lang="en-US" sz="1150" dirty="0">
                <a:solidFill>
                  <a:srgbClr val="0B0F19"/>
                </a:solidFill>
                <a:latin typeface="Segoe UI" pitchFamily="34" charset="0"/>
                <a:ea typeface="Segoe UI" pitchFamily="34" charset="-122"/>
                <a:cs typeface="Segoe UI" pitchFamily="34" charset="-120"/>
              </a:rPr>
              <a:t>Complaints &amp; response times</a:t>
            </a:r>
            <a:endParaRPr lang="en-US" sz="1150" dirty="0"/>
          </a:p>
        </p:txBody>
      </p:sp>
      <p:sp>
        <p:nvSpPr>
          <p:cNvPr id="34" name="Shape 32"/>
          <p:cNvSpPr/>
          <p:nvPr/>
        </p:nvSpPr>
        <p:spPr>
          <a:xfrm>
            <a:off x="8869680" y="3803904"/>
            <a:ext cx="82296" cy="82296"/>
          </a:xfrm>
          <a:prstGeom prst="ellipse">
            <a:avLst/>
          </a:prstGeom>
          <a:solidFill>
            <a:srgbClr val="16A34A"/>
          </a:solidFill>
          <a:ln/>
        </p:spPr>
      </p:sp>
      <p:sp>
        <p:nvSpPr>
          <p:cNvPr id="35" name="Text 33"/>
          <p:cNvSpPr txBox="1"/>
          <p:nvPr/>
        </p:nvSpPr>
        <p:spPr>
          <a:xfrm>
            <a:off x="9070848" y="3712464"/>
            <a:ext cx="2377440" cy="292608"/>
          </a:xfrm>
          <a:prstGeom prst="rect">
            <a:avLst/>
          </a:prstGeom>
          <a:noFill/>
          <a:ln/>
        </p:spPr>
        <p:txBody>
          <a:bodyPr wrap="square" lIns="0" tIns="0" rIns="0" bIns="0" rtlCol="0" anchor="ctr"/>
          <a:lstStyle/>
          <a:p>
            <a:pPr indent="0" marL="0">
              <a:buNone/>
            </a:pPr>
            <a:r>
              <a:rPr lang="en-US" sz="1150" dirty="0">
                <a:solidFill>
                  <a:srgbClr val="0B0F19"/>
                </a:solidFill>
                <a:latin typeface="Segoe UI" pitchFamily="34" charset="0"/>
                <a:ea typeface="Segoe UI" pitchFamily="34" charset="-122"/>
                <a:cs typeface="Segoe UI" pitchFamily="34" charset="-120"/>
              </a:rPr>
              <a:t>Seasonal jobs &amp; staffing demand</a:t>
            </a:r>
            <a:endParaRPr lang="en-US" sz="1150" dirty="0"/>
          </a:p>
        </p:txBody>
      </p:sp>
      <p:sp>
        <p:nvSpPr>
          <p:cNvPr id="36" name="Shape 34"/>
          <p:cNvSpPr/>
          <p:nvPr/>
        </p:nvSpPr>
        <p:spPr>
          <a:xfrm>
            <a:off x="8869680" y="4133088"/>
            <a:ext cx="82296" cy="82296"/>
          </a:xfrm>
          <a:prstGeom prst="ellipse">
            <a:avLst/>
          </a:prstGeom>
          <a:solidFill>
            <a:srgbClr val="16A34A"/>
          </a:solidFill>
          <a:ln/>
        </p:spPr>
      </p:sp>
      <p:sp>
        <p:nvSpPr>
          <p:cNvPr id="37" name="Text 35"/>
          <p:cNvSpPr txBox="1"/>
          <p:nvPr/>
        </p:nvSpPr>
        <p:spPr>
          <a:xfrm>
            <a:off x="9070848" y="4041648"/>
            <a:ext cx="2377440" cy="292608"/>
          </a:xfrm>
          <a:prstGeom prst="rect">
            <a:avLst/>
          </a:prstGeom>
          <a:noFill/>
          <a:ln/>
        </p:spPr>
        <p:txBody>
          <a:bodyPr wrap="square" lIns="0" tIns="0" rIns="0" bIns="0" rtlCol="0" anchor="ctr"/>
          <a:lstStyle/>
          <a:p>
            <a:pPr indent="0" marL="0">
              <a:buNone/>
            </a:pPr>
            <a:r>
              <a:rPr lang="en-US" sz="1150" dirty="0">
                <a:solidFill>
                  <a:srgbClr val="0B0F19"/>
                </a:solidFill>
                <a:latin typeface="Segoe UI" pitchFamily="34" charset="0"/>
                <a:ea typeface="Segoe UI" pitchFamily="34" charset="-122"/>
                <a:cs typeface="Segoe UI" pitchFamily="34" charset="-120"/>
              </a:rPr>
              <a:t>Road alerts</a:t>
            </a:r>
            <a:endParaRPr lang="en-US" sz="1150" dirty="0"/>
          </a:p>
        </p:txBody>
      </p:sp>
      <p:sp>
        <p:nvSpPr>
          <p:cNvPr id="38" name="Text 36"/>
          <p:cNvSpPr txBox="1"/>
          <p:nvPr/>
        </p:nvSpPr>
        <p:spPr>
          <a:xfrm>
            <a:off x="8869680" y="4526280"/>
            <a:ext cx="2560320" cy="274320"/>
          </a:xfrm>
          <a:prstGeom prst="rect">
            <a:avLst/>
          </a:prstGeom>
          <a:noFill/>
          <a:ln/>
        </p:spPr>
        <p:txBody>
          <a:bodyPr wrap="square" lIns="0" tIns="0" rIns="0" bIns="0" rtlCol="0" anchor="t"/>
          <a:lstStyle/>
          <a:p>
            <a:pPr indent="0" marL="0">
              <a:buNone/>
            </a:pPr>
            <a:r>
              <a:rPr lang="en-US" sz="1000" b="1" spc="200" kern="0" dirty="0">
                <a:solidFill>
                  <a:srgbClr val="4F46E5"/>
                </a:solidFill>
                <a:latin typeface="Segoe UI" pitchFamily="34" charset="0"/>
                <a:ea typeface="Segoe UI" pitchFamily="34" charset="-122"/>
                <a:cs typeface="Segoe UI" pitchFamily="34" charset="-120"/>
              </a:rPr>
              <a:t>NEXT</a:t>
            </a:r>
            <a:endParaRPr lang="en-US" sz="1000" dirty="0"/>
          </a:p>
        </p:txBody>
      </p:sp>
      <p:sp>
        <p:nvSpPr>
          <p:cNvPr id="39" name="Shape 37"/>
          <p:cNvSpPr/>
          <p:nvPr/>
        </p:nvSpPr>
        <p:spPr>
          <a:xfrm>
            <a:off x="8869680" y="4937760"/>
            <a:ext cx="82296" cy="82296"/>
          </a:xfrm>
          <a:prstGeom prst="ellipse">
            <a:avLst/>
          </a:prstGeom>
          <a:solidFill>
            <a:srgbClr val="4F46E5"/>
          </a:solidFill>
          <a:ln/>
        </p:spPr>
      </p:sp>
      <p:sp>
        <p:nvSpPr>
          <p:cNvPr id="40" name="Text 38"/>
          <p:cNvSpPr txBox="1"/>
          <p:nvPr/>
        </p:nvSpPr>
        <p:spPr>
          <a:xfrm>
            <a:off x="9070848" y="4828032"/>
            <a:ext cx="2331720" cy="411480"/>
          </a:xfrm>
          <a:prstGeom prst="rect">
            <a:avLst/>
          </a:prstGeom>
          <a:noFill/>
          <a:ln/>
        </p:spPr>
        <p:txBody>
          <a:bodyPr wrap="square" lIns="0" tIns="0" rIns="0" bIns="0" rtlCol="0" anchor="t"/>
          <a:lstStyle/>
          <a:p>
            <a:pPr indent="0" marL="0">
              <a:buNone/>
            </a:pPr>
            <a:r>
              <a:rPr lang="en-US" sz="1150" dirty="0">
                <a:solidFill>
                  <a:srgbClr val="0B0F19"/>
                </a:solidFill>
                <a:latin typeface="Segoe UI" pitchFamily="34" charset="0"/>
                <a:ea typeface="Segoe UI" pitchFamily="34" charset="-122"/>
                <a:cs typeface="Segoe UI" pitchFamily="34" charset="-120"/>
              </a:rPr>
              <a:t>Money flow: tourism revenue by district (hotels opt in)</a:t>
            </a:r>
            <a:endParaRPr lang="en-US" sz="1150" dirty="0"/>
          </a:p>
        </p:txBody>
      </p:sp>
      <p:sp>
        <p:nvSpPr>
          <p:cNvPr id="41" name="Shape 39"/>
          <p:cNvSpPr/>
          <p:nvPr/>
        </p:nvSpPr>
        <p:spPr>
          <a:xfrm>
            <a:off x="8869680" y="5394960"/>
            <a:ext cx="82296" cy="82296"/>
          </a:xfrm>
          <a:prstGeom prst="ellipse">
            <a:avLst/>
          </a:prstGeom>
          <a:solidFill>
            <a:srgbClr val="4F46E5"/>
          </a:solidFill>
          <a:ln/>
        </p:spPr>
      </p:sp>
      <p:sp>
        <p:nvSpPr>
          <p:cNvPr id="42" name="Text 40"/>
          <p:cNvSpPr txBox="1"/>
          <p:nvPr/>
        </p:nvSpPr>
        <p:spPr>
          <a:xfrm>
            <a:off x="9070848" y="5285232"/>
            <a:ext cx="2331720" cy="411480"/>
          </a:xfrm>
          <a:prstGeom prst="rect">
            <a:avLst/>
          </a:prstGeom>
          <a:noFill/>
          <a:ln/>
        </p:spPr>
        <p:txBody>
          <a:bodyPr wrap="square" lIns="0" tIns="0" rIns="0" bIns="0" rtlCol="0" anchor="t"/>
          <a:lstStyle/>
          <a:p>
            <a:pPr indent="0" marL="0">
              <a:buNone/>
            </a:pPr>
            <a:r>
              <a:rPr lang="en-US" sz="1150" dirty="0">
                <a:solidFill>
                  <a:srgbClr val="0B0F19"/>
                </a:solidFill>
                <a:latin typeface="Segoe UI" pitchFamily="34" charset="0"/>
                <a:ea typeface="Segoe UI" pitchFamily="34" charset="-122"/>
                <a:cs typeface="Segoe UI" pitchFamily="34" charset="-120"/>
              </a:rPr>
              <a:t>Open anonymised data for planners</a:t>
            </a:r>
            <a:endParaRPr lang="en-US" sz="1150" dirty="0"/>
          </a:p>
        </p:txBody>
      </p:sp>
      <p:sp>
        <p:nvSpPr>
          <p:cNvPr id="25" name="Slide Number Placeholder 0"/>
          <p:cNvSpPr>
            <a:spLocks noGrp="1"/>
          </p:cNvSpPr>
          <p:nvPr>
            <p:ph type="sldNum" sz="quarter" idx="4294967295"/>
          </p:nvPr>
        </p:nvSpPr>
        <p:spPr>
          <a:xfrm>
            <a:off x="10972800" y="6355080"/>
            <a:ext cx="393192"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CA3AF"/>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822960" y="640080"/>
            <a:ext cx="8229600" cy="274320"/>
          </a:xfrm>
          <a:prstGeom prst="rect">
            <a:avLst/>
          </a:prstGeom>
          <a:noFill/>
          <a:ln/>
        </p:spPr>
        <p:txBody>
          <a:bodyPr wrap="square" lIns="0" tIns="0" rIns="0" bIns="0" rtlCol="0" anchor="t"/>
          <a:lstStyle/>
          <a:p>
            <a:pPr indent="0" marL="0">
              <a:buNone/>
            </a:pPr>
            <a:r>
              <a:rPr lang="en-US" sz="1050" b="1" spc="300" kern="0" dirty="0">
                <a:solidFill>
                  <a:srgbClr val="4F46E5"/>
                </a:solidFill>
                <a:latin typeface="Segoe UI" pitchFamily="34" charset="0"/>
                <a:ea typeface="Segoe UI" pitchFamily="34" charset="-122"/>
                <a:cs typeface="Segoe UI" pitchFamily="34" charset="-120"/>
              </a:rPr>
              <a:t>OUTCOME-DRIVEN · PREDICT, ACT, MEASURE</a:t>
            </a:r>
            <a:endParaRPr lang="en-US" sz="1050" dirty="0"/>
          </a:p>
        </p:txBody>
      </p:sp>
      <p:sp>
        <p:nvSpPr>
          <p:cNvPr id="3" name="Text 1"/>
          <p:cNvSpPr txBox="1"/>
          <p:nvPr/>
        </p:nvSpPr>
        <p:spPr>
          <a:xfrm>
            <a:off x="822960" y="914400"/>
            <a:ext cx="10545775" cy="822960"/>
          </a:xfrm>
          <a:prstGeom prst="rect">
            <a:avLst/>
          </a:prstGeom>
          <a:noFill/>
          <a:ln/>
        </p:spPr>
        <p:txBody>
          <a:bodyPr wrap="square" lIns="0" tIns="0" rIns="0" bIns="0" rtlCol="0" anchor="ctr"/>
          <a:lstStyle/>
          <a:p>
            <a:pPr indent="0" marL="0">
              <a:buNone/>
            </a:pPr>
            <a:r>
              <a:rPr lang="en-US" sz="3400" dirty="0">
                <a:solidFill>
                  <a:srgbClr val="0B0F19"/>
                </a:solidFill>
                <a:latin typeface="Segoe UI Semibold" pitchFamily="34" charset="0"/>
                <a:ea typeface="Segoe UI Semibold" pitchFamily="34" charset="-122"/>
                <a:cs typeface="Segoe UI Semibold" pitchFamily="34" charset="-120"/>
              </a:rPr>
              <a:t>Predictions that turn into actions.</a:t>
            </a:r>
            <a:endParaRPr lang="en-US" sz="3400" dirty="0"/>
          </a:p>
        </p:txBody>
      </p:sp>
      <p:graphicFrame>
        <p:nvGraphicFramePr>
          <p:cNvPr id="4" name="Chart 0" descr=""/>
          <p:cNvGraphicFramePr/>
          <p:nvPr/>
        </p:nvGraphicFramePr>
        <p:xfrm>
          <a:off x="731520" y="1874520"/>
          <a:ext cx="4846320" cy="35661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22960" y="5486400"/>
            <a:ext cx="4572000" cy="274320"/>
          </a:xfrm>
          <a:prstGeom prst="rect">
            <a:avLst/>
          </a:prstGeom>
          <a:noFill/>
          <a:ln/>
        </p:spPr>
        <p:txBody>
          <a:bodyPr wrap="square" lIns="0" tIns="0" rIns="0" bIns="0" rtlCol="0" anchor="t"/>
          <a:lstStyle/>
          <a:p>
            <a:pPr indent="0" marL="0">
              <a:buNone/>
            </a:pPr>
            <a:r>
              <a:rPr lang="en-US" sz="950" dirty="0">
                <a:solidFill>
                  <a:srgbClr val="9CA3AF"/>
                </a:solidFill>
                <a:latin typeface="Segoe UI" pitchFamily="34" charset="0"/>
                <a:ea typeface="Segoe UI" pitchFamily="34" charset="-122"/>
                <a:cs typeface="Segoe UI" pitchFamily="34" charset="-120"/>
              </a:rPr>
              <a:t>Public Hotel Booking Demand data, two Portuguese hotels</a:t>
            </a:r>
            <a:endParaRPr lang="en-US" sz="950" dirty="0"/>
          </a:p>
        </p:txBody>
      </p:sp>
      <p:sp>
        <p:nvSpPr>
          <p:cNvPr id="6" name="Shape 3"/>
          <p:cNvSpPr/>
          <p:nvPr/>
        </p:nvSpPr>
        <p:spPr>
          <a:xfrm>
            <a:off x="6035040" y="1920240"/>
            <a:ext cx="0" cy="3931920"/>
          </a:xfrm>
          <a:prstGeom prst="line">
            <a:avLst/>
          </a:prstGeom>
          <a:noFill/>
          <a:ln w="9525">
            <a:solidFill>
              <a:srgbClr val="E5E7EB"/>
            </a:solidFill>
            <a:prstDash val="solid"/>
          </a:ln>
        </p:spPr>
      </p:sp>
      <p:sp>
        <p:nvSpPr>
          <p:cNvPr id="7" name="Text 4"/>
          <p:cNvSpPr txBox="1"/>
          <p:nvPr/>
        </p:nvSpPr>
        <p:spPr>
          <a:xfrm>
            <a:off x="6400800" y="1920240"/>
            <a:ext cx="2011680" cy="502920"/>
          </a:xfrm>
          <a:prstGeom prst="rect">
            <a:avLst/>
          </a:prstGeom>
          <a:noFill/>
          <a:ln/>
        </p:spPr>
        <p:txBody>
          <a:bodyPr wrap="square" lIns="0" tIns="0" rIns="0" bIns="0" rtlCol="0" anchor="t"/>
          <a:lstStyle/>
          <a:p>
            <a:pPr indent="0" marL="0">
              <a:buNone/>
            </a:pPr>
            <a:r>
              <a:rPr lang="en-US" sz="2600" dirty="0">
                <a:solidFill>
                  <a:srgbClr val="4F46E5"/>
                </a:solidFill>
                <a:latin typeface="Segoe UI Semibold" pitchFamily="34" charset="0"/>
                <a:ea typeface="Segoe UI Semibold" pitchFamily="34" charset="-122"/>
                <a:cs typeface="Segoe UI Semibold" pitchFamily="34" charset="-120"/>
              </a:rPr>
              <a:t>−83%</a:t>
            </a:r>
            <a:endParaRPr lang="en-US" sz="2600" dirty="0"/>
          </a:p>
        </p:txBody>
      </p:sp>
      <p:sp>
        <p:nvSpPr>
          <p:cNvPr id="8" name="Text 5"/>
          <p:cNvSpPr txBox="1"/>
          <p:nvPr/>
        </p:nvSpPr>
        <p:spPr>
          <a:xfrm>
            <a:off x="6400800" y="2450592"/>
            <a:ext cx="2011680" cy="548640"/>
          </a:xfrm>
          <a:prstGeom prst="rect">
            <a:avLst/>
          </a:prstGeom>
          <a:noFill/>
          <a:ln/>
        </p:spPr>
        <p:txBody>
          <a:bodyPr wrap="square" lIns="0" tIns="0" rIns="0" bIns="0" rtlCol="0" anchor="t"/>
          <a:lstStyle/>
          <a:p>
            <a:pPr indent="0" marL="0">
              <a:buNone/>
            </a:pPr>
            <a:r>
              <a:rPr lang="en-US" sz="1100" dirty="0">
                <a:solidFill>
                  <a:srgbClr val="4B5563"/>
                </a:solidFill>
                <a:latin typeface="Segoe UI" pitchFamily="34" charset="0"/>
                <a:ea typeface="Segoe UI" pitchFamily="34" charset="-122"/>
                <a:cs typeface="Segoe UI" pitchFamily="34" charset="-120"/>
              </a:rPr>
              <a:t>forecast error a day ahead</a:t>
            </a:r>
            <a:endParaRPr lang="en-US" sz="1100" dirty="0"/>
          </a:p>
        </p:txBody>
      </p:sp>
      <p:sp>
        <p:nvSpPr>
          <p:cNvPr id="9" name="Text 6"/>
          <p:cNvSpPr txBox="1"/>
          <p:nvPr/>
        </p:nvSpPr>
        <p:spPr>
          <a:xfrm>
            <a:off x="8549640" y="1956816"/>
            <a:ext cx="2834640" cy="685800"/>
          </a:xfrm>
          <a:prstGeom prst="rect">
            <a:avLst/>
          </a:prstGeom>
          <a:noFill/>
          <a:ln/>
        </p:spPr>
        <p:txBody>
          <a:bodyPr wrap="square" lIns="0" tIns="0" rIns="0" bIns="0" rtlCol="0" anchor="t"/>
          <a:lstStyle/>
          <a:p>
            <a:pPr indent="0" marL="0">
              <a:buNone/>
            </a:pPr>
            <a:r>
              <a:rPr lang="en-US" sz="1250" dirty="0">
                <a:solidFill>
                  <a:srgbClr val="0B0F19"/>
                </a:solidFill>
                <a:latin typeface="Segoe UI" pitchFamily="34" charset="0"/>
                <a:ea typeface="Segoe UI" pitchFamily="34" charset="-122"/>
                <a:cs typeface="Segoe UI" pitchFamily="34" charset="-120"/>
              </a:rPr>
              <a:t>Shifts planned from the forecast; agencies asked before the rush.</a:t>
            </a:r>
            <a:endParaRPr lang="en-US" sz="1250" dirty="0"/>
          </a:p>
        </p:txBody>
      </p:sp>
      <p:sp>
        <p:nvSpPr>
          <p:cNvPr id="10" name="Text 7"/>
          <p:cNvSpPr txBox="1"/>
          <p:nvPr/>
        </p:nvSpPr>
        <p:spPr>
          <a:xfrm>
            <a:off x="8549640" y="2670048"/>
            <a:ext cx="2834640" cy="320040"/>
          </a:xfrm>
          <a:prstGeom prst="rect">
            <a:avLst/>
          </a:prstGeom>
          <a:noFill/>
          <a:ln/>
        </p:spPr>
        <p:txBody>
          <a:bodyPr wrap="square" lIns="0" tIns="0" rIns="0" bIns="0" rtlCol="0" anchor="t"/>
          <a:lstStyle/>
          <a:p>
            <a:pPr indent="0" marL="0">
              <a:buNone/>
            </a:pPr>
            <a:r>
              <a:rPr lang="en-US" sz="1050" dirty="0">
                <a:solidFill>
                  <a:srgbClr val="9CA3AF"/>
                </a:solidFill>
                <a:latin typeface="Segoe UI" pitchFamily="34" charset="0"/>
                <a:ea typeface="Segoe UI" pitchFamily="34" charset="-122"/>
                <a:cs typeface="Segoe UI" pitchFamily="34" charset="-120"/>
              </a:rPr>
              <a:t>Measured by: Hours short, overtime</a:t>
            </a:r>
            <a:endParaRPr lang="en-US" sz="1050" dirty="0"/>
          </a:p>
        </p:txBody>
      </p:sp>
      <p:sp>
        <p:nvSpPr>
          <p:cNvPr id="11" name="Shape 8"/>
          <p:cNvSpPr/>
          <p:nvPr/>
        </p:nvSpPr>
        <p:spPr>
          <a:xfrm>
            <a:off x="6400800" y="3108960"/>
            <a:ext cx="4965192" cy="0"/>
          </a:xfrm>
          <a:prstGeom prst="line">
            <a:avLst/>
          </a:prstGeom>
          <a:noFill/>
          <a:ln w="9525">
            <a:solidFill>
              <a:srgbClr val="E5E7EB"/>
            </a:solidFill>
            <a:prstDash val="solid"/>
          </a:ln>
        </p:spPr>
      </p:sp>
      <p:sp>
        <p:nvSpPr>
          <p:cNvPr id="12" name="Text 9"/>
          <p:cNvSpPr txBox="1"/>
          <p:nvPr/>
        </p:nvSpPr>
        <p:spPr>
          <a:xfrm>
            <a:off x="6400800" y="3246120"/>
            <a:ext cx="2011680" cy="502920"/>
          </a:xfrm>
          <a:prstGeom prst="rect">
            <a:avLst/>
          </a:prstGeom>
          <a:noFill/>
          <a:ln/>
        </p:spPr>
        <p:txBody>
          <a:bodyPr wrap="square" lIns="0" tIns="0" rIns="0" bIns="0" rtlCol="0" anchor="t"/>
          <a:lstStyle/>
          <a:p>
            <a:pPr indent="0" marL="0">
              <a:buNone/>
            </a:pPr>
            <a:r>
              <a:rPr lang="en-US" sz="2600" dirty="0">
                <a:solidFill>
                  <a:srgbClr val="4F46E5"/>
                </a:solidFill>
                <a:latin typeface="Segoe UI Semibold" pitchFamily="34" charset="0"/>
                <a:ea typeface="Segoe UI Semibold" pitchFamily="34" charset="-122"/>
                <a:cs typeface="Segoe UI Semibold" pitchFamily="34" charset="-120"/>
              </a:rPr>
              <a:t>66% vs 55%</a:t>
            </a:r>
            <a:endParaRPr lang="en-US" sz="2600" dirty="0"/>
          </a:p>
        </p:txBody>
      </p:sp>
      <p:sp>
        <p:nvSpPr>
          <p:cNvPr id="13" name="Text 10"/>
          <p:cNvSpPr txBox="1"/>
          <p:nvPr/>
        </p:nvSpPr>
        <p:spPr>
          <a:xfrm>
            <a:off x="6400800" y="3776472"/>
            <a:ext cx="2011680" cy="548640"/>
          </a:xfrm>
          <a:prstGeom prst="rect">
            <a:avLst/>
          </a:prstGeom>
          <a:noFill/>
          <a:ln/>
        </p:spPr>
        <p:txBody>
          <a:bodyPr wrap="square" lIns="0" tIns="0" rIns="0" bIns="0" rtlCol="0" anchor="t"/>
          <a:lstStyle/>
          <a:p>
            <a:pPr indent="0" marL="0">
              <a:buNone/>
            </a:pPr>
            <a:r>
              <a:rPr lang="en-US" sz="1100" dirty="0">
                <a:solidFill>
                  <a:srgbClr val="4B5563"/>
                </a:solidFill>
                <a:latin typeface="Segoe UI" pitchFamily="34" charset="0"/>
                <a:ea typeface="Segoe UI" pitchFamily="34" charset="-122"/>
                <a:cs typeface="Segoe UI" pitchFamily="34" charset="-120"/>
              </a:rPr>
              <a:t>who may leave, model vs checklist</a:t>
            </a:r>
            <a:endParaRPr lang="en-US" sz="1100" dirty="0"/>
          </a:p>
        </p:txBody>
      </p:sp>
      <p:sp>
        <p:nvSpPr>
          <p:cNvPr id="14" name="Text 11"/>
          <p:cNvSpPr txBox="1"/>
          <p:nvPr/>
        </p:nvSpPr>
        <p:spPr>
          <a:xfrm>
            <a:off x="8549640" y="3282696"/>
            <a:ext cx="2834640" cy="685800"/>
          </a:xfrm>
          <a:prstGeom prst="rect">
            <a:avLst/>
          </a:prstGeom>
          <a:noFill/>
          <a:ln/>
        </p:spPr>
        <p:txBody>
          <a:bodyPr wrap="square" lIns="0" tIns="0" rIns="0" bIns="0" rtlCol="0" anchor="t"/>
          <a:lstStyle/>
          <a:p>
            <a:pPr indent="0" marL="0">
              <a:buNone/>
            </a:pPr>
            <a:r>
              <a:rPr lang="en-US" sz="1250" dirty="0">
                <a:solidFill>
                  <a:srgbClr val="0B0F19"/>
                </a:solidFill>
                <a:latin typeface="Segoe UI" pitchFamily="34" charset="0"/>
                <a:ea typeface="Segoe UI" pitchFamily="34" charset="-122"/>
                <a:cs typeface="Segoe UI" pitchFamily="34" charset="-120"/>
              </a:rPr>
              <a:t>Talking points; matching people from the state jobs board.</a:t>
            </a:r>
            <a:endParaRPr lang="en-US" sz="1250" dirty="0"/>
          </a:p>
        </p:txBody>
      </p:sp>
      <p:sp>
        <p:nvSpPr>
          <p:cNvPr id="15" name="Text 12"/>
          <p:cNvSpPr txBox="1"/>
          <p:nvPr/>
        </p:nvSpPr>
        <p:spPr>
          <a:xfrm>
            <a:off x="8549640" y="3995928"/>
            <a:ext cx="2834640" cy="320040"/>
          </a:xfrm>
          <a:prstGeom prst="rect">
            <a:avLst/>
          </a:prstGeom>
          <a:noFill/>
          <a:ln/>
        </p:spPr>
        <p:txBody>
          <a:bodyPr wrap="square" lIns="0" tIns="0" rIns="0" bIns="0" rtlCol="0" anchor="t"/>
          <a:lstStyle/>
          <a:p>
            <a:pPr indent="0" marL="0">
              <a:buNone/>
            </a:pPr>
            <a:r>
              <a:rPr lang="en-US" sz="1050" dirty="0">
                <a:solidFill>
                  <a:srgbClr val="9CA3AF"/>
                </a:solidFill>
                <a:latin typeface="Segoe UI" pitchFamily="34" charset="0"/>
                <a:ea typeface="Segoe UI" pitchFamily="34" charset="-122"/>
                <a:cs typeface="Segoe UI" pitchFamily="34" charset="-120"/>
              </a:rPr>
              <a:t>Measured by: Check-ins, leavers in peak</a:t>
            </a:r>
            <a:endParaRPr lang="en-US" sz="1050" dirty="0"/>
          </a:p>
        </p:txBody>
      </p:sp>
      <p:sp>
        <p:nvSpPr>
          <p:cNvPr id="16" name="Shape 13"/>
          <p:cNvSpPr/>
          <p:nvPr/>
        </p:nvSpPr>
        <p:spPr>
          <a:xfrm>
            <a:off x="6400800" y="4434840"/>
            <a:ext cx="4965192" cy="0"/>
          </a:xfrm>
          <a:prstGeom prst="line">
            <a:avLst/>
          </a:prstGeom>
          <a:noFill/>
          <a:ln w="9525">
            <a:solidFill>
              <a:srgbClr val="E5E7EB"/>
            </a:solidFill>
            <a:prstDash val="solid"/>
          </a:ln>
        </p:spPr>
      </p:sp>
      <p:sp>
        <p:nvSpPr>
          <p:cNvPr id="17" name="Text 14"/>
          <p:cNvSpPr txBox="1"/>
          <p:nvPr/>
        </p:nvSpPr>
        <p:spPr>
          <a:xfrm>
            <a:off x="6400800" y="4572000"/>
            <a:ext cx="2011680" cy="502920"/>
          </a:xfrm>
          <a:prstGeom prst="rect">
            <a:avLst/>
          </a:prstGeom>
          <a:noFill/>
          <a:ln/>
        </p:spPr>
        <p:txBody>
          <a:bodyPr wrap="square" lIns="0" tIns="0" rIns="0" bIns="0" rtlCol="0" anchor="t"/>
          <a:lstStyle/>
          <a:p>
            <a:pPr indent="0" marL="0">
              <a:buNone/>
            </a:pPr>
            <a:r>
              <a:rPr lang="en-US" sz="2600" dirty="0">
                <a:solidFill>
                  <a:srgbClr val="4F46E5"/>
                </a:solidFill>
                <a:latin typeface="Segoe UI Semibold" pitchFamily="34" charset="0"/>
                <a:ea typeface="Segoe UI Semibold" pitchFamily="34" charset="-122"/>
                <a:cs typeface="Segoe UI Semibold" pitchFamily="34" charset="-120"/>
              </a:rPr>
              <a:t>3 matches</a:t>
            </a:r>
            <a:endParaRPr lang="en-US" sz="2600" dirty="0"/>
          </a:p>
        </p:txBody>
      </p:sp>
      <p:sp>
        <p:nvSpPr>
          <p:cNvPr id="18" name="Text 15"/>
          <p:cNvSpPr txBox="1"/>
          <p:nvPr/>
        </p:nvSpPr>
        <p:spPr>
          <a:xfrm>
            <a:off x="6400800" y="5102352"/>
            <a:ext cx="2011680" cy="548640"/>
          </a:xfrm>
          <a:prstGeom prst="rect">
            <a:avLst/>
          </a:prstGeom>
          <a:noFill/>
          <a:ln/>
        </p:spPr>
        <p:txBody>
          <a:bodyPr wrap="square" lIns="0" tIns="0" rIns="0" bIns="0" rtlCol="0" anchor="t"/>
          <a:lstStyle/>
          <a:p>
            <a:pPr indent="0" marL="0">
              <a:buNone/>
            </a:pPr>
            <a:r>
              <a:rPr lang="en-US" sz="1100" dirty="0">
                <a:solidFill>
                  <a:srgbClr val="4B5563"/>
                </a:solidFill>
                <a:latin typeface="Segoe UI" pitchFamily="34" charset="0"/>
                <a:ea typeface="Segoe UI" pitchFamily="34" charset="-122"/>
                <a:cs typeface="Segoe UI" pitchFamily="34" charset="-120"/>
              </a:rPr>
              <a:t>found live for the demo hotel</a:t>
            </a:r>
            <a:endParaRPr lang="en-US" sz="1100" dirty="0"/>
          </a:p>
        </p:txBody>
      </p:sp>
      <p:sp>
        <p:nvSpPr>
          <p:cNvPr id="19" name="Text 16"/>
          <p:cNvSpPr txBox="1"/>
          <p:nvPr/>
        </p:nvSpPr>
        <p:spPr>
          <a:xfrm>
            <a:off x="8549640" y="4608576"/>
            <a:ext cx="2834640" cy="685800"/>
          </a:xfrm>
          <a:prstGeom prst="rect">
            <a:avLst/>
          </a:prstGeom>
          <a:noFill/>
          <a:ln/>
        </p:spPr>
        <p:txBody>
          <a:bodyPr wrap="square" lIns="0" tIns="0" rIns="0" bIns="0" rtlCol="0" anchor="t"/>
          <a:lstStyle/>
          <a:p>
            <a:pPr indent="0" marL="0">
              <a:buNone/>
            </a:pPr>
            <a:r>
              <a:rPr lang="en-US" sz="1250" dirty="0">
                <a:solidFill>
                  <a:srgbClr val="0B0F19"/>
                </a:solidFill>
                <a:latin typeface="Segoe UI" pitchFamily="34" charset="0"/>
                <a:ea typeface="Segoe UI" pitchFamily="34" charset="-122"/>
                <a:cs typeface="Segoe UI" pitchFamily="34" charset="-120"/>
              </a:rPr>
              <a:t>Jobs routed to on-shift staff, proved with photos and times.</a:t>
            </a:r>
            <a:endParaRPr lang="en-US" sz="1250" dirty="0"/>
          </a:p>
        </p:txBody>
      </p:sp>
      <p:sp>
        <p:nvSpPr>
          <p:cNvPr id="20" name="Text 17"/>
          <p:cNvSpPr txBox="1"/>
          <p:nvPr/>
        </p:nvSpPr>
        <p:spPr>
          <a:xfrm>
            <a:off x="8549640" y="5321808"/>
            <a:ext cx="2834640" cy="320040"/>
          </a:xfrm>
          <a:prstGeom prst="rect">
            <a:avLst/>
          </a:prstGeom>
          <a:noFill/>
          <a:ln/>
        </p:spPr>
        <p:txBody>
          <a:bodyPr wrap="square" lIns="0" tIns="0" rIns="0" bIns="0" rtlCol="0" anchor="t"/>
          <a:lstStyle/>
          <a:p>
            <a:pPr indent="0" marL="0">
              <a:buNone/>
            </a:pPr>
            <a:r>
              <a:rPr lang="en-US" sz="1050" dirty="0">
                <a:solidFill>
                  <a:srgbClr val="9CA3AF"/>
                </a:solidFill>
                <a:latin typeface="Segoe UI" pitchFamily="34" charset="0"/>
                <a:ea typeface="Segoe UI" pitchFamily="34" charset="-122"/>
                <a:cs typeface="Segoe UI" pitchFamily="34" charset="-120"/>
              </a:rPr>
              <a:t>Measured by: Minutes to done, jobs with proof</a:t>
            </a:r>
            <a:endParaRPr lang="en-US" sz="1050" dirty="0"/>
          </a:p>
        </p:txBody>
      </p:sp>
      <p:sp>
        <p:nvSpPr>
          <p:cNvPr id="25" name="Slide Number Placeholder 0"/>
          <p:cNvSpPr>
            <a:spLocks noGrp="1"/>
          </p:cNvSpPr>
          <p:nvPr>
            <p:ph type="sldNum" sz="quarter" idx="4294967295"/>
          </p:nvPr>
        </p:nvSpPr>
        <p:spPr>
          <a:xfrm>
            <a:off x="10972800" y="6355080"/>
            <a:ext cx="393192"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CA3AF"/>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822960" y="640080"/>
            <a:ext cx="8229600" cy="274320"/>
          </a:xfrm>
          <a:prstGeom prst="rect">
            <a:avLst/>
          </a:prstGeom>
          <a:noFill/>
          <a:ln/>
        </p:spPr>
        <p:txBody>
          <a:bodyPr wrap="square" lIns="0" tIns="0" rIns="0" bIns="0" rtlCol="0" anchor="t"/>
          <a:lstStyle/>
          <a:p>
            <a:pPr indent="0" marL="0">
              <a:buNone/>
            </a:pPr>
            <a:r>
              <a:rPr lang="en-US" sz="1050" b="1" spc="300" kern="0" dirty="0">
                <a:solidFill>
                  <a:srgbClr val="4F46E5"/>
                </a:solidFill>
                <a:latin typeface="Segoe UI" pitchFamily="34" charset="0"/>
                <a:ea typeface="Segoe UI" pitchFamily="34" charset="-122"/>
                <a:cs typeface="Segoe UI" pitchFamily="34" charset="-120"/>
              </a:rPr>
              <a:t>MOAT</a:t>
            </a:r>
            <a:endParaRPr lang="en-US" sz="1050" dirty="0"/>
          </a:p>
        </p:txBody>
      </p:sp>
      <p:sp>
        <p:nvSpPr>
          <p:cNvPr id="3" name="Text 1"/>
          <p:cNvSpPr txBox="1"/>
          <p:nvPr/>
        </p:nvSpPr>
        <p:spPr>
          <a:xfrm>
            <a:off x="822960" y="914400"/>
            <a:ext cx="10545775" cy="822960"/>
          </a:xfrm>
          <a:prstGeom prst="rect">
            <a:avLst/>
          </a:prstGeom>
          <a:noFill/>
          <a:ln/>
        </p:spPr>
        <p:txBody>
          <a:bodyPr wrap="square" lIns="0" tIns="0" rIns="0" bIns="0" rtlCol="0" anchor="ctr"/>
          <a:lstStyle/>
          <a:p>
            <a:pPr indent="0" marL="0">
              <a:buNone/>
            </a:pPr>
            <a:r>
              <a:rPr lang="en-US" sz="3400" dirty="0">
                <a:solidFill>
                  <a:srgbClr val="0B0F19"/>
                </a:solidFill>
                <a:latin typeface="Segoe UI Semibold" pitchFamily="34" charset="0"/>
                <a:ea typeface="Segoe UI Semibold" pitchFamily="34" charset="-122"/>
                <a:cs typeface="Segoe UI Semibold" pitchFamily="34" charset="-120"/>
              </a:rPr>
              <a:t>Booking tools sell the room. HOI runs the stay.</a:t>
            </a:r>
            <a:endParaRPr lang="en-US" sz="3400" dirty="0"/>
          </a:p>
        </p:txBody>
      </p:sp>
      <p:sp>
        <p:nvSpPr>
          <p:cNvPr id="4" name="Text 2"/>
          <p:cNvSpPr txBox="1"/>
          <p:nvPr/>
        </p:nvSpPr>
        <p:spPr>
          <a:xfrm>
            <a:off x="822960" y="2057400"/>
            <a:ext cx="3200400" cy="274320"/>
          </a:xfrm>
          <a:prstGeom prst="rect">
            <a:avLst/>
          </a:prstGeom>
          <a:noFill/>
          <a:ln/>
        </p:spPr>
        <p:txBody>
          <a:bodyPr wrap="square" lIns="0" tIns="0" rIns="0" bIns="0" rtlCol="0" anchor="t"/>
          <a:lstStyle/>
          <a:p>
            <a:pPr indent="0" marL="0">
              <a:buNone/>
            </a:pPr>
            <a:r>
              <a:rPr lang="en-US" sz="1000" b="1" spc="200" kern="0" dirty="0">
                <a:solidFill>
                  <a:srgbClr val="9CA3AF"/>
                </a:solidFill>
                <a:latin typeface="Segoe UI" pitchFamily="34" charset="0"/>
                <a:ea typeface="Segoe UI" pitchFamily="34" charset="-122"/>
                <a:cs typeface="Segoe UI" pitchFamily="34" charset="-120"/>
              </a:rPr>
              <a:t>THEY FOCUS ON</a:t>
            </a:r>
            <a:endParaRPr lang="en-US" sz="1000" dirty="0"/>
          </a:p>
        </p:txBody>
      </p:sp>
      <p:sp>
        <p:nvSpPr>
          <p:cNvPr id="5" name="Text 3"/>
          <p:cNvSpPr txBox="1"/>
          <p:nvPr/>
        </p:nvSpPr>
        <p:spPr>
          <a:xfrm>
            <a:off x="822960" y="2377440"/>
            <a:ext cx="3291840" cy="411480"/>
          </a:xfrm>
          <a:prstGeom prst="rect">
            <a:avLst/>
          </a:prstGeom>
          <a:noFill/>
          <a:ln/>
        </p:spPr>
        <p:txBody>
          <a:bodyPr wrap="square" lIns="0" tIns="0" rIns="0" bIns="0" rtlCol="0" anchor="t"/>
          <a:lstStyle/>
          <a:p>
            <a:pPr indent="0" marL="0">
              <a:buNone/>
            </a:pPr>
            <a:r>
              <a:rPr lang="en-US" sz="1500" dirty="0">
                <a:solidFill>
                  <a:srgbClr val="0B0F19"/>
                </a:solidFill>
                <a:latin typeface="Segoe UI Semibold" pitchFamily="34" charset="0"/>
                <a:ea typeface="Segoe UI Semibold" pitchFamily="34" charset="-122"/>
                <a:cs typeface="Segoe UI Semibold" pitchFamily="34" charset="-120"/>
              </a:rPr>
              <a:t>eZee · STAAH · Hotelogix · OYO</a:t>
            </a:r>
            <a:endParaRPr lang="en-US" sz="1500" dirty="0"/>
          </a:p>
        </p:txBody>
      </p:sp>
      <p:sp>
        <p:nvSpPr>
          <p:cNvPr id="6" name="Text 4"/>
          <p:cNvSpPr txBox="1"/>
          <p:nvPr/>
        </p:nvSpPr>
        <p:spPr>
          <a:xfrm>
            <a:off x="822960" y="2880360"/>
            <a:ext cx="3108960" cy="1828800"/>
          </a:xfrm>
          <a:prstGeom prst="rect">
            <a:avLst/>
          </a:prstGeom>
          <a:noFill/>
          <a:ln/>
        </p:spPr>
        <p:txBody>
          <a:bodyPr wrap="square" lIns="0" tIns="0" rIns="0" bIns="0" rtlCol="0" anchor="t"/>
          <a:lstStyle/>
          <a:p>
            <a:pPr indent="0" marL="0">
              <a:lnSpc>
                <a:spcPct val="110000"/>
              </a:lnSpc>
              <a:buNone/>
            </a:pPr>
            <a:r>
              <a:rPr lang="en-US" sz="1300" dirty="0">
                <a:solidFill>
                  <a:srgbClr val="4B5563"/>
                </a:solidFill>
                <a:latin typeface="Segoe UI" pitchFamily="34" charset="0"/>
                <a:ea typeface="Segoe UI" pitchFamily="34" charset="-122"/>
                <a:cs typeface="Segoe UI" pitchFamily="34" charset="-120"/>
              </a:rPr>
              <a:t>Reservations, rates, billing, OTA sales, owner payouts. We found no public sign of forecast-based shifts, photo-checked jobs or turnover support.</a:t>
            </a:r>
            <a:endParaRPr lang="en-US" sz="1300" dirty="0"/>
          </a:p>
        </p:txBody>
      </p:sp>
      <p:sp>
        <p:nvSpPr>
          <p:cNvPr id="7" name="Shape 5"/>
          <p:cNvSpPr/>
          <p:nvPr/>
        </p:nvSpPr>
        <p:spPr>
          <a:xfrm>
            <a:off x="4343400" y="2057400"/>
            <a:ext cx="0" cy="3794760"/>
          </a:xfrm>
          <a:prstGeom prst="line">
            <a:avLst/>
          </a:prstGeom>
          <a:noFill/>
          <a:ln w="9525">
            <a:solidFill>
              <a:srgbClr val="E5E7EB"/>
            </a:solidFill>
            <a:prstDash val="solid"/>
          </a:ln>
        </p:spPr>
      </p:sp>
      <p:sp>
        <p:nvSpPr>
          <p:cNvPr id="8" name="Text 6"/>
          <p:cNvSpPr txBox="1"/>
          <p:nvPr/>
        </p:nvSpPr>
        <p:spPr>
          <a:xfrm>
            <a:off x="4709160" y="2057400"/>
            <a:ext cx="548640" cy="411480"/>
          </a:xfrm>
          <a:prstGeom prst="rect">
            <a:avLst/>
          </a:prstGeom>
          <a:noFill/>
          <a:ln/>
        </p:spPr>
        <p:txBody>
          <a:bodyPr wrap="square" lIns="0" tIns="0" rIns="0" bIns="0" rtlCol="0" anchor="t"/>
          <a:lstStyle/>
          <a:p>
            <a:pPr indent="0" marL="0">
              <a:buNone/>
            </a:pPr>
            <a:r>
              <a:rPr lang="en-US" sz="1500" dirty="0">
                <a:solidFill>
                  <a:srgbClr val="4F46E5"/>
                </a:solidFill>
                <a:latin typeface="Segoe UI Semibold" pitchFamily="34" charset="0"/>
                <a:ea typeface="Segoe UI Semibold" pitchFamily="34" charset="-122"/>
                <a:cs typeface="Segoe UI Semibold" pitchFamily="34" charset="-120"/>
              </a:rPr>
              <a:t>01</a:t>
            </a:r>
            <a:endParaRPr lang="en-US" sz="1500" dirty="0"/>
          </a:p>
        </p:txBody>
      </p:sp>
      <p:sp>
        <p:nvSpPr>
          <p:cNvPr id="9" name="Text 7"/>
          <p:cNvSpPr txBox="1"/>
          <p:nvPr/>
        </p:nvSpPr>
        <p:spPr>
          <a:xfrm>
            <a:off x="5303520" y="2057400"/>
            <a:ext cx="6035040" cy="384048"/>
          </a:xfrm>
          <a:prstGeom prst="rect">
            <a:avLst/>
          </a:prstGeom>
          <a:noFill/>
          <a:ln/>
        </p:spPr>
        <p:txBody>
          <a:bodyPr wrap="square" lIns="0" tIns="0" rIns="0" bIns="0" rtlCol="0" anchor="t"/>
          <a:lstStyle/>
          <a:p>
            <a:pPr indent="0" marL="0">
              <a:buNone/>
            </a:pPr>
            <a:r>
              <a:rPr lang="en-US" sz="1700" dirty="0">
                <a:solidFill>
                  <a:srgbClr val="0B0F19"/>
                </a:solidFill>
                <a:latin typeface="Segoe UI Semibold" pitchFamily="34" charset="0"/>
                <a:ea typeface="Segoe UI Semibold" pitchFamily="34" charset="-122"/>
                <a:cs typeface="Segoe UI Semibold" pitchFamily="34" charset="-120"/>
              </a:rPr>
              <a:t>Closed loop on each hotel's data</a:t>
            </a:r>
            <a:endParaRPr lang="en-US" sz="1700" dirty="0"/>
          </a:p>
        </p:txBody>
      </p:sp>
      <p:sp>
        <p:nvSpPr>
          <p:cNvPr id="10" name="Text 8"/>
          <p:cNvSpPr txBox="1"/>
          <p:nvPr/>
        </p:nvSpPr>
        <p:spPr>
          <a:xfrm>
            <a:off x="5303520" y="2468880"/>
            <a:ext cx="6035040" cy="365760"/>
          </a:xfrm>
          <a:prstGeom prst="rect">
            <a:avLst/>
          </a:prstGeom>
          <a:noFill/>
          <a:ln/>
        </p:spPr>
        <p:txBody>
          <a:bodyPr wrap="square" lIns="0" tIns="0" rIns="0" bIns="0" rtlCol="0" anchor="t"/>
          <a:lstStyle/>
          <a:p>
            <a:pPr indent="0" marL="0">
              <a:buNone/>
            </a:pPr>
            <a:r>
              <a:rPr lang="en-US" sz="1300" dirty="0">
                <a:solidFill>
                  <a:srgbClr val="4B5563"/>
                </a:solidFill>
                <a:latin typeface="Segoe UI" pitchFamily="34" charset="0"/>
                <a:ea typeface="Segoe UI" pitchFamily="34" charset="-122"/>
                <a:cs typeface="Segoe UI" pitchFamily="34" charset="-120"/>
              </a:rPr>
              <a:t>Every week makes that hotel's forecast better.</a:t>
            </a:r>
            <a:endParaRPr lang="en-US" sz="1300" dirty="0"/>
          </a:p>
        </p:txBody>
      </p:sp>
      <p:sp>
        <p:nvSpPr>
          <p:cNvPr id="11" name="Text 9"/>
          <p:cNvSpPr txBox="1"/>
          <p:nvPr/>
        </p:nvSpPr>
        <p:spPr>
          <a:xfrm>
            <a:off x="4709160" y="2999232"/>
            <a:ext cx="548640" cy="411480"/>
          </a:xfrm>
          <a:prstGeom prst="rect">
            <a:avLst/>
          </a:prstGeom>
          <a:noFill/>
          <a:ln/>
        </p:spPr>
        <p:txBody>
          <a:bodyPr wrap="square" lIns="0" tIns="0" rIns="0" bIns="0" rtlCol="0" anchor="t"/>
          <a:lstStyle/>
          <a:p>
            <a:pPr indent="0" marL="0">
              <a:buNone/>
            </a:pPr>
            <a:r>
              <a:rPr lang="en-US" sz="1500" dirty="0">
                <a:solidFill>
                  <a:srgbClr val="4F46E5"/>
                </a:solidFill>
                <a:latin typeface="Segoe UI Semibold" pitchFamily="34" charset="0"/>
                <a:ea typeface="Segoe UI Semibold" pitchFamily="34" charset="-122"/>
                <a:cs typeface="Segoe UI Semibold" pitchFamily="34" charset="-120"/>
              </a:rPr>
              <a:t>02</a:t>
            </a:r>
            <a:endParaRPr lang="en-US" sz="1500" dirty="0"/>
          </a:p>
        </p:txBody>
      </p:sp>
      <p:sp>
        <p:nvSpPr>
          <p:cNvPr id="12" name="Text 10"/>
          <p:cNvSpPr txBox="1"/>
          <p:nvPr/>
        </p:nvSpPr>
        <p:spPr>
          <a:xfrm>
            <a:off x="5303520" y="2999232"/>
            <a:ext cx="6035040" cy="384048"/>
          </a:xfrm>
          <a:prstGeom prst="rect">
            <a:avLst/>
          </a:prstGeom>
          <a:noFill/>
          <a:ln/>
        </p:spPr>
        <p:txBody>
          <a:bodyPr wrap="square" lIns="0" tIns="0" rIns="0" bIns="0" rtlCol="0" anchor="t"/>
          <a:lstStyle/>
          <a:p>
            <a:pPr indent="0" marL="0">
              <a:buNone/>
            </a:pPr>
            <a:r>
              <a:rPr lang="en-US" sz="1700" dirty="0">
                <a:solidFill>
                  <a:srgbClr val="0B0F19"/>
                </a:solidFill>
                <a:latin typeface="Segoe UI Semibold" pitchFamily="34" charset="0"/>
                <a:ea typeface="Segoe UI Semibold" pitchFamily="34" charset="-122"/>
                <a:cs typeface="Segoe UI Semibold" pitchFamily="34" charset="-120"/>
              </a:rPr>
              <a:t>Built for the frontline</a:t>
            </a:r>
            <a:endParaRPr lang="en-US" sz="1700" dirty="0"/>
          </a:p>
        </p:txBody>
      </p:sp>
      <p:sp>
        <p:nvSpPr>
          <p:cNvPr id="13" name="Text 11"/>
          <p:cNvSpPr txBox="1"/>
          <p:nvPr/>
        </p:nvSpPr>
        <p:spPr>
          <a:xfrm>
            <a:off x="5303520" y="3410712"/>
            <a:ext cx="6035040" cy="365760"/>
          </a:xfrm>
          <a:prstGeom prst="rect">
            <a:avLst/>
          </a:prstGeom>
          <a:noFill/>
          <a:ln/>
        </p:spPr>
        <p:txBody>
          <a:bodyPr wrap="square" lIns="0" tIns="0" rIns="0" bIns="0" rtlCol="0" anchor="t"/>
          <a:lstStyle/>
          <a:p>
            <a:pPr indent="0" marL="0">
              <a:buNone/>
            </a:pPr>
            <a:r>
              <a:rPr lang="en-US" sz="1300" dirty="0">
                <a:solidFill>
                  <a:srgbClr val="4B5563"/>
                </a:solidFill>
                <a:latin typeface="Segoe UI" pitchFamily="34" charset="0"/>
                <a:ea typeface="Segoe UI" pitchFamily="34" charset="-122"/>
                <a:cs typeface="Segoe UI" pitchFamily="34" charset="-120"/>
              </a:rPr>
              <a:t>Hindi voice, one button per job, any phone.</a:t>
            </a:r>
            <a:endParaRPr lang="en-US" sz="1300" dirty="0"/>
          </a:p>
        </p:txBody>
      </p:sp>
      <p:sp>
        <p:nvSpPr>
          <p:cNvPr id="14" name="Text 12"/>
          <p:cNvSpPr txBox="1"/>
          <p:nvPr/>
        </p:nvSpPr>
        <p:spPr>
          <a:xfrm>
            <a:off x="4709160" y="3941064"/>
            <a:ext cx="548640" cy="411480"/>
          </a:xfrm>
          <a:prstGeom prst="rect">
            <a:avLst/>
          </a:prstGeom>
          <a:noFill/>
          <a:ln/>
        </p:spPr>
        <p:txBody>
          <a:bodyPr wrap="square" lIns="0" tIns="0" rIns="0" bIns="0" rtlCol="0" anchor="t"/>
          <a:lstStyle/>
          <a:p>
            <a:pPr indent="0" marL="0">
              <a:buNone/>
            </a:pPr>
            <a:r>
              <a:rPr lang="en-US" sz="1500" dirty="0">
                <a:solidFill>
                  <a:srgbClr val="4F46E5"/>
                </a:solidFill>
                <a:latin typeface="Segoe UI Semibold" pitchFamily="34" charset="0"/>
                <a:ea typeface="Segoe UI Semibold" pitchFamily="34" charset="-122"/>
                <a:cs typeface="Segoe UI Semibold" pitchFamily="34" charset="-120"/>
              </a:rPr>
              <a:t>03</a:t>
            </a:r>
            <a:endParaRPr lang="en-US" sz="1500" dirty="0"/>
          </a:p>
        </p:txBody>
      </p:sp>
      <p:sp>
        <p:nvSpPr>
          <p:cNvPr id="15" name="Text 13"/>
          <p:cNvSpPr txBox="1"/>
          <p:nvPr/>
        </p:nvSpPr>
        <p:spPr>
          <a:xfrm>
            <a:off x="5303520" y="3941064"/>
            <a:ext cx="6035040" cy="384048"/>
          </a:xfrm>
          <a:prstGeom prst="rect">
            <a:avLst/>
          </a:prstGeom>
          <a:noFill/>
          <a:ln/>
        </p:spPr>
        <p:txBody>
          <a:bodyPr wrap="square" lIns="0" tIns="0" rIns="0" bIns="0" rtlCol="0" anchor="t"/>
          <a:lstStyle/>
          <a:p>
            <a:pPr indent="0" marL="0">
              <a:buNone/>
            </a:pPr>
            <a:r>
              <a:rPr lang="en-US" sz="1700" dirty="0">
                <a:solidFill>
                  <a:srgbClr val="0B0F19"/>
                </a:solidFill>
                <a:latin typeface="Segoe UI Semibold" pitchFamily="34" charset="0"/>
                <a:ea typeface="Segoe UI Semibold" pitchFamily="34" charset="-122"/>
                <a:cs typeface="Segoe UI Semibold" pitchFamily="34" charset="-120"/>
              </a:rPr>
              <a:t>A network, not a tool</a:t>
            </a:r>
            <a:endParaRPr lang="en-US" sz="1700" dirty="0"/>
          </a:p>
        </p:txBody>
      </p:sp>
      <p:sp>
        <p:nvSpPr>
          <p:cNvPr id="16" name="Text 14"/>
          <p:cNvSpPr txBox="1"/>
          <p:nvPr/>
        </p:nvSpPr>
        <p:spPr>
          <a:xfrm>
            <a:off x="5303520" y="4352544"/>
            <a:ext cx="6035040" cy="365760"/>
          </a:xfrm>
          <a:prstGeom prst="rect">
            <a:avLst/>
          </a:prstGeom>
          <a:noFill/>
          <a:ln/>
        </p:spPr>
        <p:txBody>
          <a:bodyPr wrap="square" lIns="0" tIns="0" rIns="0" bIns="0" rtlCol="0" anchor="t"/>
          <a:lstStyle/>
          <a:p>
            <a:pPr indent="0" marL="0">
              <a:buNone/>
            </a:pPr>
            <a:r>
              <a:rPr lang="en-US" sz="1300" dirty="0">
                <a:solidFill>
                  <a:srgbClr val="4B5563"/>
                </a:solidFill>
                <a:latin typeface="Segoe UI" pitchFamily="34" charset="0"/>
                <a:ea typeface="Segoe UI" pitchFamily="34" charset="-122"/>
                <a:cs typeface="Segoe UI" pitchFamily="34" charset="-120"/>
              </a:rPr>
              <a:t>Hotels, workers, agencies and the state on one guide.</a:t>
            </a:r>
            <a:endParaRPr lang="en-US" sz="1300" dirty="0"/>
          </a:p>
        </p:txBody>
      </p:sp>
      <p:sp>
        <p:nvSpPr>
          <p:cNvPr id="17" name="Text 15"/>
          <p:cNvSpPr txBox="1"/>
          <p:nvPr/>
        </p:nvSpPr>
        <p:spPr>
          <a:xfrm>
            <a:off x="4709160" y="4882896"/>
            <a:ext cx="548640" cy="411480"/>
          </a:xfrm>
          <a:prstGeom prst="rect">
            <a:avLst/>
          </a:prstGeom>
          <a:noFill/>
          <a:ln/>
        </p:spPr>
        <p:txBody>
          <a:bodyPr wrap="square" lIns="0" tIns="0" rIns="0" bIns="0" rtlCol="0" anchor="t"/>
          <a:lstStyle/>
          <a:p>
            <a:pPr indent="0" marL="0">
              <a:buNone/>
            </a:pPr>
            <a:r>
              <a:rPr lang="en-US" sz="1500" dirty="0">
                <a:solidFill>
                  <a:srgbClr val="4F46E5"/>
                </a:solidFill>
                <a:latin typeface="Segoe UI Semibold" pitchFamily="34" charset="0"/>
                <a:ea typeface="Segoe UI Semibold" pitchFamily="34" charset="-122"/>
                <a:cs typeface="Segoe UI Semibold" pitchFamily="34" charset="-120"/>
              </a:rPr>
              <a:t>04</a:t>
            </a:r>
            <a:endParaRPr lang="en-US" sz="1500" dirty="0"/>
          </a:p>
        </p:txBody>
      </p:sp>
      <p:sp>
        <p:nvSpPr>
          <p:cNvPr id="18" name="Text 16"/>
          <p:cNvSpPr txBox="1"/>
          <p:nvPr/>
        </p:nvSpPr>
        <p:spPr>
          <a:xfrm>
            <a:off x="5303520" y="4882896"/>
            <a:ext cx="6035040" cy="384048"/>
          </a:xfrm>
          <a:prstGeom prst="rect">
            <a:avLst/>
          </a:prstGeom>
          <a:noFill/>
          <a:ln/>
        </p:spPr>
        <p:txBody>
          <a:bodyPr wrap="square" lIns="0" tIns="0" rIns="0" bIns="0" rtlCol="0" anchor="t"/>
          <a:lstStyle/>
          <a:p>
            <a:pPr indent="0" marL="0">
              <a:buNone/>
            </a:pPr>
            <a:r>
              <a:rPr lang="en-US" sz="1700" dirty="0">
                <a:solidFill>
                  <a:srgbClr val="0B0F19"/>
                </a:solidFill>
                <a:latin typeface="Segoe UI Semibold" pitchFamily="34" charset="0"/>
                <a:ea typeface="Segoe UI Semibold" pitchFamily="34" charset="-122"/>
                <a:cs typeface="Segoe UI Semibold" pitchFamily="34" charset="-120"/>
              </a:rPr>
              <a:t>Trust by design</a:t>
            </a:r>
            <a:endParaRPr lang="en-US" sz="1700" dirty="0"/>
          </a:p>
        </p:txBody>
      </p:sp>
      <p:sp>
        <p:nvSpPr>
          <p:cNvPr id="19" name="Text 17"/>
          <p:cNvSpPr txBox="1"/>
          <p:nvPr/>
        </p:nvSpPr>
        <p:spPr>
          <a:xfrm>
            <a:off x="5303520" y="5294376"/>
            <a:ext cx="6035040" cy="365760"/>
          </a:xfrm>
          <a:prstGeom prst="rect">
            <a:avLst/>
          </a:prstGeom>
          <a:noFill/>
          <a:ln/>
        </p:spPr>
        <p:txBody>
          <a:bodyPr wrap="square" lIns="0" tIns="0" rIns="0" bIns="0" rtlCol="0" anchor="t"/>
          <a:lstStyle/>
          <a:p>
            <a:pPr indent="0" marL="0">
              <a:buNone/>
            </a:pPr>
            <a:r>
              <a:rPr lang="en-US" sz="1300" dirty="0">
                <a:solidFill>
                  <a:srgbClr val="4B5563"/>
                </a:solidFill>
                <a:latin typeface="Segoe UI" pitchFamily="34" charset="0"/>
                <a:ea typeface="Segoe UI" pitchFamily="34" charset="-122"/>
                <a:cs typeface="Segoe UI" pitchFamily="34" charset="-120"/>
              </a:rPr>
              <a:t>Staff are IDs; pay stays with owner and HR; no commission.</a:t>
            </a:r>
            <a:endParaRPr lang="en-US" sz="1300" dirty="0"/>
          </a:p>
        </p:txBody>
      </p:sp>
      <p:sp>
        <p:nvSpPr>
          <p:cNvPr id="25" name="Slide Number Placeholder 0"/>
          <p:cNvSpPr>
            <a:spLocks noGrp="1"/>
          </p:cNvSpPr>
          <p:nvPr>
            <p:ph type="sldNum" sz="quarter" idx="4294967295"/>
          </p:nvPr>
        </p:nvSpPr>
        <p:spPr>
          <a:xfrm>
            <a:off x="10972800" y="6355080"/>
            <a:ext cx="393192"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CA3AF"/>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822960" y="640080"/>
            <a:ext cx="8229600" cy="274320"/>
          </a:xfrm>
          <a:prstGeom prst="rect">
            <a:avLst/>
          </a:prstGeom>
          <a:noFill/>
          <a:ln/>
        </p:spPr>
        <p:txBody>
          <a:bodyPr wrap="square" lIns="0" tIns="0" rIns="0" bIns="0" rtlCol="0" anchor="t"/>
          <a:lstStyle/>
          <a:p>
            <a:pPr indent="0" marL="0">
              <a:buNone/>
            </a:pPr>
            <a:r>
              <a:rPr lang="en-US" sz="1050" b="1" spc="300" kern="0" dirty="0">
                <a:solidFill>
                  <a:srgbClr val="4F46E5"/>
                </a:solidFill>
                <a:latin typeface="Segoe UI" pitchFamily="34" charset="0"/>
                <a:ea typeface="Segoe UI" pitchFamily="34" charset="-122"/>
                <a:cs typeface="Segoe UI" pitchFamily="34" charset="-120"/>
              </a:rPr>
              <a:t>LONG-TERM BUSINESS</a:t>
            </a:r>
            <a:endParaRPr lang="en-US" sz="1050" dirty="0"/>
          </a:p>
        </p:txBody>
      </p:sp>
      <p:sp>
        <p:nvSpPr>
          <p:cNvPr id="3" name="Text 1"/>
          <p:cNvSpPr txBox="1"/>
          <p:nvPr/>
        </p:nvSpPr>
        <p:spPr>
          <a:xfrm>
            <a:off x="822960" y="914400"/>
            <a:ext cx="10545775" cy="822960"/>
          </a:xfrm>
          <a:prstGeom prst="rect">
            <a:avLst/>
          </a:prstGeom>
          <a:noFill/>
          <a:ln/>
        </p:spPr>
        <p:txBody>
          <a:bodyPr wrap="square" lIns="0" tIns="0" rIns="0" bIns="0" rtlCol="0" anchor="ctr"/>
          <a:lstStyle/>
          <a:p>
            <a:pPr indent="0" marL="0">
              <a:buNone/>
            </a:pPr>
            <a:r>
              <a:rPr lang="en-US" sz="3400" dirty="0">
                <a:solidFill>
                  <a:srgbClr val="0B0F19"/>
                </a:solidFill>
                <a:latin typeface="Segoe UI Semibold" pitchFamily="34" charset="0"/>
                <a:ea typeface="Segoe UI Semibold" pitchFamily="34" charset="-122"/>
                <a:cs typeface="Segoe UI Semibold" pitchFamily="34" charset="-120"/>
              </a:rPr>
              <a:t>Free to start. Paid to grow. A platform for the state.</a:t>
            </a:r>
            <a:endParaRPr lang="en-US" sz="3400" dirty="0"/>
          </a:p>
        </p:txBody>
      </p:sp>
      <p:sp>
        <p:nvSpPr>
          <p:cNvPr id="4" name="Shape 2"/>
          <p:cNvSpPr/>
          <p:nvPr/>
        </p:nvSpPr>
        <p:spPr>
          <a:xfrm>
            <a:off x="822960" y="2103120"/>
            <a:ext cx="2377440" cy="0"/>
          </a:xfrm>
          <a:prstGeom prst="line">
            <a:avLst/>
          </a:prstGeom>
          <a:noFill/>
          <a:ln w="9525">
            <a:solidFill>
              <a:srgbClr val="0B0F19"/>
            </a:solidFill>
            <a:prstDash val="solid"/>
          </a:ln>
        </p:spPr>
      </p:sp>
      <p:sp>
        <p:nvSpPr>
          <p:cNvPr id="5" name="Text 3"/>
          <p:cNvSpPr txBox="1"/>
          <p:nvPr/>
        </p:nvSpPr>
        <p:spPr>
          <a:xfrm>
            <a:off x="822960" y="2240280"/>
            <a:ext cx="2377440" cy="274320"/>
          </a:xfrm>
          <a:prstGeom prst="rect">
            <a:avLst/>
          </a:prstGeom>
          <a:noFill/>
          <a:ln/>
        </p:spPr>
        <p:txBody>
          <a:bodyPr wrap="square" lIns="0" tIns="0" rIns="0" bIns="0" rtlCol="0" anchor="t"/>
          <a:lstStyle/>
          <a:p>
            <a:pPr indent="0" marL="0">
              <a:buNone/>
            </a:pPr>
            <a:r>
              <a:rPr lang="en-US" sz="1000" b="1" spc="200" kern="0" dirty="0">
                <a:solidFill>
                  <a:srgbClr val="9CA3AF"/>
                </a:solidFill>
                <a:latin typeface="Segoe UI" pitchFamily="34" charset="0"/>
                <a:ea typeface="Segoe UI" pitchFamily="34" charset="-122"/>
                <a:cs typeface="Segoe UI" pitchFamily="34" charset="-120"/>
              </a:rPr>
              <a:t>START</a:t>
            </a:r>
            <a:endParaRPr lang="en-US" sz="1000" dirty="0"/>
          </a:p>
        </p:txBody>
      </p:sp>
      <p:sp>
        <p:nvSpPr>
          <p:cNvPr id="6" name="Text 4"/>
          <p:cNvSpPr txBox="1"/>
          <p:nvPr/>
        </p:nvSpPr>
        <p:spPr>
          <a:xfrm>
            <a:off x="822960" y="2560320"/>
            <a:ext cx="2468880" cy="502920"/>
          </a:xfrm>
          <a:prstGeom prst="rect">
            <a:avLst/>
          </a:prstGeom>
          <a:noFill/>
          <a:ln/>
        </p:spPr>
        <p:txBody>
          <a:bodyPr wrap="square" lIns="0" tIns="0" rIns="0" bIns="0" rtlCol="0" anchor="t"/>
          <a:lstStyle/>
          <a:p>
            <a:pPr indent="0" marL="0">
              <a:buNone/>
            </a:pPr>
            <a:r>
              <a:rPr lang="en-US" sz="2200" dirty="0">
                <a:solidFill>
                  <a:srgbClr val="16A34A"/>
                </a:solidFill>
                <a:latin typeface="Segoe UI Semibold" pitchFamily="34" charset="0"/>
                <a:ea typeface="Segoe UI Semibold" pitchFamily="34" charset="-122"/>
                <a:cs typeface="Segoe UI Semibold" pitchFamily="34" charset="-120"/>
              </a:rPr>
              <a:t>Free</a:t>
            </a:r>
            <a:endParaRPr lang="en-US" sz="2200" dirty="0"/>
          </a:p>
        </p:txBody>
      </p:sp>
      <p:sp>
        <p:nvSpPr>
          <p:cNvPr id="7" name="Text 5"/>
          <p:cNvSpPr txBox="1"/>
          <p:nvPr/>
        </p:nvSpPr>
        <p:spPr>
          <a:xfrm>
            <a:off x="822960" y="3108960"/>
            <a:ext cx="2377440" cy="320040"/>
          </a:xfrm>
          <a:prstGeom prst="rect">
            <a:avLst/>
          </a:prstGeom>
          <a:noFill/>
          <a:ln/>
        </p:spPr>
        <p:txBody>
          <a:bodyPr wrap="square" lIns="0" tIns="0" rIns="0" bIns="0" rtlCol="0" anchor="t"/>
          <a:lstStyle/>
          <a:p>
            <a:pPr indent="0" marL="0">
              <a:buNone/>
            </a:pPr>
            <a:r>
              <a:rPr lang="en-US" sz="1300" dirty="0">
                <a:solidFill>
                  <a:srgbClr val="4B5563"/>
                </a:solidFill>
                <a:latin typeface="Segoe UI" pitchFamily="34" charset="0"/>
                <a:ea typeface="Segoe UI" pitchFamily="34" charset="-122"/>
                <a:cs typeface="Segoe UI" pitchFamily="34" charset="-120"/>
              </a:rPr>
              <a:t>Homestays</a:t>
            </a:r>
            <a:endParaRPr lang="en-US" sz="1300" dirty="0"/>
          </a:p>
        </p:txBody>
      </p:sp>
      <p:sp>
        <p:nvSpPr>
          <p:cNvPr id="8" name="Shape 6"/>
          <p:cNvSpPr/>
          <p:nvPr/>
        </p:nvSpPr>
        <p:spPr>
          <a:xfrm>
            <a:off x="3474720" y="2103120"/>
            <a:ext cx="2377440" cy="0"/>
          </a:xfrm>
          <a:prstGeom prst="line">
            <a:avLst/>
          </a:prstGeom>
          <a:noFill/>
          <a:ln w="9525">
            <a:solidFill>
              <a:srgbClr val="4F46E5"/>
            </a:solidFill>
            <a:prstDash val="solid"/>
          </a:ln>
        </p:spPr>
      </p:sp>
      <p:sp>
        <p:nvSpPr>
          <p:cNvPr id="9" name="Text 7"/>
          <p:cNvSpPr txBox="1"/>
          <p:nvPr/>
        </p:nvSpPr>
        <p:spPr>
          <a:xfrm>
            <a:off x="3474720" y="2240280"/>
            <a:ext cx="2377440" cy="274320"/>
          </a:xfrm>
          <a:prstGeom prst="rect">
            <a:avLst/>
          </a:prstGeom>
          <a:noFill/>
          <a:ln/>
        </p:spPr>
        <p:txBody>
          <a:bodyPr wrap="square" lIns="0" tIns="0" rIns="0" bIns="0" rtlCol="0" anchor="t"/>
          <a:lstStyle/>
          <a:p>
            <a:pPr indent="0" marL="0">
              <a:buNone/>
            </a:pPr>
            <a:r>
              <a:rPr lang="en-US" sz="1000" b="1" spc="200" kern="0" dirty="0">
                <a:solidFill>
                  <a:srgbClr val="4F46E5"/>
                </a:solidFill>
                <a:latin typeface="Segoe UI" pitchFamily="34" charset="0"/>
                <a:ea typeface="Segoe UI" pitchFamily="34" charset="-122"/>
                <a:cs typeface="Segoe UI" pitchFamily="34" charset="-120"/>
              </a:rPr>
              <a:t>GROW</a:t>
            </a:r>
            <a:endParaRPr lang="en-US" sz="1000" dirty="0"/>
          </a:p>
        </p:txBody>
      </p:sp>
      <p:sp>
        <p:nvSpPr>
          <p:cNvPr id="10" name="Text 8"/>
          <p:cNvSpPr txBox="1"/>
          <p:nvPr/>
        </p:nvSpPr>
        <p:spPr>
          <a:xfrm>
            <a:off x="3474720" y="2560320"/>
            <a:ext cx="2468880" cy="502920"/>
          </a:xfrm>
          <a:prstGeom prst="rect">
            <a:avLst/>
          </a:prstGeom>
          <a:noFill/>
          <a:ln/>
        </p:spPr>
        <p:txBody>
          <a:bodyPr wrap="square" lIns="0" tIns="0" rIns="0" bIns="0" rtlCol="0" anchor="t"/>
          <a:lstStyle/>
          <a:p>
            <a:pPr indent="0" marL="0">
              <a:buNone/>
            </a:pPr>
            <a:r>
              <a:rPr lang="en-US" sz="2200" dirty="0">
                <a:solidFill>
                  <a:srgbClr val="0B0F19"/>
                </a:solidFill>
                <a:latin typeface="Segoe UI Semibold" pitchFamily="34" charset="0"/>
                <a:ea typeface="Segoe UI Semibold" pitchFamily="34" charset="-122"/>
                <a:cs typeface="Segoe UI Semibold" pitchFamily="34" charset="-120"/>
              </a:rPr>
              <a:t>₹999–1,999 / mo</a:t>
            </a:r>
            <a:endParaRPr lang="en-US" sz="2200" dirty="0"/>
          </a:p>
        </p:txBody>
      </p:sp>
      <p:sp>
        <p:nvSpPr>
          <p:cNvPr id="11" name="Text 9"/>
          <p:cNvSpPr txBox="1"/>
          <p:nvPr/>
        </p:nvSpPr>
        <p:spPr>
          <a:xfrm>
            <a:off x="3474720" y="3108960"/>
            <a:ext cx="2377440" cy="320040"/>
          </a:xfrm>
          <a:prstGeom prst="rect">
            <a:avLst/>
          </a:prstGeom>
          <a:noFill/>
          <a:ln/>
        </p:spPr>
        <p:txBody>
          <a:bodyPr wrap="square" lIns="0" tIns="0" rIns="0" bIns="0" rtlCol="0" anchor="t"/>
          <a:lstStyle/>
          <a:p>
            <a:pPr indent="0" marL="0">
              <a:buNone/>
            </a:pPr>
            <a:r>
              <a:rPr lang="en-US" sz="1300" dirty="0">
                <a:solidFill>
                  <a:srgbClr val="4B5563"/>
                </a:solidFill>
                <a:latin typeface="Segoe UI" pitchFamily="34" charset="0"/>
                <a:ea typeface="Segoe UI" pitchFamily="34" charset="-122"/>
                <a:cs typeface="Segoe UI" pitchFamily="34" charset="-120"/>
              </a:rPr>
              <a:t>Small hotels</a:t>
            </a:r>
            <a:endParaRPr lang="en-US" sz="1300" dirty="0"/>
          </a:p>
        </p:txBody>
      </p:sp>
      <p:sp>
        <p:nvSpPr>
          <p:cNvPr id="12" name="Shape 10"/>
          <p:cNvSpPr/>
          <p:nvPr/>
        </p:nvSpPr>
        <p:spPr>
          <a:xfrm>
            <a:off x="6126480" y="2103120"/>
            <a:ext cx="2377440" cy="0"/>
          </a:xfrm>
          <a:prstGeom prst="line">
            <a:avLst/>
          </a:prstGeom>
          <a:noFill/>
          <a:ln w="9525">
            <a:solidFill>
              <a:srgbClr val="0B0F19"/>
            </a:solidFill>
            <a:prstDash val="solid"/>
          </a:ln>
        </p:spPr>
      </p:sp>
      <p:sp>
        <p:nvSpPr>
          <p:cNvPr id="13" name="Text 11"/>
          <p:cNvSpPr txBox="1"/>
          <p:nvPr/>
        </p:nvSpPr>
        <p:spPr>
          <a:xfrm>
            <a:off x="6126480" y="2240280"/>
            <a:ext cx="2377440" cy="274320"/>
          </a:xfrm>
          <a:prstGeom prst="rect">
            <a:avLst/>
          </a:prstGeom>
          <a:noFill/>
          <a:ln/>
        </p:spPr>
        <p:txBody>
          <a:bodyPr wrap="square" lIns="0" tIns="0" rIns="0" bIns="0" rtlCol="0" anchor="t"/>
          <a:lstStyle/>
          <a:p>
            <a:pPr indent="0" marL="0">
              <a:buNone/>
            </a:pPr>
            <a:r>
              <a:rPr lang="en-US" sz="1000" b="1" spc="200" kern="0" dirty="0">
                <a:solidFill>
                  <a:srgbClr val="9CA3AF"/>
                </a:solidFill>
                <a:latin typeface="Segoe UI" pitchFamily="34" charset="0"/>
                <a:ea typeface="Segoe UI" pitchFamily="34" charset="-122"/>
                <a:cs typeface="Segoe UI" pitchFamily="34" charset="-120"/>
              </a:rPr>
              <a:t>SCALE</a:t>
            </a:r>
            <a:endParaRPr lang="en-US" sz="1000" dirty="0"/>
          </a:p>
        </p:txBody>
      </p:sp>
      <p:sp>
        <p:nvSpPr>
          <p:cNvPr id="14" name="Text 12"/>
          <p:cNvSpPr txBox="1"/>
          <p:nvPr/>
        </p:nvSpPr>
        <p:spPr>
          <a:xfrm>
            <a:off x="6126480" y="2560320"/>
            <a:ext cx="2468880" cy="502920"/>
          </a:xfrm>
          <a:prstGeom prst="rect">
            <a:avLst/>
          </a:prstGeom>
          <a:noFill/>
          <a:ln/>
        </p:spPr>
        <p:txBody>
          <a:bodyPr wrap="square" lIns="0" tIns="0" rIns="0" bIns="0" rtlCol="0" anchor="t"/>
          <a:lstStyle/>
          <a:p>
            <a:pPr indent="0" marL="0">
              <a:buNone/>
            </a:pPr>
            <a:r>
              <a:rPr lang="en-US" sz="2200" dirty="0">
                <a:solidFill>
                  <a:srgbClr val="0B0F19"/>
                </a:solidFill>
                <a:latin typeface="Segoe UI Semibold" pitchFamily="34" charset="0"/>
                <a:ea typeface="Segoe UI Semibold" pitchFamily="34" charset="-122"/>
                <a:cs typeface="Segoe UI Semibold" pitchFamily="34" charset="-120"/>
              </a:rPr>
              <a:t>Shared plan</a:t>
            </a:r>
            <a:endParaRPr lang="en-US" sz="2200" dirty="0"/>
          </a:p>
        </p:txBody>
      </p:sp>
      <p:sp>
        <p:nvSpPr>
          <p:cNvPr id="15" name="Text 13"/>
          <p:cNvSpPr txBox="1"/>
          <p:nvPr/>
        </p:nvSpPr>
        <p:spPr>
          <a:xfrm>
            <a:off x="6126480" y="3108960"/>
            <a:ext cx="2377440" cy="320040"/>
          </a:xfrm>
          <a:prstGeom prst="rect">
            <a:avLst/>
          </a:prstGeom>
          <a:noFill/>
          <a:ln/>
        </p:spPr>
        <p:txBody>
          <a:bodyPr wrap="square" lIns="0" tIns="0" rIns="0" bIns="0" rtlCol="0" anchor="t"/>
          <a:lstStyle/>
          <a:p>
            <a:pPr indent="0" marL="0">
              <a:buNone/>
            </a:pPr>
            <a:r>
              <a:rPr lang="en-US" sz="1300" dirty="0">
                <a:solidFill>
                  <a:srgbClr val="4B5563"/>
                </a:solidFill>
                <a:latin typeface="Segoe UI" pitchFamily="34" charset="0"/>
                <a:ea typeface="Segoe UI" pitchFamily="34" charset="-122"/>
                <a:cs typeface="Segoe UI" pitchFamily="34" charset="-120"/>
              </a:rPr>
              <a:t>Groups &amp; clusters</a:t>
            </a:r>
            <a:endParaRPr lang="en-US" sz="1300" dirty="0"/>
          </a:p>
        </p:txBody>
      </p:sp>
      <p:sp>
        <p:nvSpPr>
          <p:cNvPr id="16" name="Shape 14"/>
          <p:cNvSpPr/>
          <p:nvPr/>
        </p:nvSpPr>
        <p:spPr>
          <a:xfrm>
            <a:off x="8778240" y="2103120"/>
            <a:ext cx="2377440" cy="0"/>
          </a:xfrm>
          <a:prstGeom prst="line">
            <a:avLst/>
          </a:prstGeom>
          <a:noFill/>
          <a:ln w="9525">
            <a:solidFill>
              <a:srgbClr val="0B0F19"/>
            </a:solidFill>
            <a:prstDash val="solid"/>
          </a:ln>
        </p:spPr>
      </p:sp>
      <p:sp>
        <p:nvSpPr>
          <p:cNvPr id="17" name="Text 15"/>
          <p:cNvSpPr txBox="1"/>
          <p:nvPr/>
        </p:nvSpPr>
        <p:spPr>
          <a:xfrm>
            <a:off x="8778240" y="2240280"/>
            <a:ext cx="2377440" cy="274320"/>
          </a:xfrm>
          <a:prstGeom prst="rect">
            <a:avLst/>
          </a:prstGeom>
          <a:noFill/>
          <a:ln/>
        </p:spPr>
        <p:txBody>
          <a:bodyPr wrap="square" lIns="0" tIns="0" rIns="0" bIns="0" rtlCol="0" anchor="t"/>
          <a:lstStyle/>
          <a:p>
            <a:pPr indent="0" marL="0">
              <a:buNone/>
            </a:pPr>
            <a:r>
              <a:rPr lang="en-US" sz="1000" b="1" spc="200" kern="0" dirty="0">
                <a:solidFill>
                  <a:srgbClr val="9CA3AF"/>
                </a:solidFill>
                <a:latin typeface="Segoe UI" pitchFamily="34" charset="0"/>
                <a:ea typeface="Segoe UI" pitchFamily="34" charset="-122"/>
                <a:cs typeface="Segoe UI" pitchFamily="34" charset="-120"/>
              </a:rPr>
              <a:t>PLATFORM</a:t>
            </a:r>
            <a:endParaRPr lang="en-US" sz="1000" dirty="0"/>
          </a:p>
        </p:txBody>
      </p:sp>
      <p:sp>
        <p:nvSpPr>
          <p:cNvPr id="18" name="Text 16"/>
          <p:cNvSpPr txBox="1"/>
          <p:nvPr/>
        </p:nvSpPr>
        <p:spPr>
          <a:xfrm>
            <a:off x="8778240" y="2560320"/>
            <a:ext cx="2468880" cy="502920"/>
          </a:xfrm>
          <a:prstGeom prst="rect">
            <a:avLst/>
          </a:prstGeom>
          <a:noFill/>
          <a:ln/>
        </p:spPr>
        <p:txBody>
          <a:bodyPr wrap="square" lIns="0" tIns="0" rIns="0" bIns="0" rtlCol="0" anchor="t"/>
          <a:lstStyle/>
          <a:p>
            <a:pPr indent="0" marL="0">
              <a:buNone/>
            </a:pPr>
            <a:r>
              <a:rPr lang="en-US" sz="2200" dirty="0">
                <a:solidFill>
                  <a:srgbClr val="0B0F19"/>
                </a:solidFill>
                <a:latin typeface="Segoe UI Semibold" pitchFamily="34" charset="0"/>
                <a:ea typeface="Segoe UI Semibold" pitchFamily="34" charset="-122"/>
                <a:cs typeface="Segoe UI Semibold" pitchFamily="34" charset="-120"/>
              </a:rPr>
              <a:t>Contract</a:t>
            </a:r>
            <a:endParaRPr lang="en-US" sz="2200" dirty="0"/>
          </a:p>
        </p:txBody>
      </p:sp>
      <p:sp>
        <p:nvSpPr>
          <p:cNvPr id="19" name="Text 17"/>
          <p:cNvSpPr txBox="1"/>
          <p:nvPr/>
        </p:nvSpPr>
        <p:spPr>
          <a:xfrm>
            <a:off x="8778240" y="3108960"/>
            <a:ext cx="2377440" cy="320040"/>
          </a:xfrm>
          <a:prstGeom prst="rect">
            <a:avLst/>
          </a:prstGeom>
          <a:noFill/>
          <a:ln/>
        </p:spPr>
        <p:txBody>
          <a:bodyPr wrap="square" lIns="0" tIns="0" rIns="0" bIns="0" rtlCol="0" anchor="t"/>
          <a:lstStyle/>
          <a:p>
            <a:pPr indent="0" marL="0">
              <a:buNone/>
            </a:pPr>
            <a:r>
              <a:rPr lang="en-US" sz="1300" dirty="0">
                <a:solidFill>
                  <a:srgbClr val="4B5563"/>
                </a:solidFill>
                <a:latin typeface="Segoe UI" pitchFamily="34" charset="0"/>
                <a:ea typeface="Segoe UI" pitchFamily="34" charset="-122"/>
                <a:cs typeface="Segoe UI" pitchFamily="34" charset="-120"/>
              </a:rPr>
              <a:t>State tourism dept.</a:t>
            </a:r>
            <a:endParaRPr lang="en-US" sz="1300" dirty="0"/>
          </a:p>
        </p:txBody>
      </p:sp>
      <p:sp>
        <p:nvSpPr>
          <p:cNvPr id="20" name="Text 18"/>
          <p:cNvSpPr txBox="1"/>
          <p:nvPr/>
        </p:nvSpPr>
        <p:spPr>
          <a:xfrm>
            <a:off x="822960" y="3611880"/>
            <a:ext cx="7315200" cy="274320"/>
          </a:xfrm>
          <a:prstGeom prst="rect">
            <a:avLst/>
          </a:prstGeom>
          <a:noFill/>
          <a:ln/>
        </p:spPr>
        <p:txBody>
          <a:bodyPr wrap="square" lIns="0" tIns="0" rIns="0" bIns="0" rtlCol="0" anchor="t"/>
          <a:lstStyle/>
          <a:p>
            <a:pPr indent="0" marL="0">
              <a:buNone/>
            </a:pPr>
            <a:r>
              <a:rPr lang="en-US" sz="1050" dirty="0">
                <a:solidFill>
                  <a:srgbClr val="9CA3AF"/>
                </a:solidFill>
                <a:latin typeface="Segoe UI" pitchFamily="34" charset="0"/>
                <a:ea typeface="Segoe UI" pitchFamily="34" charset="-122"/>
                <a:cs typeface="Segoe UI" pitchFamily="34" charset="-120"/>
              </a:rPr>
              <a:t>Prices are a proposal to validate · no booking commission, ever</a:t>
            </a:r>
            <a:endParaRPr lang="en-US" sz="1050" dirty="0"/>
          </a:p>
        </p:txBody>
      </p:sp>
      <p:sp>
        <p:nvSpPr>
          <p:cNvPr id="21" name="Text 19"/>
          <p:cNvSpPr txBox="1"/>
          <p:nvPr/>
        </p:nvSpPr>
        <p:spPr>
          <a:xfrm>
            <a:off x="822960" y="4343400"/>
            <a:ext cx="3657600" cy="274320"/>
          </a:xfrm>
          <a:prstGeom prst="rect">
            <a:avLst/>
          </a:prstGeom>
          <a:noFill/>
          <a:ln/>
        </p:spPr>
        <p:txBody>
          <a:bodyPr wrap="square" lIns="0" tIns="0" rIns="0" bIns="0" rtlCol="0" anchor="t"/>
          <a:lstStyle/>
          <a:p>
            <a:pPr indent="0" marL="0">
              <a:buNone/>
            </a:pPr>
            <a:r>
              <a:rPr lang="en-US" sz="1000" b="1" spc="200" kern="0" dirty="0">
                <a:solidFill>
                  <a:srgbClr val="9CA3AF"/>
                </a:solidFill>
                <a:latin typeface="Segoe UI" pitchFamily="34" charset="0"/>
                <a:ea typeface="Segoe UI" pitchFamily="34" charset="-122"/>
                <a:cs typeface="Segoe UI" pitchFamily="34" charset="-120"/>
              </a:rPr>
              <a:t>GROWTH PATH</a:t>
            </a:r>
            <a:endParaRPr lang="en-US" sz="1000" dirty="0"/>
          </a:p>
        </p:txBody>
      </p:sp>
      <p:sp>
        <p:nvSpPr>
          <p:cNvPr id="22" name="Text 20"/>
          <p:cNvSpPr txBox="1"/>
          <p:nvPr/>
        </p:nvSpPr>
        <p:spPr>
          <a:xfrm>
            <a:off x="822960" y="4663440"/>
            <a:ext cx="6949440" cy="411480"/>
          </a:xfrm>
          <a:prstGeom prst="rect">
            <a:avLst/>
          </a:prstGeom>
          <a:noFill/>
          <a:ln/>
        </p:spPr>
        <p:txBody>
          <a:bodyPr wrap="square" lIns="0" tIns="0" rIns="0" bIns="0" rtlCol="0" anchor="t"/>
          <a:lstStyle/>
          <a:p>
            <a:pPr indent="0" marL="0">
              <a:buNone/>
            </a:pPr>
            <a:r>
              <a:rPr lang="en-US" sz="1600" dirty="0">
                <a:solidFill>
                  <a:srgbClr val="0B0F19"/>
                </a:solidFill>
                <a:latin typeface="Segoe UI Semibold" pitchFamily="34" charset="0"/>
                <a:ea typeface="Segoe UI Semibold" pitchFamily="34" charset="-122"/>
                <a:cs typeface="Segoe UI Semibold" pitchFamily="34" charset="-120"/>
              </a:rPr>
              <a:t>Mussoorie &amp; Rishikesh  →  Char Dham routes  →  other hill states</a:t>
            </a:r>
            <a:endParaRPr lang="en-US" sz="1600" dirty="0"/>
          </a:p>
        </p:txBody>
      </p:sp>
      <p:sp>
        <p:nvSpPr>
          <p:cNvPr id="23" name="Shape 21"/>
          <p:cNvSpPr/>
          <p:nvPr/>
        </p:nvSpPr>
        <p:spPr>
          <a:xfrm>
            <a:off x="8183880" y="4343400"/>
            <a:ext cx="0" cy="1371600"/>
          </a:xfrm>
          <a:prstGeom prst="line">
            <a:avLst/>
          </a:prstGeom>
          <a:noFill/>
          <a:ln w="9525">
            <a:solidFill>
              <a:srgbClr val="E5E7EB"/>
            </a:solidFill>
            <a:prstDash val="solid"/>
          </a:ln>
        </p:spPr>
      </p:sp>
      <p:sp>
        <p:nvSpPr>
          <p:cNvPr id="24" name="Text 22"/>
          <p:cNvSpPr txBox="1"/>
          <p:nvPr/>
        </p:nvSpPr>
        <p:spPr>
          <a:xfrm>
            <a:off x="8503920" y="4343400"/>
            <a:ext cx="2926080" cy="274320"/>
          </a:xfrm>
          <a:prstGeom prst="rect">
            <a:avLst/>
          </a:prstGeom>
          <a:noFill/>
          <a:ln/>
        </p:spPr>
        <p:txBody>
          <a:bodyPr wrap="square" lIns="0" tIns="0" rIns="0" bIns="0" rtlCol="0" anchor="t"/>
          <a:lstStyle/>
          <a:p>
            <a:pPr indent="0" marL="0">
              <a:buNone/>
            </a:pPr>
            <a:r>
              <a:rPr lang="en-US" sz="1000" b="1" spc="200" kern="0" dirty="0">
                <a:solidFill>
                  <a:srgbClr val="9CA3AF"/>
                </a:solidFill>
                <a:latin typeface="Segoe UI" pitchFamily="34" charset="0"/>
                <a:ea typeface="Segoe UI" pitchFamily="34" charset="-122"/>
                <a:cs typeface="Segoe UI" pitchFamily="34" charset="-120"/>
              </a:rPr>
              <a:t>VALIDATION</a:t>
            </a:r>
            <a:endParaRPr lang="en-US" sz="1000" dirty="0"/>
          </a:p>
        </p:txBody>
      </p:sp>
      <p:sp>
        <p:nvSpPr>
          <p:cNvPr id="25" name="Text 23"/>
          <p:cNvSpPr txBox="1"/>
          <p:nvPr/>
        </p:nvSpPr>
        <p:spPr>
          <a:xfrm>
            <a:off x="8503920" y="4663440"/>
            <a:ext cx="2834640" cy="914400"/>
          </a:xfrm>
          <a:prstGeom prst="rect">
            <a:avLst/>
          </a:prstGeom>
          <a:noFill/>
          <a:ln/>
        </p:spPr>
        <p:txBody>
          <a:bodyPr wrap="square" lIns="0" tIns="0" rIns="0" bIns="0" rtlCol="0" anchor="t"/>
          <a:lstStyle/>
          <a:p>
            <a:pPr indent="0" marL="0">
              <a:buNone/>
            </a:pPr>
            <a:r>
              <a:rPr lang="en-US" sz="1250" dirty="0">
                <a:solidFill>
                  <a:srgbClr val="0B0F19"/>
                </a:solidFill>
                <a:latin typeface="Segoe UI" pitchFamily="34" charset="0"/>
                <a:ea typeface="Segoe UI" pitchFamily="34" charset="-122"/>
                <a:cs typeface="Segoe UI" pitchFamily="34" charset="-120"/>
              </a:rPr>
              <a:t>8–10 owner interviews → free 2-week pilot measuring hours short, check-ins and minutes to done.</a:t>
            </a:r>
            <a:endParaRPr lang="en-US" sz="1250" dirty="0"/>
          </a:p>
        </p:txBody>
      </p:sp>
      <p:sp>
        <p:nvSpPr>
          <p:cNvPr id="25" name="Slide Number Placeholder 0"/>
          <p:cNvSpPr>
            <a:spLocks noGrp="1"/>
          </p:cNvSpPr>
          <p:nvPr>
            <p:ph type="sldNum" sz="quarter" idx="4294967295"/>
          </p:nvPr>
        </p:nvSpPr>
        <p:spPr>
          <a:xfrm>
            <a:off x="10972800" y="6355080"/>
            <a:ext cx="393192"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CA3AF"/>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822960" y="640080"/>
            <a:ext cx="8229600" cy="274320"/>
          </a:xfrm>
          <a:prstGeom prst="rect">
            <a:avLst/>
          </a:prstGeom>
          <a:noFill/>
          <a:ln/>
        </p:spPr>
        <p:txBody>
          <a:bodyPr wrap="square" lIns="0" tIns="0" rIns="0" bIns="0" rtlCol="0" anchor="t"/>
          <a:lstStyle/>
          <a:p>
            <a:pPr indent="0" marL="0">
              <a:buNone/>
            </a:pPr>
            <a:r>
              <a:rPr lang="en-US" sz="1050" b="1" spc="300" kern="0" dirty="0">
                <a:solidFill>
                  <a:srgbClr val="A5B4FC"/>
                </a:solidFill>
                <a:latin typeface="Segoe UI" pitchFamily="34" charset="0"/>
                <a:ea typeface="Segoe UI" pitchFamily="34" charset="-122"/>
                <a:cs typeface="Segoe UI" pitchFamily="34" charset="-120"/>
              </a:rPr>
              <a:t>LIVE TODAY</a:t>
            </a:r>
            <a:endParaRPr lang="en-US" sz="1050" dirty="0"/>
          </a:p>
        </p:txBody>
      </p:sp>
      <p:sp>
        <p:nvSpPr>
          <p:cNvPr id="3" name="Text 1"/>
          <p:cNvSpPr txBox="1"/>
          <p:nvPr/>
        </p:nvSpPr>
        <p:spPr>
          <a:xfrm>
            <a:off x="822960" y="914400"/>
            <a:ext cx="10545775" cy="731520"/>
          </a:xfrm>
          <a:prstGeom prst="rect">
            <a:avLst/>
          </a:prstGeom>
          <a:noFill/>
          <a:ln/>
        </p:spPr>
        <p:txBody>
          <a:bodyPr wrap="square" lIns="0" tIns="0" rIns="0" bIns="0" rtlCol="0" anchor="ctr"/>
          <a:lstStyle/>
          <a:p>
            <a:pPr indent="0" marL="0">
              <a:buNone/>
            </a:pPr>
            <a:r>
              <a:rPr lang="en-US" sz="3400" dirty="0">
                <a:solidFill>
                  <a:srgbClr val="FFFFFF"/>
                </a:solidFill>
                <a:latin typeface="Segoe UI Semibold" pitchFamily="34" charset="0"/>
                <a:ea typeface="Segoe UI Semibold" pitchFamily="34" charset="-122"/>
                <a:cs typeface="Segoe UI Semibold" pitchFamily="34" charset="-120"/>
              </a:rPr>
              <a:t>Everything you saw is running.</a:t>
            </a:r>
            <a:endParaRPr lang="en-US" sz="3400" dirty="0"/>
          </a:p>
        </p:txBody>
      </p:sp>
      <p:sp>
        <p:nvSpPr>
          <p:cNvPr id="4" name="Shape 2"/>
          <p:cNvSpPr/>
          <p:nvPr/>
        </p:nvSpPr>
        <p:spPr>
          <a:xfrm>
            <a:off x="822960" y="2194560"/>
            <a:ext cx="91440" cy="91440"/>
          </a:xfrm>
          <a:prstGeom prst="ellipse">
            <a:avLst/>
          </a:prstGeom>
          <a:solidFill>
            <a:srgbClr val="22C55E"/>
          </a:solidFill>
          <a:ln/>
        </p:spPr>
      </p:sp>
      <p:sp>
        <p:nvSpPr>
          <p:cNvPr id="5" name="Text 3"/>
          <p:cNvSpPr txBox="1"/>
          <p:nvPr/>
        </p:nvSpPr>
        <p:spPr>
          <a:xfrm>
            <a:off x="1097280" y="2057400"/>
            <a:ext cx="2194560" cy="365760"/>
          </a:xfrm>
          <a:prstGeom prst="rect">
            <a:avLst/>
          </a:prstGeom>
          <a:noFill/>
          <a:ln/>
        </p:spPr>
        <p:txBody>
          <a:bodyPr wrap="square" lIns="0" tIns="0" rIns="0" bIns="0" rtlCol="0" anchor="t"/>
          <a:lstStyle/>
          <a:p>
            <a:pPr indent="0" marL="0">
              <a:buNone/>
            </a:pPr>
            <a:r>
              <a:rPr lang="en-US" sz="1500" dirty="0">
                <a:solidFill>
                  <a:srgbClr val="FFFFFF"/>
                </a:solidFill>
                <a:latin typeface="Segoe UI" pitchFamily="34" charset="0"/>
                <a:ea typeface="Segoe UI" pitchFamily="34" charset="-122"/>
                <a:cs typeface="Segoe UI" pitchFamily="34" charset="-120"/>
              </a:rPr>
              <a:t>Hotel portal</a:t>
            </a:r>
            <a:endParaRPr lang="en-US" sz="1500" dirty="0"/>
          </a:p>
        </p:txBody>
      </p:sp>
      <p:sp>
        <p:nvSpPr>
          <p:cNvPr id="6" name="Text 4"/>
          <p:cNvSpPr txBox="1"/>
          <p:nvPr/>
        </p:nvSpPr>
        <p:spPr>
          <a:xfrm>
            <a:off x="3291840" y="2075688"/>
            <a:ext cx="3840480" cy="365760"/>
          </a:xfrm>
          <a:prstGeom prst="rect">
            <a:avLst/>
          </a:prstGeom>
          <a:noFill/>
          <a:ln/>
        </p:spPr>
        <p:txBody>
          <a:bodyPr wrap="square" lIns="0" tIns="0" rIns="0" bIns="0" rtlCol="0" anchor="t"/>
          <a:lstStyle/>
          <a:p>
            <a:pPr indent="0" marL="0">
              <a:buNone/>
            </a:pPr>
            <a:r>
              <a:rPr lang="en-US" sz="1250" dirty="0">
                <a:solidFill>
                  <a:srgbClr val="8B90B0"/>
                </a:solidFill>
                <a:latin typeface="Segoe UI" pitchFamily="34" charset="0"/>
                <a:ea typeface="Segoe UI" pitchFamily="34" charset="-122"/>
                <a:cs typeface="Segoe UI" pitchFamily="34" charset="-120"/>
              </a:rPr>
              <a:t>hoi-dashboard.onrender.com</a:t>
            </a:r>
            <a:endParaRPr lang="en-US" sz="1250" dirty="0"/>
          </a:p>
        </p:txBody>
      </p:sp>
      <p:sp>
        <p:nvSpPr>
          <p:cNvPr id="7" name="Shape 5"/>
          <p:cNvSpPr/>
          <p:nvPr/>
        </p:nvSpPr>
        <p:spPr>
          <a:xfrm>
            <a:off x="822960" y="2761488"/>
            <a:ext cx="91440" cy="91440"/>
          </a:xfrm>
          <a:prstGeom prst="ellipse">
            <a:avLst/>
          </a:prstGeom>
          <a:solidFill>
            <a:srgbClr val="22C55E"/>
          </a:solidFill>
          <a:ln/>
        </p:spPr>
      </p:sp>
      <p:sp>
        <p:nvSpPr>
          <p:cNvPr id="8" name="Text 6"/>
          <p:cNvSpPr txBox="1"/>
          <p:nvPr/>
        </p:nvSpPr>
        <p:spPr>
          <a:xfrm>
            <a:off x="1097280" y="2624328"/>
            <a:ext cx="2194560" cy="365760"/>
          </a:xfrm>
          <a:prstGeom prst="rect">
            <a:avLst/>
          </a:prstGeom>
          <a:noFill/>
          <a:ln/>
        </p:spPr>
        <p:txBody>
          <a:bodyPr wrap="square" lIns="0" tIns="0" rIns="0" bIns="0" rtlCol="0" anchor="t"/>
          <a:lstStyle/>
          <a:p>
            <a:pPr indent="0" marL="0">
              <a:buNone/>
            </a:pPr>
            <a:r>
              <a:rPr lang="en-US" sz="1500" dirty="0">
                <a:solidFill>
                  <a:srgbClr val="FFFFFF"/>
                </a:solidFill>
                <a:latin typeface="Segoe UI" pitchFamily="34" charset="0"/>
                <a:ea typeface="Segoe UI" pitchFamily="34" charset="-122"/>
                <a:cs typeface="Segoe UI" pitchFamily="34" charset="-120"/>
              </a:rPr>
              <a:t>Staff app</a:t>
            </a:r>
            <a:endParaRPr lang="en-US" sz="1500" dirty="0"/>
          </a:p>
        </p:txBody>
      </p:sp>
      <p:sp>
        <p:nvSpPr>
          <p:cNvPr id="9" name="Text 7"/>
          <p:cNvSpPr txBox="1"/>
          <p:nvPr/>
        </p:nvSpPr>
        <p:spPr>
          <a:xfrm>
            <a:off x="3291840" y="2642616"/>
            <a:ext cx="3840480" cy="365760"/>
          </a:xfrm>
          <a:prstGeom prst="rect">
            <a:avLst/>
          </a:prstGeom>
          <a:noFill/>
          <a:ln/>
        </p:spPr>
        <p:txBody>
          <a:bodyPr wrap="square" lIns="0" tIns="0" rIns="0" bIns="0" rtlCol="0" anchor="t"/>
          <a:lstStyle/>
          <a:p>
            <a:pPr indent="0" marL="0">
              <a:buNone/>
            </a:pPr>
            <a:r>
              <a:rPr lang="en-US" sz="1250" dirty="0">
                <a:solidFill>
                  <a:srgbClr val="8B90B0"/>
                </a:solidFill>
                <a:latin typeface="Segoe UI" pitchFamily="34" charset="0"/>
                <a:ea typeface="Segoe UI" pitchFamily="34" charset="-122"/>
                <a:cs typeface="Segoe UI" pitchFamily="34" charset="-120"/>
              </a:rPr>
              <a:t>hoi-platform-api.onrender.com/worker</a:t>
            </a:r>
            <a:endParaRPr lang="en-US" sz="1250" dirty="0"/>
          </a:p>
        </p:txBody>
      </p:sp>
      <p:sp>
        <p:nvSpPr>
          <p:cNvPr id="10" name="Shape 8"/>
          <p:cNvSpPr/>
          <p:nvPr/>
        </p:nvSpPr>
        <p:spPr>
          <a:xfrm>
            <a:off x="822960" y="3328416"/>
            <a:ext cx="91440" cy="91440"/>
          </a:xfrm>
          <a:prstGeom prst="ellipse">
            <a:avLst/>
          </a:prstGeom>
          <a:solidFill>
            <a:srgbClr val="22C55E"/>
          </a:solidFill>
          <a:ln/>
        </p:spPr>
      </p:sp>
      <p:sp>
        <p:nvSpPr>
          <p:cNvPr id="11" name="Text 9"/>
          <p:cNvSpPr txBox="1"/>
          <p:nvPr/>
        </p:nvSpPr>
        <p:spPr>
          <a:xfrm>
            <a:off x="1097280" y="3191256"/>
            <a:ext cx="2194560" cy="365760"/>
          </a:xfrm>
          <a:prstGeom prst="rect">
            <a:avLst/>
          </a:prstGeom>
          <a:noFill/>
          <a:ln/>
        </p:spPr>
        <p:txBody>
          <a:bodyPr wrap="square" lIns="0" tIns="0" rIns="0" bIns="0" rtlCol="0" anchor="t"/>
          <a:lstStyle/>
          <a:p>
            <a:pPr indent="0" marL="0">
              <a:buNone/>
            </a:pPr>
            <a:r>
              <a:rPr lang="en-US" sz="1500" dirty="0">
                <a:solidFill>
                  <a:srgbClr val="FFFFFF"/>
                </a:solidFill>
                <a:latin typeface="Segoe UI" pitchFamily="34" charset="0"/>
                <a:ea typeface="Segoe UI" pitchFamily="34" charset="-122"/>
                <a:cs typeface="Segoe UI" pitchFamily="34" charset="-120"/>
              </a:rPr>
              <a:t>Guest page</a:t>
            </a:r>
            <a:endParaRPr lang="en-US" sz="1500" dirty="0"/>
          </a:p>
        </p:txBody>
      </p:sp>
      <p:sp>
        <p:nvSpPr>
          <p:cNvPr id="12" name="Text 10"/>
          <p:cNvSpPr txBox="1"/>
          <p:nvPr/>
        </p:nvSpPr>
        <p:spPr>
          <a:xfrm>
            <a:off x="3291840" y="3209544"/>
            <a:ext cx="3840480" cy="365760"/>
          </a:xfrm>
          <a:prstGeom prst="rect">
            <a:avLst/>
          </a:prstGeom>
          <a:noFill/>
          <a:ln/>
        </p:spPr>
        <p:txBody>
          <a:bodyPr wrap="square" lIns="0" tIns="0" rIns="0" bIns="0" rtlCol="0" anchor="t"/>
          <a:lstStyle/>
          <a:p>
            <a:pPr indent="0" marL="0">
              <a:buNone/>
            </a:pPr>
            <a:r>
              <a:rPr lang="en-US" sz="1250" dirty="0">
                <a:solidFill>
                  <a:srgbClr val="8B90B0"/>
                </a:solidFill>
                <a:latin typeface="Segoe UI" pitchFamily="34" charset="0"/>
                <a:ea typeface="Segoe UI" pitchFamily="34" charset="-122"/>
                <a:cs typeface="Segoe UI" pitchFamily="34" charset="-120"/>
              </a:rPr>
              <a:t>room QR link</a:t>
            </a:r>
            <a:endParaRPr lang="en-US" sz="1250" dirty="0"/>
          </a:p>
        </p:txBody>
      </p:sp>
      <p:sp>
        <p:nvSpPr>
          <p:cNvPr id="13" name="Shape 11"/>
          <p:cNvSpPr/>
          <p:nvPr/>
        </p:nvSpPr>
        <p:spPr>
          <a:xfrm>
            <a:off x="822960" y="3895344"/>
            <a:ext cx="91440" cy="91440"/>
          </a:xfrm>
          <a:prstGeom prst="ellipse">
            <a:avLst/>
          </a:prstGeom>
          <a:solidFill>
            <a:srgbClr val="22C55E"/>
          </a:solidFill>
          <a:ln/>
        </p:spPr>
      </p:sp>
      <p:sp>
        <p:nvSpPr>
          <p:cNvPr id="14" name="Text 12"/>
          <p:cNvSpPr txBox="1"/>
          <p:nvPr/>
        </p:nvSpPr>
        <p:spPr>
          <a:xfrm>
            <a:off x="1097280" y="3758184"/>
            <a:ext cx="2194560" cy="365760"/>
          </a:xfrm>
          <a:prstGeom prst="rect">
            <a:avLst/>
          </a:prstGeom>
          <a:noFill/>
          <a:ln/>
        </p:spPr>
        <p:txBody>
          <a:bodyPr wrap="square" lIns="0" tIns="0" rIns="0" bIns="0" rtlCol="0" anchor="t"/>
          <a:lstStyle/>
          <a:p>
            <a:pPr indent="0" marL="0">
              <a:buNone/>
            </a:pPr>
            <a:r>
              <a:rPr lang="en-US" sz="1500" dirty="0">
                <a:solidFill>
                  <a:srgbClr val="FFFFFF"/>
                </a:solidFill>
                <a:latin typeface="Segoe UI" pitchFamily="34" charset="0"/>
                <a:ea typeface="Segoe UI" pitchFamily="34" charset="-122"/>
                <a:cs typeface="Segoe UI" pitchFamily="34" charset="-120"/>
              </a:rPr>
              <a:t>Travel guide</a:t>
            </a:r>
            <a:endParaRPr lang="en-US" sz="1500" dirty="0"/>
          </a:p>
        </p:txBody>
      </p:sp>
      <p:sp>
        <p:nvSpPr>
          <p:cNvPr id="15" name="Text 13"/>
          <p:cNvSpPr txBox="1"/>
          <p:nvPr/>
        </p:nvSpPr>
        <p:spPr>
          <a:xfrm>
            <a:off x="3291840" y="3776472"/>
            <a:ext cx="3840480" cy="365760"/>
          </a:xfrm>
          <a:prstGeom prst="rect">
            <a:avLst/>
          </a:prstGeom>
          <a:noFill/>
          <a:ln/>
        </p:spPr>
        <p:txBody>
          <a:bodyPr wrap="square" lIns="0" tIns="0" rIns="0" bIns="0" rtlCol="0" anchor="t"/>
          <a:lstStyle/>
          <a:p>
            <a:pPr indent="0" marL="0">
              <a:buNone/>
            </a:pPr>
            <a:r>
              <a:rPr lang="en-US" sz="1250" dirty="0">
                <a:solidFill>
                  <a:srgbClr val="8B90B0"/>
                </a:solidFill>
                <a:latin typeface="Segoe UI" pitchFamily="34" charset="0"/>
                <a:ea typeface="Segoe UI" pitchFamily="34" charset="-122"/>
                <a:cs typeface="Segoe UI" pitchFamily="34" charset="-120"/>
              </a:rPr>
              <a:t>hoi-portal.vercel.app</a:t>
            </a:r>
            <a:endParaRPr lang="en-US" sz="1250" dirty="0"/>
          </a:p>
        </p:txBody>
      </p:sp>
      <p:sp>
        <p:nvSpPr>
          <p:cNvPr id="16" name="Shape 14"/>
          <p:cNvSpPr/>
          <p:nvPr/>
        </p:nvSpPr>
        <p:spPr>
          <a:xfrm>
            <a:off x="822960" y="4462272"/>
            <a:ext cx="91440" cy="91440"/>
          </a:xfrm>
          <a:prstGeom prst="ellipse">
            <a:avLst/>
          </a:prstGeom>
          <a:solidFill>
            <a:srgbClr val="22C55E"/>
          </a:solidFill>
          <a:ln/>
        </p:spPr>
      </p:sp>
      <p:sp>
        <p:nvSpPr>
          <p:cNvPr id="17" name="Text 15"/>
          <p:cNvSpPr txBox="1"/>
          <p:nvPr/>
        </p:nvSpPr>
        <p:spPr>
          <a:xfrm>
            <a:off x="1097280" y="4325112"/>
            <a:ext cx="2194560" cy="365760"/>
          </a:xfrm>
          <a:prstGeom prst="rect">
            <a:avLst/>
          </a:prstGeom>
          <a:noFill/>
          <a:ln/>
        </p:spPr>
        <p:txBody>
          <a:bodyPr wrap="square" lIns="0" tIns="0" rIns="0" bIns="0" rtlCol="0" anchor="t"/>
          <a:lstStyle/>
          <a:p>
            <a:pPr indent="0" marL="0">
              <a:buNone/>
            </a:pPr>
            <a:r>
              <a:rPr lang="en-US" sz="1500" dirty="0">
                <a:solidFill>
                  <a:srgbClr val="FFFFFF"/>
                </a:solidFill>
                <a:latin typeface="Segoe UI" pitchFamily="34" charset="0"/>
                <a:ea typeface="Segoe UI" pitchFamily="34" charset="-122"/>
                <a:cs typeface="Segoe UI" pitchFamily="34" charset="-120"/>
              </a:rPr>
              <a:t>HOI console</a:t>
            </a:r>
            <a:endParaRPr lang="en-US" sz="1500" dirty="0"/>
          </a:p>
        </p:txBody>
      </p:sp>
      <p:sp>
        <p:nvSpPr>
          <p:cNvPr id="18" name="Text 16"/>
          <p:cNvSpPr txBox="1"/>
          <p:nvPr/>
        </p:nvSpPr>
        <p:spPr>
          <a:xfrm>
            <a:off x="3291840" y="4343400"/>
            <a:ext cx="3840480" cy="365760"/>
          </a:xfrm>
          <a:prstGeom prst="rect">
            <a:avLst/>
          </a:prstGeom>
          <a:noFill/>
          <a:ln/>
        </p:spPr>
        <p:txBody>
          <a:bodyPr wrap="square" lIns="0" tIns="0" rIns="0" bIns="0" rtlCol="0" anchor="t"/>
          <a:lstStyle/>
          <a:p>
            <a:pPr indent="0" marL="0">
              <a:buNone/>
            </a:pPr>
            <a:r>
              <a:rPr lang="en-US" sz="1250" dirty="0">
                <a:solidFill>
                  <a:srgbClr val="8B90B0"/>
                </a:solidFill>
                <a:latin typeface="Segoe UI" pitchFamily="34" charset="0"/>
                <a:ea typeface="Segoe UI" pitchFamily="34" charset="-122"/>
                <a:cs typeface="Segoe UI" pitchFamily="34" charset="-120"/>
              </a:rPr>
              <a:t>hoi-platform-admin.onrender.com</a:t>
            </a:r>
            <a:endParaRPr lang="en-US" sz="1250" dirty="0"/>
          </a:p>
        </p:txBody>
      </p:sp>
      <p:sp>
        <p:nvSpPr>
          <p:cNvPr id="19" name="Text 17"/>
          <p:cNvSpPr txBox="1"/>
          <p:nvPr/>
        </p:nvSpPr>
        <p:spPr>
          <a:xfrm>
            <a:off x="822960" y="5074920"/>
            <a:ext cx="6400800" cy="365760"/>
          </a:xfrm>
          <a:prstGeom prst="rect">
            <a:avLst/>
          </a:prstGeom>
          <a:noFill/>
          <a:ln/>
        </p:spPr>
        <p:txBody>
          <a:bodyPr wrap="square" lIns="0" tIns="0" rIns="0" bIns="0" rtlCol="0" anchor="t"/>
          <a:lstStyle/>
          <a:p>
            <a:pPr indent="0" marL="0">
              <a:buNone/>
            </a:pPr>
            <a:r>
              <a:rPr lang="en-US" sz="1150" dirty="0">
                <a:solidFill>
                  <a:srgbClr val="8B90B0"/>
                </a:solidFill>
                <a:latin typeface="Segoe UI" pitchFamily="34" charset="0"/>
                <a:ea typeface="Segoe UI" pitchFamily="34" charset="-122"/>
                <a:cs typeface="Segoe UI" pitchFamily="34" charset="-120"/>
              </a:rPr>
              <a:t>600+ automated tests · demo hotel registered on the travel guide · all demo data labelled</a:t>
            </a:r>
            <a:endParaRPr lang="en-US" sz="1150" dirty="0"/>
          </a:p>
        </p:txBody>
      </p:sp>
      <p:sp>
        <p:nvSpPr>
          <p:cNvPr id="20" name="Shape 18"/>
          <p:cNvSpPr/>
          <p:nvPr/>
        </p:nvSpPr>
        <p:spPr>
          <a:xfrm>
            <a:off x="7863840" y="2057400"/>
            <a:ext cx="0" cy="3566160"/>
          </a:xfrm>
          <a:prstGeom prst="line">
            <a:avLst/>
          </a:prstGeom>
          <a:noFill/>
          <a:ln w="9525">
            <a:solidFill>
              <a:srgbClr val="2A3160"/>
            </a:solidFill>
            <a:prstDash val="solid"/>
          </a:ln>
        </p:spPr>
      </p:sp>
      <p:sp>
        <p:nvSpPr>
          <p:cNvPr id="21" name="Text 19"/>
          <p:cNvSpPr txBox="1"/>
          <p:nvPr/>
        </p:nvSpPr>
        <p:spPr>
          <a:xfrm>
            <a:off x="8229600" y="2057400"/>
            <a:ext cx="3200400" cy="274320"/>
          </a:xfrm>
          <a:prstGeom prst="rect">
            <a:avLst/>
          </a:prstGeom>
          <a:noFill/>
          <a:ln/>
        </p:spPr>
        <p:txBody>
          <a:bodyPr wrap="square" lIns="0" tIns="0" rIns="0" bIns="0" rtlCol="0" anchor="t"/>
          <a:lstStyle/>
          <a:p>
            <a:pPr indent="0" marL="0">
              <a:buNone/>
            </a:pPr>
            <a:r>
              <a:rPr lang="en-US" sz="1050" b="1" spc="300" kern="0" dirty="0">
                <a:solidFill>
                  <a:srgbClr val="A5B4FC"/>
                </a:solidFill>
                <a:latin typeface="Segoe UI" pitchFamily="34" charset="0"/>
                <a:ea typeface="Segoe UI" pitchFamily="34" charset="-122"/>
                <a:cs typeface="Segoe UI" pitchFamily="34" charset="-120"/>
              </a:rPr>
              <a:t>OUR ASK</a:t>
            </a:r>
            <a:endParaRPr lang="en-US" sz="1050" dirty="0"/>
          </a:p>
        </p:txBody>
      </p:sp>
      <p:sp>
        <p:nvSpPr>
          <p:cNvPr id="22" name="Text 20"/>
          <p:cNvSpPr txBox="1"/>
          <p:nvPr/>
        </p:nvSpPr>
        <p:spPr>
          <a:xfrm>
            <a:off x="8229600" y="2468880"/>
            <a:ext cx="3200400" cy="502920"/>
          </a:xfrm>
          <a:prstGeom prst="rect">
            <a:avLst/>
          </a:prstGeom>
          <a:noFill/>
          <a:ln/>
        </p:spPr>
        <p:txBody>
          <a:bodyPr wrap="square" lIns="0" tIns="0" rIns="0" bIns="0" rtlCol="0" anchor="t"/>
          <a:lstStyle/>
          <a:p>
            <a:pPr indent="0" marL="0">
              <a:buNone/>
            </a:pPr>
            <a:r>
              <a:rPr lang="en-US" sz="2400" dirty="0">
                <a:solidFill>
                  <a:srgbClr val="FFFFFF"/>
                </a:solidFill>
                <a:latin typeface="Segoe UI Semibold" pitchFamily="34" charset="0"/>
                <a:ea typeface="Segoe UI Semibold" pitchFamily="34" charset="-122"/>
                <a:cs typeface="Segoe UI Semibold" pitchFamily="34" charset="-120"/>
              </a:rPr>
              <a:t>3 pilot hotels</a:t>
            </a:r>
            <a:endParaRPr lang="en-US" sz="2400" dirty="0"/>
          </a:p>
        </p:txBody>
      </p:sp>
      <p:sp>
        <p:nvSpPr>
          <p:cNvPr id="23" name="Text 21"/>
          <p:cNvSpPr txBox="1"/>
          <p:nvPr/>
        </p:nvSpPr>
        <p:spPr>
          <a:xfrm>
            <a:off x="8229600" y="2971800"/>
            <a:ext cx="3200400" cy="320040"/>
          </a:xfrm>
          <a:prstGeom prst="rect">
            <a:avLst/>
          </a:prstGeom>
          <a:noFill/>
          <a:ln/>
        </p:spPr>
        <p:txBody>
          <a:bodyPr wrap="square" lIns="0" tIns="0" rIns="0" bIns="0" rtlCol="0" anchor="t"/>
          <a:lstStyle/>
          <a:p>
            <a:pPr indent="0" marL="0">
              <a:buNone/>
            </a:pPr>
            <a:r>
              <a:rPr lang="en-US" sz="1300" dirty="0">
                <a:solidFill>
                  <a:srgbClr val="C7CBE0"/>
                </a:solidFill>
                <a:latin typeface="Segoe UI" pitchFamily="34" charset="0"/>
                <a:ea typeface="Segoe UI" pitchFamily="34" charset="-122"/>
                <a:cs typeface="Segoe UI" pitchFamily="34" charset="-120"/>
              </a:rPr>
              <a:t>for a free 2-week pilot</a:t>
            </a:r>
            <a:endParaRPr lang="en-US" sz="1300" dirty="0"/>
          </a:p>
        </p:txBody>
      </p:sp>
      <p:sp>
        <p:nvSpPr>
          <p:cNvPr id="24" name="Text 22"/>
          <p:cNvSpPr txBox="1"/>
          <p:nvPr/>
        </p:nvSpPr>
        <p:spPr>
          <a:xfrm>
            <a:off x="8229600" y="3657600"/>
            <a:ext cx="3200400" cy="502920"/>
          </a:xfrm>
          <a:prstGeom prst="rect">
            <a:avLst/>
          </a:prstGeom>
          <a:noFill/>
          <a:ln/>
        </p:spPr>
        <p:txBody>
          <a:bodyPr wrap="square" lIns="0" tIns="0" rIns="0" bIns="0" rtlCol="0" anchor="t"/>
          <a:lstStyle/>
          <a:p>
            <a:pPr indent="0" marL="0">
              <a:buNone/>
            </a:pPr>
            <a:r>
              <a:rPr lang="en-US" sz="2400" dirty="0">
                <a:solidFill>
                  <a:srgbClr val="FFFFFF"/>
                </a:solidFill>
                <a:latin typeface="Segoe UI Semibold" pitchFamily="34" charset="0"/>
                <a:ea typeface="Segoe UI Semibold" pitchFamily="34" charset="-122"/>
                <a:cs typeface="Segoe UI Semibold" pitchFamily="34" charset="-120"/>
              </a:rPr>
              <a:t>A conversation</a:t>
            </a:r>
            <a:endParaRPr lang="en-US" sz="2400" dirty="0"/>
          </a:p>
        </p:txBody>
      </p:sp>
      <p:sp>
        <p:nvSpPr>
          <p:cNvPr id="25" name="Text 23"/>
          <p:cNvSpPr txBox="1"/>
          <p:nvPr/>
        </p:nvSpPr>
        <p:spPr>
          <a:xfrm>
            <a:off x="8229600" y="4160520"/>
            <a:ext cx="3108960" cy="594360"/>
          </a:xfrm>
          <a:prstGeom prst="rect">
            <a:avLst/>
          </a:prstGeom>
          <a:noFill/>
          <a:ln/>
        </p:spPr>
        <p:txBody>
          <a:bodyPr wrap="square" lIns="0" tIns="0" rIns="0" bIns="0" rtlCol="0" anchor="t"/>
          <a:lstStyle/>
          <a:p>
            <a:pPr indent="0" marL="0">
              <a:buNone/>
            </a:pPr>
            <a:r>
              <a:rPr lang="en-US" sz="1300" dirty="0">
                <a:solidFill>
                  <a:srgbClr val="C7CBE0"/>
                </a:solidFill>
                <a:latin typeface="Segoe UI" pitchFamily="34" charset="0"/>
                <a:ea typeface="Segoe UI" pitchFamily="34" charset="-122"/>
                <a:cs typeface="Segoe UI" pitchFamily="34" charset="-120"/>
              </a:rPr>
              <a:t>with the state tourism department on the data layer</a:t>
            </a:r>
            <a:endParaRPr lang="en-US" sz="1300" dirty="0"/>
          </a:p>
        </p:txBody>
      </p:sp>
      <p:sp>
        <p:nvSpPr>
          <p:cNvPr id="26" name="Text 24"/>
          <p:cNvSpPr txBox="1"/>
          <p:nvPr/>
        </p:nvSpPr>
        <p:spPr>
          <a:xfrm>
            <a:off x="8229600" y="5120640"/>
            <a:ext cx="3200400" cy="365760"/>
          </a:xfrm>
          <a:prstGeom prst="rect">
            <a:avLst/>
          </a:prstGeom>
          <a:noFill/>
          <a:ln/>
        </p:spPr>
        <p:txBody>
          <a:bodyPr wrap="square" lIns="0" tIns="0" rIns="0" bIns="0" rtlCol="0" anchor="t"/>
          <a:lstStyle/>
          <a:p>
            <a:pPr indent="0" marL="0">
              <a:buNone/>
            </a:pPr>
            <a:r>
              <a:rPr lang="en-US" sz="1400" dirty="0">
                <a:solidFill>
                  <a:srgbClr val="FFFFFF"/>
                </a:solidFill>
                <a:latin typeface="Segoe UI" pitchFamily="34" charset="0"/>
                <a:ea typeface="Segoe UI" pitchFamily="34" charset="-122"/>
                <a:cs typeface="Segoe UI" pitchFamily="34" charset="-120"/>
              </a:rPr>
              <a:t>Smarter hotels. Happier teams.</a:t>
            </a:r>
            <a:endParaRPr lang="en-US" sz="1400" dirty="0"/>
          </a:p>
        </p:txBody>
      </p:sp>
    </p:spTree>
  </p:cSld>
  <p:clrMapOvr>
    <a:masterClrMapping/>
  </p:clrMapOvr>
</p:sld>
</file>

<file path=ppt/theme/theme1.xml><?xml version="1.0" encoding="utf-8"?>
<a:theme xmlns:a="http://schemas.openxmlformats.org/drawingml/2006/main" name="HOI Minimal">
  <a:themeElements>
    <a:clrScheme name="HOI Minimal">
      <a:dk1>
        <a:srgbClr val="0B0F19"/>
      </a:dk1>
      <a:lt1>
        <a:srgbClr val="FFFFFF"/>
      </a:lt1>
      <a:dk2>
        <a:srgbClr val="4B5563"/>
      </a:dk2>
      <a:lt2>
        <a:srgbClr val="F7F7FA"/>
      </a:lt2>
      <a:accent1>
        <a:srgbClr val="4F46E5"/>
      </a:accent1>
      <a:accent2>
        <a:srgbClr val="0EA5E9"/>
      </a:accent2>
      <a:accent3>
        <a:srgbClr val="16A34A"/>
      </a:accent3>
      <a:accent4>
        <a:srgbClr val="D97706"/>
      </a:accent4>
      <a:accent5>
        <a:srgbClr val="DC2626"/>
      </a:accent5>
      <a:accent6>
        <a:srgbClr val="9CA3AF"/>
      </a:accent6>
      <a:hlink>
        <a:srgbClr val="4F46E5"/>
      </a:hlink>
      <a:folHlink>
        <a:srgbClr val="7C3AED"/>
      </a:folHlink>
    </a:clrScheme>
    <a:fontScheme name="HOI Minimal">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Team Innov8</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HOI: Hospitality Operations Intelligence</dc:title>
  <dc:subject>PptxGenJS Presentation</dc:subject>
  <dc:creator>Team Innov8</dc:creator>
  <cp:lastModifiedBy>Team Innov8</cp:lastModifiedBy>
  <cp:revision>1</cp:revision>
  <dcterms:created xsi:type="dcterms:W3CDTF">2026-10-14T00:26:45Z</dcterms:created>
  <dcterms:modified xsi:type="dcterms:W3CDTF">2026-10-14T00:26:45Z</dcterms:modified>
</cp:coreProperties>
</file>