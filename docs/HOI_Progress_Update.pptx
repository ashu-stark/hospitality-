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352904f-ecb1-eeef-c66a-760390f94f87}">
          <p14:sldIdLst>
            <p14:sldId id="256"/>
            <p14:sldId id="257"/>
            <p14:sldId id="258"/>
            <p14:sldId id="259"/>
          </p14:sldIdLst>
        </p14:section>
        <p14:section name="Hotel side" id="{5c1d5aa7-4fee-106c-08ac-e4b1983d65d1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ourism portal" id="{06a2f20d-6aa0-2b63-c69e-a65326851d2e}">
          <p14:sldIdLst>
            <p14:sldId id="273"/>
            <p14:sldId id="274"/>
            <p14:sldId id="275"/>
            <p14:sldId id="276"/>
            <p14:sldId id="277"/>
          </p14:sldIdLst>
        </p14:section>
        <p14:section name="Why it matters" id="{97194da6-4748-27ed-fe7e-e952695a80fb}">
          <p14:sldIdLst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Next" id="{e51e8127-5a03-5b13-042b-d872483973e8}">
          <p14:sldIdLst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118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11827"/>
                </a:solidFill>
                <a:latin typeface="+mn-lt"/>
              </a:rPr>
              <a:t>Occupancy forecast error, MAPE % (lower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HOI forecast</c:v>
                </c:pt>
              </c:strCache>
            </c:strRef>
          </c:tx>
          <c:spPr>
            <a:solidFill>
              <a:srgbClr val="5B5CF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7415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day</c:v>
                  </c:pt>
                  <c:pt idx="1">
                    <c:v>7 days</c:v>
                  </c:pt>
                  <c:pt idx="2">
                    <c:v>30 days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6.7</c:v>
                </c:pt>
                <c:pt idx="1">
                  <c:v>7.2</c:v>
                </c:pt>
                <c:pt idx="2">
                  <c:v>10.3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Seasonal baseline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7415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day</c:v>
                  </c:pt>
                  <c:pt idx="1">
                    <c:v>7 days</c:v>
                  </c:pt>
                  <c:pt idx="2">
                    <c:v>30 days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13.7</c:v>
                </c:pt>
                <c:pt idx="1">
                  <c:v>13.7</c:v>
                </c:pt>
                <c:pt idx="2">
                  <c:v>13.7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7415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7415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shut/Downloads/INNOV8/docs/brand/hoi-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347472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hoi-portal.vercel.app" TargetMode="External"/><Relationship Id="rId3" Type="http://schemas.openxmlformats.org/officeDocument/2006/relationships/hyperlink" Target="https://hoi-dashboard.onrender.com" TargetMode="External"/><Relationship Id="rId4" Type="http://schemas.openxmlformats.org/officeDocument/2006/relationships/hyperlink" Target="https://hoi-platform-admin.onrender.com" TargetMode="External"/><Relationship Id="rId5" Type="http://schemas.openxmlformats.org/officeDocument/2006/relationships/hyperlink" Target="https://hoi-website-woad.vercel.app" TargetMode="External"/><Relationship Id="rId1" Type="http://schemas.openxmlformats.org/officeDocument/2006/relationships/image" Target="../media/image-30-1.png"/><Relationship Id="rId6" Type="http://schemas.openxmlformats.org/officeDocument/2006/relationships/image" Target="../media/image-30-2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I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373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 Operations Intelligence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246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update: from proposal to six live apps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989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AI-Tourism Hackathon 2026  ·  Team Innov8  ·  13 October 2026</a:t>
            </a:r>
            <a:endParaRPr lang="en-US" sz="1300" dirty="0"/>
          </a:p>
        </p:txBody>
      </p:sp>
      <p:pic>
        <p:nvPicPr>
          <p:cNvPr id="6" name="Hotel Admin screenshot" descr="Hotel Admin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870120"/>
            <a:ext cx="5943600" cy="3837600"/>
          </a:xfrm>
          <a:prstGeom prst="rect">
            <a:avLst/>
          </a:prstGeom>
        </p:spPr>
      </p:pic>
      <p:pic>
        <p:nvPicPr>
          <p:cNvPr id="7" name="Guest concierge screenshot" descr="Guest concierge screensho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9788" y="2926080"/>
            <a:ext cx="1902983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AT A GLANCE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days: a proposal became a working product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Render + MongoDB Atlas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2860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337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89 admin page checks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2860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300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3337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rosters breaking a rule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stress scenarios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22860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29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3337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end-to-end checks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deployed apps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Oct: four modules on paper, staff tasks planned on Telegram.  →  13 Oct: every app built, deployed and tested on a fictional 24-room hotel.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hotels run short of people, every season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M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short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hospitality sector, projected 2025 (HVS / Ministry of Tourism study)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21945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1.8×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32461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quit rate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&amp; food vs all industries (US BLS)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21945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lakh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32461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 Dham pilgrims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2025 season; two thirds arrived by late June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Rosters are made by hand, overtime piles up, and nobody notices who is about to leave until they do.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HVS; US BLS JOLTS Table 4; All India Radio; The Week (24 June 2025).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six apps</a:t>
            </a:r>
            <a:endParaRPr lang="en-US" sz="3200" dirty="0"/>
          </a:p>
        </p:txBody>
      </p:sp>
      <p:sp>
        <p:nvSpPr>
          <p:cNvPr id="4" name="Platform Admin tile"/>
          <p:cNvSpPr/>
          <p:nvPr/>
        </p:nvSpPr>
        <p:spPr>
          <a:xfrm>
            <a:off x="548640" y="15544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Platform Admin thumbnail" descr="Platform Admin thumb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2239920"/>
            <a:ext cx="1417320" cy="915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1828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Admin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hotels, portfolio insights, audit</a:t>
            </a:r>
            <a:endParaRPr lang="en-US" sz="1300" dirty="0"/>
          </a:p>
        </p:txBody>
      </p:sp>
      <p:sp>
        <p:nvSpPr>
          <p:cNvPr id="8" name="Hotel Admin tile"/>
          <p:cNvSpPr/>
          <p:nvPr/>
        </p:nvSpPr>
        <p:spPr>
          <a:xfrm>
            <a:off x="4297680" y="15544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Hotel Admin thumbnail" descr="Hotel Admin thumb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39920"/>
            <a:ext cx="1417320" cy="915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26280" y="1828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Admin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2606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view, roster, dispatch, rooms, stock</a:t>
            </a:r>
            <a:endParaRPr lang="en-US" sz="1300" dirty="0"/>
          </a:p>
        </p:txBody>
      </p:sp>
      <p:sp>
        <p:nvSpPr>
          <p:cNvPr id="12" name="Worker app tile"/>
          <p:cNvSpPr/>
          <p:nvPr/>
        </p:nvSpPr>
        <p:spPr>
          <a:xfrm>
            <a:off x="8046720" y="15544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Worker app thumbnail" descr="Worker app thumbna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783" y="1691640"/>
            <a:ext cx="1021113" cy="20116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275320" y="1828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app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2606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Shifts, job pings, photo proof, voice</a:t>
            </a:r>
            <a:endParaRPr lang="en-US" sz="1300" dirty="0"/>
          </a:p>
        </p:txBody>
      </p:sp>
      <p:sp>
        <p:nvSpPr>
          <p:cNvPr id="16" name="Guest concierge tile"/>
          <p:cNvSpPr/>
          <p:nvPr/>
        </p:nvSpPr>
        <p:spPr>
          <a:xfrm>
            <a:off x="548640" y="40690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Guest concierge thumbnail" descr="Guest concierge thumbna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2703" y="4206240"/>
            <a:ext cx="1021113" cy="20116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77240" y="43434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concierge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5120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QR: ask by voice, requests, checkout</a:t>
            </a:r>
            <a:endParaRPr lang="en-US" sz="1300" dirty="0"/>
          </a:p>
        </p:txBody>
      </p:sp>
      <p:sp>
        <p:nvSpPr>
          <p:cNvPr id="20" name="Tourism portal tile"/>
          <p:cNvSpPr/>
          <p:nvPr/>
        </p:nvSpPr>
        <p:spPr>
          <a:xfrm>
            <a:off x="4297680" y="40690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Tourism portal thumbnail" descr="Tourism portal thumbnai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754520"/>
            <a:ext cx="1417320" cy="915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526280" y="43434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portal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4526280" y="5120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roads, crowds, stays, jobs</a:t>
            </a:r>
            <a:endParaRPr lang="en-US" sz="1300" dirty="0"/>
          </a:p>
        </p:txBody>
      </p:sp>
      <p:sp>
        <p:nvSpPr>
          <p:cNvPr id="24" name="ML / ops engine tile"/>
          <p:cNvSpPr/>
          <p:nvPr/>
        </p:nvSpPr>
        <p:spPr>
          <a:xfrm>
            <a:off x="8046720" y="40690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5" name="ML / ops engine thumbnail" descr="ML / ops engine thumbn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2680" y="4754520"/>
            <a:ext cx="1417320" cy="9151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275320" y="43434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ops engine</a:t>
            </a:r>
            <a:endParaRPr lang="en-US" sz="1800" dirty="0"/>
          </a:p>
        </p:txBody>
      </p:sp>
      <p:sp>
        <p:nvSpPr>
          <p:cNvPr id="27" name="Text 19"/>
          <p:cNvSpPr txBox="1"/>
          <p:nvPr/>
        </p:nvSpPr>
        <p:spPr>
          <a:xfrm>
            <a:off x="8275320" y="5120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Forecast, risk, CP-SAT roster, closed loop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337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hotel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Owner, managers and staff: one calm system for the day's work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ADMIN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calm Today screen</a:t>
            </a:r>
            <a:endParaRPr lang="en-US" sz="3200" dirty="0"/>
          </a:p>
        </p:txBody>
      </p:sp>
      <p:pic>
        <p:nvPicPr>
          <p:cNvPr id="4" name="Hotel Admin Today" descr="Hotel Admin To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sections instead of 18 menu items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numbers: rooms ready, open requests, late jobs, staff on shift, low stock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Do-next list with one-click actions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first, details later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rosters that never break a rule</a:t>
            </a:r>
            <a:endParaRPr lang="en-US" sz="3200" dirty="0"/>
          </a:p>
        </p:txBody>
      </p:sp>
      <p:pic>
        <p:nvPicPr>
          <p:cNvPr id="4" name="Roster" descr="R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the occupancy forecast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Leave, rest hours, weekly off and skills are hard rules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weeks are explained, never faked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week → one-click Request staff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CP-SAT solver, stored in MongoDB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DISPATCH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person gets the job</a:t>
            </a:r>
            <a:endParaRPr lang="en-US" sz="3200" dirty="0"/>
          </a:p>
        </p:txBody>
      </p:sp>
      <p:pic>
        <p:nvPicPr>
          <p:cNvPr id="4" name="Dispatch" descr="Disp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on-shift worker by load and distance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 guard: flagged staff get fewer extras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day: 80 / 80 jobs done, 0 sent off-shift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Auto-assign with photo proof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&amp; GUESTS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room, every request, one board</a:t>
            </a:r>
            <a:endParaRPr lang="en-US" sz="3200" dirty="0"/>
          </a:p>
        </p:txBody>
      </p:sp>
      <p:pic>
        <p:nvPicPr>
          <p:cNvPr id="4" name="Rooms" descr="Roo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rooms; median turnaround 51 min in the simulation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requests and late-checkout approvals in one place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room has its own guest QR code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→ clean → inspect → ready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SERVICES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requests, checkouts and feedback</a:t>
            </a:r>
            <a:endParaRPr lang="en-US" sz="3200" dirty="0"/>
          </a:p>
        </p:txBody>
      </p:sp>
      <p:pic>
        <p:nvPicPr>
          <p:cNvPr id="4" name="Guest services" descr="Guest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safety and medical alerts shown first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decline late checkout with a note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trend with one-line meaning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follows the forecast</a:t>
            </a:r>
            <a:endParaRPr lang="en-US" sz="3200" dirty="0"/>
          </a:p>
        </p:txBody>
      </p:sp>
      <p:pic>
        <p:nvPicPr>
          <p:cNvPr id="4" name="Inventory" descr="Inven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suggestions from expected occupancy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ledger: stock always equals its movements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CGST/SGST or IGST split on every PO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GST-ready purchase orders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HOMESTAY MODE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enough for a 6-room homestay</a:t>
            </a:r>
            <a:endParaRPr lang="en-US" sz="3200" dirty="0"/>
          </a:p>
        </p:txBody>
      </p:sp>
      <p:pic>
        <p:nvPicPr>
          <p:cNvPr id="4" name="Homestay mode" descr="Homestay m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plain pages, no ML jargon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owner's own team, no roster needed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hotel mode any time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Deodar Nest, Dhanaulti (fictional)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need support, and why</a:t>
            </a:r>
            <a:endParaRPr lang="en-US" sz="3200" dirty="0"/>
          </a:p>
        </p:txBody>
      </p:sp>
      <p:pic>
        <p:nvPicPr>
          <p:cNvPr id="4" name="Risk list" descr="Risk 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staff: contract date; permanent staff: model rank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flag comes with plain reasons and matched actions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exist to offer support, never for adverse action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with reasons, never predictions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APP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worker's pocket</a:t>
            </a:r>
            <a:endParaRPr lang="en-US" sz="3200" dirty="0"/>
          </a:p>
        </p:txBody>
      </p:sp>
      <p:pic>
        <p:nvPicPr>
          <p:cNvPr id="4" name="Today's shift" descr="Today's shi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928" y="1417320"/>
            <a:ext cx="2297504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shift</a:t>
            </a:r>
            <a:endParaRPr lang="en-US" sz="1400" dirty="0"/>
          </a:p>
        </p:txBody>
      </p:sp>
      <p:pic>
        <p:nvPicPr>
          <p:cNvPr id="6" name="Live job pings" descr="Live job p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8" y="1417320"/>
            <a:ext cx="2297504" cy="4526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3672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pings</a:t>
            </a:r>
            <a:endParaRPr lang="en-US" sz="1400" dirty="0"/>
          </a:p>
        </p:txBody>
      </p:sp>
      <p:pic>
        <p:nvPicPr>
          <p:cNvPr id="8" name="My recognition" descr="My recogni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088" y="1417320"/>
            <a:ext cx="2297504" cy="45262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2480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recognition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CONCIERGE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 just scan and ask</a:t>
            </a:r>
            <a:endParaRPr lang="en-US" sz="3200" dirty="0"/>
          </a:p>
        </p:txBody>
      </p:sp>
      <p:pic>
        <p:nvPicPr>
          <p:cNvPr id="4" name="Ask anything" descr="Ask anyth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928" y="1417320"/>
            <a:ext cx="2297504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1400" dirty="0"/>
          </a:p>
        </p:txBody>
      </p:sp>
      <p:pic>
        <p:nvPicPr>
          <p:cNvPr id="6" name="&quot;Rat in the room&quot; → pest control" descr="&quot;Rat in the room&quot; → pest contr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8" y="1417320"/>
            <a:ext cx="2297504" cy="4526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3672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"Rat in the room" → pest control</a:t>
            </a:r>
            <a:endParaRPr lang="en-US" sz="1400" dirty="0"/>
          </a:p>
        </p:txBody>
      </p:sp>
      <p:pic>
        <p:nvPicPr>
          <p:cNvPr id="8" name="Smoke smell → urgent, shows 112" descr="Smoke smell → urgent, shows 11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088" y="1417320"/>
            <a:ext cx="2297504" cy="45262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2480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smell → urgent, shows 112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CONCIERGE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Hindi, explore and checkout</a:t>
            </a:r>
            <a:endParaRPr lang="en-US" sz="3200" dirty="0"/>
          </a:p>
        </p:txBody>
      </p:sp>
      <p:pic>
        <p:nvPicPr>
          <p:cNvPr id="4" name="Replies in Hindi" descr="Replies in Hind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928" y="1417320"/>
            <a:ext cx="2297504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in Hindi</a:t>
            </a:r>
            <a:endParaRPr lang="en-US" sz="1400" dirty="0"/>
          </a:p>
        </p:txBody>
      </p:sp>
      <p:pic>
        <p:nvPicPr>
          <p:cNvPr id="6" name="Explore the hotel" descr="Explore the hot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8" y="1417320"/>
            <a:ext cx="2297504" cy="4526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3672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hotel</a:t>
            </a:r>
            <a:endParaRPr lang="en-US" sz="1400" dirty="0"/>
          </a:p>
        </p:txBody>
      </p:sp>
      <p:pic>
        <p:nvPicPr>
          <p:cNvPr id="8" name="Express or late checkout" descr="Express or late checkou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088" y="1417320"/>
            <a:ext cx="2297504" cy="45262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2480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or late checkout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ADMIN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see every hotel at a glance</a:t>
            </a:r>
            <a:endParaRPr lang="en-US" sz="3200" dirty="0"/>
          </a:p>
        </p:txBody>
      </p:sp>
      <p:pic>
        <p:nvPicPr>
          <p:cNvPr id="4" name="Platform insights" descr="Platform insigh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Rooms, occupancy, on-time jobs, response time, feedback, low stock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accounts cannot sign in here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a hotel is audited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portal for the HOI team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337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visitor and the state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Uttarakhand Tourism &amp; Hospitality Portal: concept, not an official site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PORTAL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verify and travel with confidence</a:t>
            </a:r>
            <a:endParaRPr lang="en-US" sz="3200" dirty="0"/>
          </a:p>
        </p:txBody>
      </p:sp>
      <p:pic>
        <p:nvPicPr>
          <p:cNvPr id="4" name="Portal home" descr="Portal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weather, roads and crowd levels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 registered stay, guide or taxi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with tracking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hoi-portal.vercel.app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place, answered at a glance</a:t>
            </a:r>
            <a:endParaRPr lang="en-US" sz="3200" dirty="0"/>
          </a:p>
        </p:txBody>
      </p:sp>
      <p:pic>
        <p:nvPicPr>
          <p:cNvPr id="4" name="Kedarnath" descr="Kedarn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foot-traffic timings from BestTime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Traffic: TomTom live + our prediction model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hospitals, ATMs and fuel from LocationIQ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· crowd · roads · best months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Itineraries with live conditions per stop</a:t>
            </a:r>
            <a:endParaRPr lang="en-US" sz="3200" dirty="0"/>
          </a:p>
        </p:txBody>
      </p:sp>
      <p:pic>
        <p:nvPicPr>
          <p:cNvPr id="4" name="Itinerary" descr="Itinera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sample trips built from checked facts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Crowd, weather and road status at every stop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invented distances or prices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day to start in the next 14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jobs, matched by skill</a:t>
            </a:r>
            <a:endParaRPr lang="en-US" sz="3200" dirty="0"/>
          </a:p>
        </p:txBody>
      </p:sp>
      <p:pic>
        <p:nvPicPr>
          <p:cNvPr id="4" name="Jobs board" descr="Jobs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list skills, languages and availability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 match score, never personal traits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gaps from HOI hotels post here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shared only after the candidate accepts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337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and position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HOI different, and how we know it works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LOOP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→ roster → risk → fix → re-score</a:t>
            </a:r>
            <a:endParaRPr lang="en-US" sz="3200" dirty="0"/>
          </a:p>
        </p:txBody>
      </p:sp>
      <p:sp>
        <p:nvSpPr>
          <p:cNvPr id="4" name="Forecast"/>
          <p:cNvSpPr/>
          <p:nvPr/>
        </p:nvSpPr>
        <p:spPr>
          <a:xfrm>
            <a:off x="548640" y="1828800"/>
            <a:ext cx="2011680" cy="100584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2057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Roster"/>
          <p:cNvSpPr/>
          <p:nvPr/>
        </p:nvSpPr>
        <p:spPr>
          <a:xfrm>
            <a:off x="2816352" y="1828800"/>
            <a:ext cx="2011680" cy="100584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16352" y="18288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2057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Risk"/>
          <p:cNvSpPr/>
          <p:nvPr/>
        </p:nvSpPr>
        <p:spPr>
          <a:xfrm>
            <a:off x="5084064" y="1828800"/>
            <a:ext cx="2011680" cy="100584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84064" y="18288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95744" y="2057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Fix"/>
          <p:cNvSpPr/>
          <p:nvPr/>
        </p:nvSpPr>
        <p:spPr>
          <a:xfrm>
            <a:off x="7351776" y="1828800"/>
            <a:ext cx="2011680" cy="100584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51776" y="18288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363456" y="2057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Re-score"/>
          <p:cNvSpPr/>
          <p:nvPr/>
        </p:nvSpPr>
        <p:spPr>
          <a:xfrm>
            <a:off x="9619488" y="1828800"/>
            <a:ext cx="2011680" cy="100584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19488" y="18288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383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loop on the live server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3383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4206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flagged for review this week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383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−0.016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4206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simulated risk change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052560" y="3383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s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052560" y="4206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rosters served from MongoDB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effects are shown as small and labelled a simulation. Flags are for offering support, never for adverse action.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JUDGES' REVIEW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feedback, already built</a:t>
            </a:r>
            <a:endParaRPr lang="en-US" sz="3200" dirty="0"/>
          </a:p>
        </p:txBody>
      </p:sp>
      <p:sp>
        <p:nvSpPr>
          <p:cNvPr id="4" name="GDS, OTAs and Zostel"/>
          <p:cNvSpPr/>
          <p:nvPr/>
        </p:nvSpPr>
        <p:spPr>
          <a:xfrm>
            <a:off x="548640" y="164592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GDS, OTAs and Zostel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37-source study: HOI sits after the booking, beside the PMS</a:t>
            </a:r>
            <a:endParaRPr lang="en-US" sz="1500" dirty="0"/>
          </a:p>
        </p:txBody>
      </p:sp>
      <p:sp>
        <p:nvSpPr>
          <p:cNvPr id="7" name="Affordable for homestays"/>
          <p:cNvSpPr/>
          <p:nvPr/>
        </p:nvSpPr>
        <p:spPr>
          <a:xfrm>
            <a:off x="6172200" y="164592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 for homestays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86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Homestay mode, phone-first, Hindi</a:t>
            </a:r>
            <a:endParaRPr lang="en-US" sz="1500" dirty="0"/>
          </a:p>
        </p:txBody>
      </p:sp>
      <p:sp>
        <p:nvSpPr>
          <p:cNvPr id="10" name="Staffing and skill matching"/>
          <p:cNvSpPr/>
          <p:nvPr/>
        </p:nvSpPr>
        <p:spPr>
          <a:xfrm>
            <a:off x="548640" y="310896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Staffing and skill matching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board + roster gap → staffing request</a:t>
            </a:r>
            <a:endParaRPr lang="en-US" sz="1500" dirty="0"/>
          </a:p>
        </p:txBody>
      </p:sp>
      <p:sp>
        <p:nvSpPr>
          <p:cNvPr id="13" name="Incentives"/>
          <p:cNvSpPr/>
          <p:nvPr/>
        </p:nvSpPr>
        <p:spPr>
          <a:xfrm>
            <a:off x="6172200" y="310896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points, positive only, capped</a:t>
            </a:r>
            <a:endParaRPr lang="en-US" sz="1500" dirty="0"/>
          </a:p>
        </p:txBody>
      </p:sp>
      <p:sp>
        <p:nvSpPr>
          <p:cNvPr id="16" name="Community and local links"/>
          <p:cNvSpPr/>
          <p:nvPr/>
        </p:nvSpPr>
        <p:spPr>
          <a:xfrm>
            <a:off x="548640" y="457200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754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and local links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12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experiences linked to homestays (in progress)</a:t>
            </a:r>
            <a:endParaRPr lang="en-US" sz="1500" dirty="0"/>
          </a:p>
        </p:txBody>
      </p:sp>
      <p:sp>
        <p:nvSpPr>
          <p:cNvPr id="19" name="Validated needs"/>
          <p:cNvSpPr/>
          <p:nvPr/>
        </p:nvSpPr>
        <p:spPr>
          <a:xfrm>
            <a:off x="6172200" y="457200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754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needs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5212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8-10 interviews, then a 2-week pilot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work after the booking</a:t>
            </a:r>
            <a:endParaRPr lang="en-US" sz="3200" dirty="0"/>
          </a:p>
        </p:txBody>
      </p:sp>
      <p:sp>
        <p:nvSpPr>
          <p:cNvPr id="4" name="GDS"/>
          <p:cNvSpPr/>
          <p:nvPr/>
        </p:nvSpPr>
        <p:spPr>
          <a:xfrm>
            <a:off x="548640" y="1600200"/>
            <a:ext cx="6583680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0992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7568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agents, corporate bookers</a:t>
            </a:r>
            <a:endParaRPr lang="en-US" sz="1300" dirty="0"/>
          </a:p>
        </p:txBody>
      </p:sp>
      <p:sp>
        <p:nvSpPr>
          <p:cNvPr id="7" name="OTAs"/>
          <p:cNvSpPr/>
          <p:nvPr/>
        </p:nvSpPr>
        <p:spPr>
          <a:xfrm>
            <a:off x="548640" y="2651760"/>
            <a:ext cx="6583680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614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OTAs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2724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Booking.com, Agoda, MakeMyTrip, Airbnb</a:t>
            </a:r>
            <a:endParaRPr lang="en-US" sz="1300" dirty="0"/>
          </a:p>
        </p:txBody>
      </p:sp>
      <p:sp>
        <p:nvSpPr>
          <p:cNvPr id="10" name="PMS / channel manager"/>
          <p:cNvSpPr/>
          <p:nvPr/>
        </p:nvSpPr>
        <p:spPr>
          <a:xfrm>
            <a:off x="548640" y="3703320"/>
            <a:ext cx="6583680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1304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/ channel manager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17880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eZee, STAAH, Hotelogix</a:t>
            </a:r>
            <a:endParaRPr lang="en-US" sz="1300" dirty="0"/>
          </a:p>
        </p:txBody>
      </p:sp>
      <p:sp>
        <p:nvSpPr>
          <p:cNvPr id="13" name="HOI"/>
          <p:cNvSpPr/>
          <p:nvPr/>
        </p:nvSpPr>
        <p:spPr>
          <a:xfrm>
            <a:off x="548640" y="4754880"/>
            <a:ext cx="6583680" cy="868680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86460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23036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and operations: rosters, jobs with proof, staffing, guests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17373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people-and-operations layer for small hill properties.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3200400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Plugs into the owner's PMS or OTA, does not replace them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public evidence that Zostel or OYO offer rostering, job proof or retention for the owner's team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 is for travel agents: we won't build for 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simple baselines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949440" y="17373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0.691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5603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ROC-AUC (rules: 0.542)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326880" y="17373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9326880" y="25603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guest complaints routed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300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rosters breaking a hard rule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32688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0.035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932688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shift, guest page (good &lt; 0.1)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on a fictional hotel (TRL 4). Not yet validated on a real property.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DEPLOYED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 is live today</a:t>
            </a:r>
            <a:endParaRPr lang="en-US" sz="3200" dirty="0"/>
          </a:p>
        </p:txBody>
      </p:sp>
      <p:sp>
        <p:nvSpPr>
          <p:cNvPr id="4" name="Vercel"/>
          <p:cNvSpPr/>
          <p:nvPr/>
        </p:nvSpPr>
        <p:spPr>
          <a:xfrm>
            <a:off x="548640" y="1645920"/>
            <a:ext cx="3520440" cy="2743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portal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website</a:t>
            </a:r>
            <a:endParaRPr lang="en-US" sz="1500" dirty="0"/>
          </a:p>
        </p:txBody>
      </p:sp>
      <p:sp>
        <p:nvSpPr>
          <p:cNvPr id="7" name="Render"/>
          <p:cNvSpPr/>
          <p:nvPr/>
        </p:nvSpPr>
        <p:spPr>
          <a:xfrm>
            <a:off x="4297680" y="1645920"/>
            <a:ext cx="3520440" cy="2743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API, worker app, guest concierge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Admin and Platform Admin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ops API</a:t>
            </a:r>
            <a:endParaRPr lang="en-US" sz="1500" dirty="0"/>
          </a:p>
        </p:txBody>
      </p:sp>
      <p:sp>
        <p:nvSpPr>
          <p:cNvPr id="10" name="Data and AI"/>
          <p:cNvSpPr/>
          <p:nvPr/>
        </p:nvSpPr>
        <p:spPr>
          <a:xfrm>
            <a:off x="8046720" y="1645920"/>
            <a:ext cx="3520440" cy="2743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AI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Whisper + LLM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Open-Meteo, BestTime, LocationIQ, TomTom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Hashed passwords, 30-minute tokens, roles on every page, hotel data isolated, rate limits, audit log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only in host settings, never in the five GitHub repositories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TWO WEEKS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synthetic to a real hotel</a:t>
            </a:r>
            <a:endParaRPr lang="en-US" sz="3200" dirty="0"/>
          </a:p>
        </p:txBody>
      </p:sp>
      <p:sp>
        <p:nvSpPr>
          <p:cNvPr id="4" name="step 1"/>
          <p:cNvSpPr/>
          <p:nvPr/>
        </p:nvSpPr>
        <p:spPr>
          <a:xfrm>
            <a:off x="54864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647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83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8-10 homestay owners, GMs and staff in Mussoorie and Rishikesh</a:t>
            </a:r>
            <a:endParaRPr lang="en-US" sz="1800" dirty="0"/>
          </a:p>
        </p:txBody>
      </p:sp>
      <p:sp>
        <p:nvSpPr>
          <p:cNvPr id="7" name="step 2"/>
          <p:cNvSpPr/>
          <p:nvPr/>
        </p:nvSpPr>
        <p:spPr>
          <a:xfrm>
            <a:off x="548640" y="2560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33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651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Two-week pilot on one real property</a:t>
            </a:r>
            <a:endParaRPr lang="en-US" sz="1800" dirty="0"/>
          </a:p>
        </p:txBody>
      </p:sp>
      <p:sp>
        <p:nvSpPr>
          <p:cNvPr id="10" name="step 3"/>
          <p:cNvSpPr/>
          <p:nvPr/>
        </p:nvSpPr>
        <p:spPr>
          <a:xfrm>
            <a:off x="548640" y="3429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02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520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wording and every assumption reviewed by our HM student</a:t>
            </a:r>
            <a:endParaRPr lang="en-US" sz="1800" dirty="0"/>
          </a:p>
        </p:txBody>
      </p:sp>
      <p:sp>
        <p:nvSpPr>
          <p:cNvPr id="13" name="step 4"/>
          <p:cNvSpPr/>
          <p:nvPr/>
        </p:nvSpPr>
        <p:spPr>
          <a:xfrm>
            <a:off x="548640" y="4297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389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voice clips and measure real speech accuracy</a:t>
            </a:r>
            <a:endParaRPr lang="en-US" sz="1800" dirty="0"/>
          </a:p>
        </p:txBody>
      </p:sp>
      <p:sp>
        <p:nvSpPr>
          <p:cNvPr id="16" name="step 5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39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5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local experiences and staffing-agency flows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gaps today: no real hotel data yet · Groq free tier ≈ 4 chats a minute · billing and PMS integration not built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I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8288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346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hotels. Happier teams.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portal   </a:t>
            </a:r>
            <a:pPr indent="0" marL="0">
              <a:spcAft>
                <a:spcPts val="800"/>
              </a:spcAft>
              <a:buNone/>
            </a:pPr>
            <a:r>
              <a:rPr lang="en-US" sz="15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hoi-portal.vercel.app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Admin   </a:t>
            </a:r>
            <a:pPr indent="0" marL="0">
              <a:spcAft>
                <a:spcPts val="800"/>
              </a:spcAft>
              <a:buNone/>
            </a:pPr>
            <a:r>
              <a:rPr lang="en-US" sz="15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hoi-dashboard.onrender.com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Admin   </a:t>
            </a:r>
            <a:pPr indent="0" marL="0">
              <a:spcAft>
                <a:spcPts val="800"/>
              </a:spcAft>
              <a:buNone/>
            </a:pPr>
            <a:r>
              <a:rPr lang="en-US" sz="15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hoi-platform-admin.onrender.com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  </a:t>
            </a:r>
            <a:pPr indent="0" marL="0">
              <a:spcAft>
                <a:spcPts val="800"/>
              </a:spcAft>
              <a:buNone/>
            </a:pPr>
            <a:r>
              <a:rPr lang="en-US" sz="15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hoi-website-woad.vercel.app</a:t>
            </a:r>
            <a:endParaRPr lang="en-US" sz="1500" dirty="0"/>
          </a:p>
        </p:txBody>
      </p:sp>
      <p:pic>
        <p:nvPicPr>
          <p:cNvPr id="6" name="Website screenshot" descr="Website screensho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1569240"/>
            <a:ext cx="5760720" cy="3719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OI Minimal">
  <a:themeElements>
    <a:clrScheme name="HOI Minimal">
      <a:dk1>
        <a:srgbClr val="111827"/>
      </a:dk1>
      <a:lt1>
        <a:srgbClr val="FFFFFF"/>
      </a:lt1>
      <a:dk2>
        <a:srgbClr val="374151"/>
      </a:dk2>
      <a:lt2>
        <a:srgbClr val="F4F5F8"/>
      </a:lt2>
      <a:accent1>
        <a:srgbClr val="5B5CF6"/>
      </a:accent1>
      <a:accent2>
        <a:srgbClr val="3CA3FD"/>
      </a:accent2>
      <a:accent3>
        <a:srgbClr val="16A34A"/>
      </a:accent3>
      <a:accent4>
        <a:srgbClr val="D97706"/>
      </a:accent4>
      <a:accent5>
        <a:srgbClr val="DC2626"/>
      </a:accent5>
      <a:accent6>
        <a:srgbClr val="6B7280"/>
      </a:accent6>
      <a:hlink>
        <a:srgbClr val="4F46E5"/>
      </a:hlink>
      <a:folHlink>
        <a:srgbClr val="7C3AED"/>
      </a:folHlink>
    </a:clrScheme>
    <a:fontScheme name="HOI Minim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Team Innov8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HOI progress update</dc:title>
  <dc:subject>PptxGenJS Presentation</dc:subject>
  <dc:creator>Team Innov8</dc:creator>
  <cp:lastModifiedBy>Team Innov8</cp:lastModifiedBy>
  <cp:revision>1</cp:revision>
  <dcterms:created xsi:type="dcterms:W3CDTF">2026-10-13T16:30:58Z</dcterms:created>
  <dcterms:modified xsi:type="dcterms:W3CDTF">2026-10-13T16:30:58Z</dcterms:modified>
</cp:coreProperties>
</file>