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c11330c-f336-efba-2777-f27546bde615}">
          <p14:sldIdLst>
            <p14:sldId id="256"/>
            <p14:sldId id="257"/>
          </p14:sldIdLst>
        </p14:section>
        <p14:section name="Problem" id="{8e225da2-0ae0-6dec-1aeb-d205e946f58f}">
          <p14:sldIdLst>
            <p14:sldId id="258"/>
          </p14:sldIdLst>
        </p14:section>
        <p14:section name="What we built" id="{965a4022-9c9c-5510-09c6-177a416d603e}">
          <p14:sldIdLst>
            <p14:sldId id="259"/>
            <p14:sldId id="260"/>
          </p14:sldIdLst>
        </p14:section>
        <p14:section name="Apps in action" id="{b893191b-1b1c-c9ec-f9d0-a5b7a7961596}">
          <p14:sldIdLst>
            <p14:sldId id="261"/>
            <p14:sldId id="262"/>
            <p14:sldId id="263"/>
            <p14:sldId id="264"/>
          </p14:sldIdLst>
        </p14:section>
        <p14:section name="Feedback" id="{0ac36c0d-9793-992c-25ff-f16f831dc8c5}">
          <p14:sldIdLst>
            <p14:sldId id="265"/>
            <p14:sldId id="266"/>
          </p14:sldIdLst>
        </p14:section>
        <p14:section name="Evidence" id="{dc231f4b-298f-130d-333e-c75e0ecf636c}">
          <p14:sldIdLst>
            <p14:sldId id="267"/>
            <p14:sldId id="268"/>
          </p14:sldIdLst>
        </p14:section>
        <p14:section name="Next" id="{40140459-538b-bcfc-d5a3-d1e002dba608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+mn-lt"/>
              </a:rPr>
              <a:t>Occupancy forecast error (MAPE %, lower is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HOI forecast</c:v>
                </c:pt>
              </c:strCache>
            </c:strRef>
          </c:tx>
          <c:spPr>
            <a:solidFill>
              <a:srgbClr val="3CA3F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day</c:v>
                  </c:pt>
                  <c:pt idx="1">
                    <c:v>7 days</c:v>
                  </c:pt>
                  <c:pt idx="2">
                    <c:v>30 days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6.7</c:v>
                </c:pt>
                <c:pt idx="1">
                  <c:v>7.2</c:v>
                </c:pt>
                <c:pt idx="2">
                  <c:v>10.3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Seasonal baseline</c:v>
                </c:pt>
              </c:strCache>
            </c:strRef>
          </c:tx>
          <c:spPr>
            <a:solidFill>
              <a:srgbClr val="47556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day</c:v>
                  </c:pt>
                  <c:pt idx="1">
                    <c:v>7 days</c:v>
                  </c:pt>
                  <c:pt idx="2">
                    <c:v>30 days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13.7</c:v>
                </c:pt>
                <c:pt idx="1">
                  <c:v>13.7</c:v>
                </c:pt>
                <c:pt idx="2">
                  <c:v>13.7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CBD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2A3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9CBD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C9CBD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Open: on 8 October we showed a proposal with four MVP modules on Telegram. Today everything is built, deployed and tested on a fictional 24-room hotel with synthetic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Telegram was replaced by an installable phone web app: no bot token, works in any browser, and adds photo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Plus a marketing website. Each app is its own repository and deploys automatically on push.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8803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ctr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HOI · Hospitality Operations Intelligence · Progress update · synthetic data (TRL 4)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hoi-portal.vercel.app" TargetMode="Externa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hvs.com/article/9274-hvs-monday-musings-indian-hospitality-sector-skill-shortage-to-hinder-recovery-and-growth" TargetMode="External"/><Relationship Id="rId2" Type="http://schemas.openxmlformats.org/officeDocument/2006/relationships/hyperlink" Target="https://www.bls.gov/news.release/jolts.t04.htm" TargetMode="External"/><Relationship Id="rId3" Type="http://schemas.openxmlformats.org/officeDocument/2006/relationships/hyperlink" Target="https://www.newsonair.gov.in/over-1-million-pilgrims-visit-char-dham-shrines-in-20-days" TargetMode="External"/><Relationship Id="rId4" Type="http://schemas.openxmlformats.org/officeDocument/2006/relationships/hyperlink" Target="https://www.theweek.in/news/india/2025/06/24/char-dham-yatra-breaks-records-with-unprecedented-number-of-pilgrims.html" TargetMode="External"/><Relationship Id="rId5" Type="http://schemas.openxmlformats.org/officeDocument/2006/relationships/hyperlink" Target="https://github.com/Ashu-Stark/Hospitality-" TargetMode="Externa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OI logo" descr="HOI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8968" y="1097280"/>
            <a:ext cx="1280160" cy="12801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88036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Hospitality Operations Intelligence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Progress update: from proposal to six live apps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AI-Tourism Hackathon 2026 · Team Innov8 · 13 October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Progress at a glance</a:t>
            </a:r>
            <a:endParaRPr lang="en-US" sz="3200" dirty="0"/>
          </a:p>
        </p:txBody>
      </p:sp>
      <p:sp>
        <p:nvSpPr>
          <p:cNvPr id="3" name="Then card"/>
          <p:cNvSpPr/>
          <p:nvPr/>
        </p:nvSpPr>
        <p:spPr>
          <a:xfrm>
            <a:off x="548640" y="1280160"/>
            <a:ext cx="3383280" cy="48463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Oct · proposal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2926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MVP modules on paper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tasks planned on Telegram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trained offline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hotel, guest or tourism app yet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069080" y="3291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200" dirty="0"/>
          </a:p>
        </p:txBody>
      </p:sp>
      <p:sp>
        <p:nvSpPr>
          <p:cNvPr id="7" name="Now card"/>
          <p:cNvSpPr/>
          <p:nvPr/>
        </p:nvSpPr>
        <p:spPr>
          <a:xfrm>
            <a:off x="4663440" y="1280160"/>
            <a:ext cx="6949440" cy="4846320"/>
          </a:xfrm>
          <a:prstGeom prst="roundRect">
            <a:avLst>
              <a:gd name="adj" fmla="val 2264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08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 · built and live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0116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3154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Vercel and Render, one MongoDB Atlas cluster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0116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154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69 + 20 page checks across the two admin portals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3931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4937760" y="4709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rule-breaking rosters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50749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300 random roster scenarios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931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29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4709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end-to-end checks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50749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deployed apps; the 1 open item is a label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The problem has not changed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hospitality sector was projected to be short of 1.1 million workers in 2025, and small hill hotels still plan staff by hand.</a:t>
            </a:r>
            <a:endParaRPr lang="en-US" sz="2000" dirty="0"/>
          </a:p>
        </p:txBody>
      </p:sp>
      <p:sp>
        <p:nvSpPr>
          <p:cNvPr id="4" name="Problem stat 1"/>
          <p:cNvSpPr/>
          <p:nvPr/>
        </p:nvSpPr>
        <p:spPr>
          <a:xfrm>
            <a:off x="548640" y="224028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1.8×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246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quit rate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&amp; food: 3.5% a month vs 1.9% all industries (US BLS)</a:t>
            </a:r>
            <a:endParaRPr lang="en-US" sz="1200" dirty="0"/>
          </a:p>
        </p:txBody>
      </p:sp>
      <p:sp>
        <p:nvSpPr>
          <p:cNvPr id="8" name="Problem stat 2"/>
          <p:cNvSpPr/>
          <p:nvPr/>
        </p:nvSpPr>
        <p:spPr>
          <a:xfrm>
            <a:off x="3364992" y="224028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93592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lakh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593592" y="3246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 Dham pilgrims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93592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2025 season</a:t>
            </a:r>
            <a:endParaRPr lang="en-US" sz="1200" dirty="0"/>
          </a:p>
        </p:txBody>
      </p:sp>
      <p:sp>
        <p:nvSpPr>
          <p:cNvPr id="12" name="Problem stat 3"/>
          <p:cNvSpPr/>
          <p:nvPr/>
        </p:nvSpPr>
        <p:spPr>
          <a:xfrm>
            <a:off x="6181344" y="224028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9944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409944" y="3246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arrived by June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09944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of 51 lakh by 24 June</a:t>
            </a:r>
            <a:endParaRPr lang="en-US" sz="1200" dirty="0"/>
          </a:p>
        </p:txBody>
      </p:sp>
      <p:sp>
        <p:nvSpPr>
          <p:cNvPr id="16" name="Problem stat 4"/>
          <p:cNvSpPr/>
          <p:nvPr/>
        </p:nvSpPr>
        <p:spPr>
          <a:xfrm>
            <a:off x="8997696" y="224028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26296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M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9226296" y="3246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short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26296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2025 shortfall (HVS / Ministry of Tourism study)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few people. Too much overtime. Too late to notice who is leaving.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HVS (Ministry of Tourism study); US BLS JOLTS Table 4; All India Radio; The Week (24 Jun 2025). Full list on the sources slide.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One platform, six apps</a:t>
            </a:r>
            <a:endParaRPr lang="en-US" sz="3200" dirty="0"/>
          </a:p>
        </p:txBody>
      </p:sp>
      <p:sp>
        <p:nvSpPr>
          <p:cNvPr id="3" name="Platform Admin card"/>
          <p:cNvSpPr/>
          <p:nvPr/>
        </p:nvSpPr>
        <p:spPr>
          <a:xfrm>
            <a:off x="548640" y="132588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4" name="Platform Admin number"/>
          <p:cNvSpPr/>
          <p:nvPr/>
        </p:nvSpPr>
        <p:spPr>
          <a:xfrm>
            <a:off x="822960" y="16002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Admin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945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HOI team onboards hotels, sees portfolio insights and the audit log</a:t>
            </a:r>
            <a:endParaRPr lang="en-US" sz="1400" dirty="0"/>
          </a:p>
        </p:txBody>
      </p:sp>
      <p:sp>
        <p:nvSpPr>
          <p:cNvPr id="8" name="Hotel Admin card"/>
          <p:cNvSpPr/>
          <p:nvPr/>
        </p:nvSpPr>
        <p:spPr>
          <a:xfrm>
            <a:off x="4270248" y="132588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9" name="Hotel Admin number"/>
          <p:cNvSpPr/>
          <p:nvPr/>
        </p:nvSpPr>
        <p:spPr>
          <a:xfrm>
            <a:off x="4544568" y="16002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44568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093208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Admin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44568" y="21945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Owner, HR, department heads: Today view, roster, dispatch, rooms, stock</a:t>
            </a:r>
            <a:endParaRPr lang="en-US" sz="1400" dirty="0"/>
          </a:p>
        </p:txBody>
      </p:sp>
      <p:sp>
        <p:nvSpPr>
          <p:cNvPr id="13" name="Worker app card"/>
          <p:cNvSpPr/>
          <p:nvPr/>
        </p:nvSpPr>
        <p:spPr>
          <a:xfrm>
            <a:off x="7991856" y="132588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14" name="Worker app number"/>
          <p:cNvSpPr/>
          <p:nvPr/>
        </p:nvSpPr>
        <p:spPr>
          <a:xfrm>
            <a:off x="8266176" y="16002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66176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814816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app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266176" y="21945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Shifts, live job pings, photo proof, voice commands, Hindi/English</a:t>
            </a:r>
            <a:endParaRPr lang="en-US" sz="1400" dirty="0"/>
          </a:p>
        </p:txBody>
      </p:sp>
      <p:sp>
        <p:nvSpPr>
          <p:cNvPr id="18" name="Guest concierge card"/>
          <p:cNvSpPr/>
          <p:nvPr/>
        </p:nvSpPr>
        <p:spPr>
          <a:xfrm>
            <a:off x="548640" y="374904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19" name="Guest concierge number"/>
          <p:cNvSpPr/>
          <p:nvPr/>
        </p:nvSpPr>
        <p:spPr>
          <a:xfrm>
            <a:off x="822960" y="402336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023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concierge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6177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QR: ask by voice or text, requests, express and late checkout</a:t>
            </a:r>
            <a:endParaRPr lang="en-US" sz="1400" dirty="0"/>
          </a:p>
        </p:txBody>
      </p:sp>
      <p:sp>
        <p:nvSpPr>
          <p:cNvPr id="23" name="Tourism portal card"/>
          <p:cNvSpPr/>
          <p:nvPr/>
        </p:nvSpPr>
        <p:spPr>
          <a:xfrm>
            <a:off x="4270248" y="374904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24" name="Tourism portal number"/>
          <p:cNvSpPr/>
          <p:nvPr/>
        </p:nvSpPr>
        <p:spPr>
          <a:xfrm>
            <a:off x="4544568" y="40233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44568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93208" y="4023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Tourism portal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4544568" y="46177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Uttarakhand concept: weather, roads, crowds, verified stays, jobs board</a:t>
            </a:r>
            <a:endParaRPr lang="en-US" sz="1400" dirty="0"/>
          </a:p>
        </p:txBody>
      </p:sp>
      <p:sp>
        <p:nvSpPr>
          <p:cNvPr id="28" name="ML / ops engine card"/>
          <p:cNvSpPr/>
          <p:nvPr/>
        </p:nvSpPr>
        <p:spPr>
          <a:xfrm>
            <a:off x="7991856" y="374904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29" name="ML / ops engine number"/>
          <p:cNvSpPr/>
          <p:nvPr/>
        </p:nvSpPr>
        <p:spPr>
          <a:xfrm>
            <a:off x="8266176" y="40233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66176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814816" y="4023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ops engine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266176" y="46177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forecast, attrition risk, CP-SAT roster, closed loop, voice setup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The closed loop runs live in 12 seconds</a:t>
            </a:r>
            <a:endParaRPr lang="en-US" sz="3200" dirty="0"/>
          </a:p>
        </p:txBody>
      </p:sp>
      <p:sp>
        <p:nvSpPr>
          <p:cNvPr id="3" name="Forecast step"/>
          <p:cNvSpPr/>
          <p:nvPr/>
        </p:nvSpPr>
        <p:spPr>
          <a:xfrm>
            <a:off x="548640" y="1325880"/>
            <a:ext cx="201168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Forecast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463040"/>
            <a:ext cx="256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Roster step"/>
          <p:cNvSpPr/>
          <p:nvPr/>
        </p:nvSpPr>
        <p:spPr>
          <a:xfrm>
            <a:off x="2816352" y="1325880"/>
            <a:ext cx="201168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99232" y="13258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Roster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28032" y="1463040"/>
            <a:ext cx="256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Risk step"/>
          <p:cNvSpPr/>
          <p:nvPr/>
        </p:nvSpPr>
        <p:spPr>
          <a:xfrm>
            <a:off x="5084064" y="1325880"/>
            <a:ext cx="201168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66944" y="13258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Risk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095744" y="1463040"/>
            <a:ext cx="256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Fix step"/>
          <p:cNvSpPr/>
          <p:nvPr/>
        </p:nvSpPr>
        <p:spPr>
          <a:xfrm>
            <a:off x="7351776" y="1325880"/>
            <a:ext cx="201168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34656" y="13258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Fix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363456" y="1463040"/>
            <a:ext cx="256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Re-score step"/>
          <p:cNvSpPr/>
          <p:nvPr/>
        </p:nvSpPr>
        <p:spPr>
          <a:xfrm>
            <a:off x="9619488" y="1325880"/>
            <a:ext cx="201168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02368" y="13258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Re-score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06040"/>
          <a:ext cx="69494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56032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Flagged for review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Department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risk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HS05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Housekeeping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HS12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Restaurant service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</a:tr>
            </a:tbl>
          </a:graphicData>
        </a:graphic>
      </p:graphicFrame>
      <p:sp>
        <p:nvSpPr>
          <p:cNvPr id="18" name="Loop facts card"/>
          <p:cNvSpPr/>
          <p:nvPr/>
        </p:nvSpPr>
        <p:spPr>
          <a:xfrm>
            <a:off x="7863840" y="2606040"/>
            <a:ext cx="3749040" cy="329184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92440" y="2788920"/>
            <a:ext cx="3383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Himsagar Ridge (fictional): 24 rooms, 19 rostered staff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97.6% → 95.0% with protected weekends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Rosters precomputed and stored in MongoDB: served in about 1 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Effects are small and labelled a simulation, not proof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7150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rule: flags are for offering support, never for adverse action. Bands are rankings, not predictions.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Hotel Admin: one calm Today screen</a:t>
            </a:r>
            <a:endParaRPr lang="en-US" sz="3200" dirty="0"/>
          </a:p>
        </p:txBody>
      </p:sp>
      <p:sp>
        <p:nvSpPr>
          <p:cNvPr id="3" name="Hotel Admin Today screenshot frame"/>
          <p:cNvSpPr/>
          <p:nvPr/>
        </p:nvSpPr>
        <p:spPr>
          <a:xfrm>
            <a:off x="493776" y="1271016"/>
            <a:ext cx="7699248" cy="4855464"/>
          </a:xfrm>
          <a:prstGeom prst="roundRect">
            <a:avLst>
              <a:gd name="adj" fmla="val 2260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pic>
        <p:nvPicPr>
          <p:cNvPr id="4" name="Hotel Admin Today screenshot" descr="Hotel Admin Today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589520" cy="47457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03920" y="1417320"/>
            <a:ext cx="315468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sections instead of 18 menu items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numbers: rooms ready, requests, late jobs, staff on shift, low stock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Homestay mode for 1-10 rooms (Deodar Nest demo)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points: positive only, capped budget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"Request staff" when a roster week is short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Worker app and live dispatch</a:t>
            </a:r>
            <a:endParaRPr lang="en-US" sz="3200" dirty="0"/>
          </a:p>
        </p:txBody>
      </p:sp>
      <p:sp>
        <p:nvSpPr>
          <p:cNvPr id="3" name="Worker app screenshot frame"/>
          <p:cNvSpPr/>
          <p:nvPr/>
        </p:nvSpPr>
        <p:spPr>
          <a:xfrm>
            <a:off x="630936" y="1271016"/>
            <a:ext cx="2322576" cy="4910328"/>
          </a:xfrm>
          <a:prstGeom prst="roundRect">
            <a:avLst>
              <a:gd name="adj" fmla="val 4724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pic>
        <p:nvPicPr>
          <p:cNvPr id="4" name="Worker app screenshot" descr="Worker app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25880"/>
            <a:ext cx="2212848" cy="4800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474720" y="13258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simulated day on the real dispatch engine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3474720" y="19202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/ 80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347472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completed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Checkouts, guest requests, faults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19202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to off-shift staff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30632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person, right shift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961120" y="19202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8961120" y="2697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time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961120" y="30632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27%: our durations are guesses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474720" y="3977640"/>
            <a:ext cx="8138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camera only: before and after photos, stamped with server time and a SHA-256 tamper check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commands in Hindi or English: "what's next", "room 204 mein chuha hai"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Burnout guard: flagged staff get fewer extra jobs (HS05 did 7 vs 8.3 for peers)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Guest concierge understands real problems</a:t>
            </a:r>
            <a:endParaRPr lang="en-US" sz="3200" dirty="0"/>
          </a:p>
        </p:txBody>
      </p:sp>
      <p:sp>
        <p:nvSpPr>
          <p:cNvPr id="3" name="Guest concierge rat screenshot frame"/>
          <p:cNvSpPr/>
          <p:nvPr/>
        </p:nvSpPr>
        <p:spPr>
          <a:xfrm>
            <a:off x="630936" y="1271016"/>
            <a:ext cx="2322576" cy="4910328"/>
          </a:xfrm>
          <a:prstGeom prst="roundRect">
            <a:avLst>
              <a:gd name="adj" fmla="val 4724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pic>
        <p:nvPicPr>
          <p:cNvPr id="4" name="Guest concierge rat screenshot" descr="Guest concierge rat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25880"/>
            <a:ext cx="2212848" cy="480060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747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8463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Guest said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Concierge did (live)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there is a rat in the room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Pest control → housekeeping + maintenance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कमरे में चूहा है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Pest control, reply in Hindi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smoke smell in corridor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URGENT safety → front desk + security, shows 112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feel unwell, need a doctor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URGENT medical → duty manager, shows 108 / 112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door lock is broken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 → maintenance + security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474720" y="434340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of 10 real complaints routed correctly (0 of 10 earlier the same day)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happens until the guest taps Confirm; answers only from the hotel's own profile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female voice, Indian accent; guests told not to share personal details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Tourism portal: plan, verify, travel</a:t>
            </a:r>
            <a:endParaRPr lang="en-US" sz="3200" dirty="0"/>
          </a:p>
        </p:txBody>
      </p:sp>
      <p:sp>
        <p:nvSpPr>
          <p:cNvPr id="3" name="Tourism portal Kedarnath screenshot frame"/>
          <p:cNvSpPr/>
          <p:nvPr/>
        </p:nvSpPr>
        <p:spPr>
          <a:xfrm>
            <a:off x="493776" y="1271016"/>
            <a:ext cx="7059168" cy="4453128"/>
          </a:xfrm>
          <a:prstGeom prst="roundRect">
            <a:avLst>
              <a:gd name="adj" fmla="val 2464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pic>
        <p:nvPicPr>
          <p:cNvPr id="4" name="Tourism portal Kedarnath screenshot" descr="Tourism portal Kedarnath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949440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863840" y="1417320"/>
            <a:ext cx="374904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weather (Open-Meteo), crowd timings (BestTime) and traffic (TomTom + our prediction model)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a registered business; file and track complaints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board: skills matching, contact shared only after the candidate accepts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Officials: rush, occupancy and workforce analytics (groups under 5 hidden)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only, not an official government website</a:t>
            </a:r>
            <a:endParaRPr lang="en-US" sz="1500" dirty="0"/>
          </a:p>
        </p:txBody>
      </p:sp>
      <p:sp>
        <p:nvSpPr>
          <p:cNvPr id="6" name="Text 3">
            <a:hlinkClick r:id="rId2" tooltip=""/>
          </p:cNvPr>
          <p:cNvSpPr txBox="1"/>
          <p:nvPr/>
        </p:nvSpPr>
        <p:spPr>
          <a:xfrm>
            <a:off x="548640" y="58064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Live: hoi-portal.vercel.app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did with the judges' review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asked us to…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did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 GDS, IDS/OTAs and Zostel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37-source research doc; HOI sits after the booking, beside the PMS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 affordable for small hotels and homestays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Homestay mode, phone-first, Hindi; free tier proposed (to validate)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Integrate staffing agencies and skill matching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Jobs board with explained match score; roster gap → staffing request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incentive mechanisms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Recognition points: positive only, capped budget, no tracking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community experiences and local links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experiences linked to nearby homestays (in progress)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Prioritise validated needs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Interview plan for 8-10 owners and staff, then a 2-week pilot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Where HOI fits: after the booking</a:t>
            </a:r>
            <a:endParaRPr lang="en-US" sz="3200" dirty="0"/>
          </a:p>
        </p:txBody>
      </p:sp>
      <p:sp>
        <p:nvSpPr>
          <p:cNvPr id="3" name="GDS layer"/>
          <p:cNvSpPr/>
          <p:nvPr/>
        </p:nvSpPr>
        <p:spPr>
          <a:xfrm>
            <a:off x="548640" y="1280160"/>
            <a:ext cx="676656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5331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1907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Amadeus, Sabre, Travelport: travel agents and corporate bookers</a:t>
            </a:r>
            <a:endParaRPr lang="en-US" sz="1300" dirty="0"/>
          </a:p>
        </p:txBody>
      </p:sp>
      <p:sp>
        <p:nvSpPr>
          <p:cNvPr id="6" name="OTAs layer"/>
          <p:cNvSpPr/>
          <p:nvPr/>
        </p:nvSpPr>
        <p:spPr>
          <a:xfrm>
            <a:off x="548640" y="2304288"/>
            <a:ext cx="676656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377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OTAs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43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Booking.com, Agoda, MakeMyTrip, Airbnb: consumers</a:t>
            </a:r>
            <a:endParaRPr lang="en-US" sz="1300" dirty="0"/>
          </a:p>
        </p:txBody>
      </p:sp>
      <p:sp>
        <p:nvSpPr>
          <p:cNvPr id="9" name="PMS / channel manager layer"/>
          <p:cNvSpPr/>
          <p:nvPr/>
        </p:nvSpPr>
        <p:spPr>
          <a:xfrm>
            <a:off x="548640" y="3328416"/>
            <a:ext cx="676656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4015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PMS / channel manager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673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eZee, STAAH, Hotelogix: reservations, rates, billing</a:t>
            </a:r>
            <a:endParaRPr lang="en-US" sz="1300" dirty="0"/>
          </a:p>
        </p:txBody>
      </p:sp>
      <p:sp>
        <p:nvSpPr>
          <p:cNvPr id="12" name="HOI: people and operations layer"/>
          <p:cNvSpPr/>
          <p:nvPr/>
        </p:nvSpPr>
        <p:spPr>
          <a:xfrm>
            <a:off x="548640" y="4352544"/>
            <a:ext cx="6766560" cy="8686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42569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HOI: people and operations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79145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rosters, live jobs with proof, staffing, guest service, retention</a:t>
            </a:r>
            <a:endParaRPr lang="en-US" sz="1300" dirty="0"/>
          </a:p>
        </p:txBody>
      </p:sp>
      <p:sp>
        <p:nvSpPr>
          <p:cNvPr id="15" name="Differentiator card"/>
          <p:cNvSpPr/>
          <p:nvPr/>
        </p:nvSpPr>
        <p:spPr>
          <a:xfrm>
            <a:off x="7680960" y="1280160"/>
            <a:ext cx="3931920" cy="393192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55280" y="1463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differentiator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1965960"/>
            <a:ext cx="3474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people-and-operations layer for small hill properties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Plugs into the owner's PMS or OTA; does not replace them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found no public evidence that Zostel or OYO offer rostering, job proof or retention tools for the owner's team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532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 matters to travel agents, not to a 10-room homestay: we will not build for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Evidence, measured honestly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attrition ROC-AUC card"/>
          <p:cNvSpPr/>
          <p:nvPr/>
        </p:nvSpPr>
        <p:spPr>
          <a:xfrm>
            <a:off x="6583680" y="1325880"/>
            <a:ext cx="237744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66560" y="1508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0.691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21488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attrition ROC-AUC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766560" y="26517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0.542 for simple rules</a:t>
            </a:r>
            <a:endParaRPr lang="en-US" sz="1200" dirty="0"/>
          </a:p>
        </p:txBody>
      </p:sp>
      <p:sp>
        <p:nvSpPr>
          <p:cNvPr id="8" name="rosters breaking a hard rule card"/>
          <p:cNvSpPr/>
          <p:nvPr/>
        </p:nvSpPr>
        <p:spPr>
          <a:xfrm>
            <a:off x="9144000" y="1325880"/>
            <a:ext cx="237744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26880" y="1508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of 300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9326880" y="21488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rosters breaking a hard rule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326880" y="26517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original + 200 Himsagar scenarios</a:t>
            </a:r>
            <a:endParaRPr lang="en-US" sz="1200" dirty="0"/>
          </a:p>
        </p:txBody>
      </p:sp>
      <p:sp>
        <p:nvSpPr>
          <p:cNvPr id="12" name="real guest complaints routed card"/>
          <p:cNvSpPr/>
          <p:nvPr/>
        </p:nvSpPr>
        <p:spPr>
          <a:xfrm>
            <a:off x="6583680" y="3474720"/>
            <a:ext cx="237744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66560" y="3657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766560" y="42976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guest complaints routed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766560" y="4800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Hindi, Hinglish</a:t>
            </a:r>
            <a:endParaRPr lang="en-US" sz="1200" dirty="0"/>
          </a:p>
        </p:txBody>
      </p:sp>
      <p:sp>
        <p:nvSpPr>
          <p:cNvPr id="16" name="layout shift, guest page (phone) card"/>
          <p:cNvSpPr/>
          <p:nvPr/>
        </p:nvSpPr>
        <p:spPr>
          <a:xfrm>
            <a:off x="9144000" y="3474720"/>
            <a:ext cx="237744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326880" y="3657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0.17 → 0.035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9326880" y="42976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shift, guest page (phone)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9326880" y="4800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0.1 counts as good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from synthetic data on a fictional hotel (TRL 4). Not yet validated on a real property.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How it is built and deployed</a:t>
            </a:r>
            <a:endParaRPr lang="en-US" sz="3200" dirty="0"/>
          </a:p>
        </p:txBody>
      </p:sp>
      <p:sp>
        <p:nvSpPr>
          <p:cNvPr id="3" name="Vercel column"/>
          <p:cNvSpPr/>
          <p:nvPr/>
        </p:nvSpPr>
        <p:spPr>
          <a:xfrm>
            <a:off x="548640" y="1280160"/>
            <a:ext cx="3520440" cy="27432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2024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Tourism portal (FastAPI + vanilla JS)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website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Auto-deploy on every push</a:t>
            </a:r>
            <a:endParaRPr lang="en-US" sz="1500" dirty="0"/>
          </a:p>
        </p:txBody>
      </p:sp>
      <p:sp>
        <p:nvSpPr>
          <p:cNvPr id="6" name="Render (Singapore) column"/>
          <p:cNvSpPr/>
          <p:nvPr/>
        </p:nvSpPr>
        <p:spPr>
          <a:xfrm>
            <a:off x="4270248" y="1280160"/>
            <a:ext cx="3520440" cy="27432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98848" y="1417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(Singapore)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498848" y="192024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API + worker app + guest concierge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Admin and Platform Admin (Streamlit)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ops API: LightGBM, scikit-learn, OR-Tools</a:t>
            </a:r>
            <a:endParaRPr lang="en-US" sz="1500" dirty="0"/>
          </a:p>
        </p:txBody>
      </p:sp>
      <p:sp>
        <p:nvSpPr>
          <p:cNvPr id="9" name="Data and AI services column"/>
          <p:cNvSpPr/>
          <p:nvPr/>
        </p:nvSpPr>
        <p:spPr>
          <a:xfrm>
            <a:off x="7991856" y="1280160"/>
            <a:ext cx="3520440" cy="27432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0456" y="1417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and AI services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0456" y="192024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Atlas: one database per service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Groq: Whisper speech-to-text, LLM replies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Open-Meteo, BestTime, LocationIQ, TomTom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43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Security: hashed passwords, 30-minute tokens with rotating refresh, roles per page, hotel data isolated by token, rate limits, audit log. Secrets live only in host settings, never in the repos.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is still open, and what comes next</a:t>
            </a:r>
            <a:endParaRPr lang="en-US" sz="3200" dirty="0"/>
          </a:p>
        </p:txBody>
      </p:sp>
      <p:sp>
        <p:nvSpPr>
          <p:cNvPr id="3" name="Open items card"/>
          <p:cNvSpPr/>
          <p:nvPr/>
        </p:nvSpPr>
        <p:spPr>
          <a:xfrm>
            <a:off x="548640" y="1280160"/>
            <a:ext cx="5394960" cy="356616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gaps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6596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hotel yet: every number is synthetic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Hindi speech untested; no recorded clips yet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free tier allows about 4 chats a minute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and labour values are assumptions for HM student review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and PMS integration not built</a:t>
            </a:r>
            <a:endParaRPr lang="en-US" sz="1500" dirty="0"/>
          </a:p>
        </p:txBody>
      </p:sp>
      <p:sp>
        <p:nvSpPr>
          <p:cNvPr id="6" name="Next steps card"/>
          <p:cNvSpPr/>
          <p:nvPr/>
        </p:nvSpPr>
        <p:spPr>
          <a:xfrm>
            <a:off x="6217920" y="1280160"/>
            <a:ext cx="5394960" cy="356616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 w="9525">
            <a:solidFill>
              <a:srgbClr val="2A2A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463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two weeks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96596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8-10 homestay owners, GMs and staff in Mussoorie and Rishikesh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Two-week pilot on one property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wording and assumptions reviewed by our HM student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voice clips; measure word error rate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Local experiences and staffing-agency flows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Sources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HVS: Indian Hospitality Sector, Skill Shortage (Ministry of Tourism study)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https://www.hvs.com/article/9274-hvs-monday-musings-indian-hospitality-sector-skill-shortage-to-hinder-recovery-and-growth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Bureau of Labor Statistics, JOLTS Table 4: Quits by industry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https://www.bls.gov/news.release/jolts.t04.htm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India Radio: over 10 lakh pilgrims in 20 days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https://www.newsonair.gov.in/over-1-million-pilgrims-visit-char-dham-shrines-in-20-days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Week: Char Dham Yatra breaks records (24 June 2025)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https://www.theweek.in/news/india/2025/06/24/char-dham-yatra-breaks-records-with-unprecedented-number-of-pilgrims.html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and differentiation research (37 sources): docs/MARKET_AND_DIFFERENTIATION.md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https://github.com/Ashu-Stark/Hospitality-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OI logo end" descr="HOI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8968" y="1097280"/>
            <a:ext cx="1280160" cy="12801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88036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Thank you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Smarter hotels. Happier teams.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Portal: hoi-portal.vercel.app  ·  Hotel Admin: hoi-dashboard.onrender.com  ·  Website: hoi-website-woad.vercel.app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I Night">
  <a:themeElements>
    <a:clrScheme name="HOI Night">
      <a:dk1>
        <a:srgbClr val="0A0A0F"/>
      </a:dk1>
      <a:lt1>
        <a:srgbClr val="FFFFFF"/>
      </a:lt1>
      <a:dk2>
        <a:srgbClr val="16161F"/>
      </a:dk2>
      <a:lt2>
        <a:srgbClr val="C9CBD6"/>
      </a:lt2>
      <a:accent1>
        <a:srgbClr val="3CA3FD"/>
      </a:accent1>
      <a:accent2>
        <a:srgbClr val="8B5CF6"/>
      </a:accent2>
      <a:accent3>
        <a:srgbClr val="22C55E"/>
      </a:accent3>
      <a:accent4>
        <a:srgbClr val="F59E0B"/>
      </a:accent4>
      <a:accent5>
        <a:srgbClr val="EF4444"/>
      </a:accent5>
      <a:accent6>
        <a:srgbClr val="64748B"/>
      </a:accent6>
      <a:hlink>
        <a:srgbClr val="7CC4FF"/>
      </a:hlink>
      <a:folHlink>
        <a:srgbClr val="B69CFF"/>
      </a:folHlink>
    </a:clrScheme>
    <a:fontScheme name="HOI Nigh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Team Innov8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HOI progress update</dc:title>
  <dc:subject>PptxGenJS Presentation</dc:subject>
  <dc:creator>Team Innov8</dc:creator>
  <cp:lastModifiedBy>Team Innov8</cp:lastModifiedBy>
  <cp:revision>1</cp:revision>
  <dcterms:created xsi:type="dcterms:W3CDTF">2026-10-13T16:01:52Z</dcterms:created>
  <dcterms:modified xsi:type="dcterms:W3CDTF">2026-10-13T16:01:52Z</dcterms:modified>
</cp:coreProperties>
</file>